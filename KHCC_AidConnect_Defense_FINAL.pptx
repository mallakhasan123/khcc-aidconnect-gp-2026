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Precision@4</c:v>
                </c:pt>
              </c:strCache>
            </c:strRef>
          </c:tx>
          <c:spPr>
            <a:solidFill>
              <a:srgbClr val="E8A0BF"/>
            </a:solidFill>
            <a:effectLst/>
          </c:spPr>
          <c:invertIfNegative val="0"/>
          <c:dPt>
            <c:idx val="0"/>
            <c:invertIfNegative val="0"/>
            <c:bubble3D val="0"/>
            <c:spPr>
              <a:solidFill>
                <a:srgbClr val="E8A0BF"/>
              </a:solidFill>
              <a:effectLst/>
            </c:spPr>
          </c:dPt>
          <c:dPt>
            <c:idx val="1"/>
            <c:invertIfNegative val="0"/>
            <c:bubble3D val="0"/>
            <c:spPr>
              <a:solidFill>
                <a:srgbClr val="B8A0D8"/>
              </a:solidFill>
              <a:effectLst/>
            </c:spPr>
          </c:dPt>
          <c:dPt>
            <c:idx val="2"/>
            <c:invertIfNegative val="0"/>
            <c:bubble3D val="0"/>
            <c:spPr>
              <a:solidFill>
                <a:srgbClr val="A8D8C0"/>
              </a:solidFill>
              <a:effectLst/>
            </c:spPr>
          </c:dPt>
          <c:dPt>
            <c:idx val="3"/>
            <c:invertIfNegative val="0"/>
            <c:bubble3D val="0"/>
            <c:spPr>
              <a:solidFill>
                <a:srgbClr val="F5C0A0"/>
              </a:solidFill>
              <a:effectLst/>
            </c:spPr>
          </c:dPt>
          <c:dPt>
            <c:idx val="4"/>
            <c:invertIfNegative val="0"/>
            <c:bubble3D val="0"/>
            <c:spPr>
              <a:solidFill>
                <a:srgbClr val="A0C8E8"/>
              </a:solidFill>
              <a:effectLst/>
            </c:spPr>
          </c:dPt>
          <c:dLbls>
            <c:numFmt formatCode="#,##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2A1A28"/>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Stage I</c:v>
                </c:pt>
                <c:pt idx="1">
                  <c:v>Stage II</c:v>
                </c:pt>
                <c:pt idx="2">
                  <c:v>Stage III</c:v>
                </c:pt>
                <c:pt idx="3">
                  <c:v>Stage IV</c:v>
                </c:pt>
                <c:pt idx="4">
                  <c:v>Overall</c:v>
                </c:pt>
              </c:strCache>
            </c:strRef>
          </c:cat>
          <c:val>
            <c:numRef>
              <c:f>Sheet1!$B$2:$B$6</c:f>
              <c:numCache>
                <c:formatCode>General</c:formatCode>
                <c:ptCount val="5"/>
                <c:pt idx="0">
                  <c:v>1</c:v>
                </c:pt>
                <c:pt idx="1">
                  <c:v>1</c:v>
                </c:pt>
                <c:pt idx="2">
                  <c:v>1</c:v>
                </c:pt>
                <c:pt idx="3">
                  <c:v>1</c:v>
                </c:pt>
                <c:pt idx="4">
                  <c:v>1</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5A4058"/>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1.2"/>
          <c:min val="0"/>
        </c:scaling>
        <c:delete val="0"/>
        <c:axPos val="l"/>
        <c:majorGridlines>
          <c:spPr>
            <a:ln w="6350" cap="flat" cmpd="sng" algn="ctr">
              <a:solidFill>
                <a:srgbClr val="EDE0E8"/>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5A4058"/>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fa308abb-5e8a-49e6-be13-a8dbcd9a7275}"/>
      </c:ext>
    </c:extLst>
  </c:chart>
  <c:spPr>
    <a:solidFill>
      <a:srgbClr val="FFFFFF"/>
    </a:solid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4.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jpeg"/><Relationship Id="rId1" Type="http://schemas.openxmlformats.org/officeDocument/2006/relationships/image" Target="../media/image8.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chart" Target="../charts/char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A1A35"/>
        </a:solidFill>
        <a:effectLst/>
      </p:bgPr>
    </p:bg>
    <p:spTree>
      <p:nvGrpSpPr>
        <p:cNvPr id="1" name=""/>
        <p:cNvGrpSpPr/>
        <p:nvPr/>
      </p:nvGrpSpPr>
      <p:grpSpPr>
        <a:xfrm>
          <a:off x="0" y="0"/>
          <a:ext cx="0" cy="0"/>
          <a:chOff x="0" y="0"/>
          <a:chExt cx="0" cy="0"/>
        </a:xfrm>
      </p:grpSpPr>
      <p:sp>
        <p:nvSpPr>
          <p:cNvPr id="2" name="Shape 0"/>
          <p:cNvSpPr/>
          <p:nvPr/>
        </p:nvSpPr>
        <p:spPr>
          <a:xfrm>
            <a:off x="5669280" y="-1371600"/>
            <a:ext cx="5486400" cy="5486400"/>
          </a:xfrm>
          <a:prstGeom prst="ellipse">
            <a:avLst/>
          </a:prstGeom>
          <a:solidFill>
            <a:srgbClr val="E8A0BF">
              <a:alpha val="18000"/>
            </a:srgbClr>
          </a:solidFill>
          <a:ln w="12700">
            <a:solidFill>
              <a:srgbClr val="E8A0BF">
                <a:alpha val="22000"/>
              </a:srgbClr>
            </a:solidFill>
            <a:prstDash val="solid"/>
          </a:ln>
        </p:spPr>
      </p:sp>
      <p:sp>
        <p:nvSpPr>
          <p:cNvPr id="3" name="Shape 1"/>
          <p:cNvSpPr/>
          <p:nvPr/>
        </p:nvSpPr>
        <p:spPr>
          <a:xfrm>
            <a:off x="-1371600" y="2926080"/>
            <a:ext cx="4114800" cy="4114800"/>
          </a:xfrm>
          <a:prstGeom prst="ellipse">
            <a:avLst/>
          </a:prstGeom>
          <a:solidFill>
            <a:srgbClr val="B8A0D8">
              <a:alpha val="20000"/>
            </a:srgbClr>
          </a:solidFill>
          <a:ln w="12700">
            <a:solidFill>
              <a:srgbClr val="B8A0D8">
                <a:alpha val="25000"/>
              </a:srgbClr>
            </a:solidFill>
            <a:prstDash val="solid"/>
          </a:ln>
        </p:spPr>
      </p:sp>
      <p:sp>
        <p:nvSpPr>
          <p:cNvPr id="4" name="Shape 2"/>
          <p:cNvSpPr/>
          <p:nvPr/>
        </p:nvSpPr>
        <p:spPr>
          <a:xfrm>
            <a:off x="3200400" y="3474720"/>
            <a:ext cx="2743200" cy="2743200"/>
          </a:xfrm>
          <a:prstGeom prst="ellipse">
            <a:avLst/>
          </a:prstGeom>
          <a:solidFill>
            <a:srgbClr val="A8D8C0">
              <a:alpha val="15000"/>
            </a:srgbClr>
          </a:solidFill>
          <a:ln w="12700">
            <a:solidFill>
              <a:srgbClr val="A8D8C0">
                <a:alpha val="20000"/>
              </a:srgbClr>
            </a:solidFill>
            <a:prstDash val="solid"/>
          </a:ln>
        </p:spPr>
      </p:sp>
      <p:sp>
        <p:nvSpPr>
          <p:cNvPr id="5" name="Shape 3"/>
          <p:cNvSpPr/>
          <p:nvPr/>
        </p:nvSpPr>
        <p:spPr>
          <a:xfrm>
            <a:off x="0" y="0"/>
            <a:ext cx="201168" cy="5143500"/>
          </a:xfrm>
          <a:prstGeom prst="rect">
            <a:avLst/>
          </a:prstGeom>
          <a:solidFill>
            <a:srgbClr val="E8A0BF"/>
          </a:solidFill>
          <a:ln w="12700">
            <a:solidFill>
              <a:srgbClr val="E8A0BF"/>
            </a:solidFill>
            <a:prstDash val="solid"/>
          </a:ln>
        </p:spPr>
      </p:sp>
      <p:sp>
        <p:nvSpPr>
          <p:cNvPr id="8" name="Text 6"/>
          <p:cNvSpPr/>
          <p:nvPr/>
        </p:nvSpPr>
        <p:spPr>
          <a:xfrm>
            <a:off x="411480" y="1261872"/>
            <a:ext cx="8412480" cy="914400"/>
          </a:xfrm>
          <a:prstGeom prst="rect">
            <a:avLst/>
          </a:prstGeom>
          <a:noFill/>
        </p:spPr>
        <p:txBody>
          <a:bodyPr wrap="square" lIns="0" tIns="0" rIns="0" bIns="0" rtlCol="0" anchor="ctr"/>
          <a:lstStyle/>
          <a:p>
            <a:pPr marL="0" indent="0" algn="l">
              <a:buNone/>
            </a:pPr>
            <a:r>
              <a:rPr lang="en-US" sz="6800" b="1" dirty="0">
                <a:solidFill>
                  <a:srgbClr val="E8A0BF"/>
                </a:solidFill>
                <a:latin typeface="Georgia" panose="02040502050405020303" pitchFamily="34" charset="0"/>
                <a:ea typeface="Georgia" panose="02040502050405020303" pitchFamily="34" charset="-122"/>
                <a:cs typeface="Georgia" panose="02040502050405020303" pitchFamily="34" charset="-120"/>
              </a:rPr>
              <a:t>KHCC</a:t>
            </a:r>
            <a:endParaRPr lang="en-US" sz="6800" dirty="0"/>
          </a:p>
        </p:txBody>
      </p:sp>
      <p:sp>
        <p:nvSpPr>
          <p:cNvPr id="9" name="Text 7"/>
          <p:cNvSpPr/>
          <p:nvPr/>
        </p:nvSpPr>
        <p:spPr>
          <a:xfrm>
            <a:off x="411480" y="2084832"/>
            <a:ext cx="8412480" cy="841248"/>
          </a:xfrm>
          <a:prstGeom prst="rect">
            <a:avLst/>
          </a:prstGeom>
          <a:noFill/>
        </p:spPr>
        <p:txBody>
          <a:bodyPr wrap="square" lIns="0" tIns="0" rIns="0" bIns="0" rtlCol="0" anchor="ctr"/>
          <a:lstStyle/>
          <a:p>
            <a:pPr marL="0" indent="0" algn="l">
              <a:buNone/>
            </a:pPr>
            <a:r>
              <a:rPr lang="en-US" sz="5800" b="1" dirty="0">
                <a:solidFill>
                  <a:srgbClr val="FFFFFF"/>
                </a:solidFill>
                <a:latin typeface="Georgia" panose="02040502050405020303" pitchFamily="34" charset="0"/>
                <a:ea typeface="Georgia" panose="02040502050405020303" pitchFamily="34" charset="-122"/>
                <a:cs typeface="Georgia" panose="02040502050405020303" pitchFamily="34" charset="-120"/>
              </a:rPr>
              <a:t>AidConnect</a:t>
            </a:r>
            <a:endParaRPr lang="en-US" sz="5800" dirty="0"/>
          </a:p>
        </p:txBody>
      </p:sp>
      <p:sp>
        <p:nvSpPr>
          <p:cNvPr id="10" name="Text 8"/>
          <p:cNvSpPr/>
          <p:nvPr/>
        </p:nvSpPr>
        <p:spPr>
          <a:xfrm>
            <a:off x="411480" y="2999232"/>
            <a:ext cx="7772400" cy="658368"/>
          </a:xfrm>
          <a:prstGeom prst="rect">
            <a:avLst/>
          </a:prstGeom>
          <a:noFill/>
        </p:spPr>
        <p:txBody>
          <a:bodyPr wrap="square" lIns="0" tIns="0" rIns="0" bIns="0" rtlCol="0" anchor="ctr"/>
          <a:lstStyle/>
          <a:p>
            <a:pPr marL="0" indent="0" algn="l">
              <a:buNone/>
            </a:pPr>
            <a:r>
              <a:rPr lang="en-US" sz="1400" dirty="0">
                <a:solidFill>
                  <a:srgbClr val="F2BBCC"/>
                </a:solidFill>
                <a:latin typeface="Calibri" panose="020F0502020204030204" pitchFamily="34" charset="0"/>
                <a:ea typeface="Calibri" panose="020F0502020204030204" pitchFamily="34" charset="-122"/>
                <a:cs typeface="Calibri" panose="020F0502020204030204" pitchFamily="34" charset="-120"/>
              </a:rPr>
              <a:t>A Smart, Human-Centered Donor and Patient</a:t>
            </a:r>
            <a:endParaRPr lang="en-US" sz="1400" dirty="0"/>
          </a:p>
          <a:p>
            <a:pPr marL="0" indent="0" algn="l">
              <a:buNone/>
            </a:pPr>
            <a:r>
              <a:rPr lang="en-US" sz="1400" dirty="0">
                <a:solidFill>
                  <a:srgbClr val="F2BBCC"/>
                </a:solidFill>
                <a:latin typeface="Calibri" panose="020F0502020204030204" pitchFamily="34" charset="0"/>
                <a:ea typeface="Calibri" panose="020F0502020204030204" pitchFamily="34" charset="-122"/>
                <a:cs typeface="Calibri" panose="020F0502020204030204" pitchFamily="34" charset="-120"/>
              </a:rPr>
              <a:t>Matching System for Cancer Financial Aid</a:t>
            </a:r>
            <a:endParaRPr lang="en-US" sz="1400" dirty="0"/>
          </a:p>
        </p:txBody>
      </p:sp>
      <p:sp>
        <p:nvSpPr>
          <p:cNvPr id="11" name="Shape 9"/>
          <p:cNvSpPr/>
          <p:nvPr/>
        </p:nvSpPr>
        <p:spPr>
          <a:xfrm>
            <a:off x="411480" y="3749040"/>
            <a:ext cx="5486400" cy="36576"/>
          </a:xfrm>
          <a:prstGeom prst="rect">
            <a:avLst/>
          </a:prstGeom>
          <a:solidFill>
            <a:srgbClr val="B8A0D8"/>
          </a:solidFill>
          <a:ln w="12700">
            <a:solidFill>
              <a:srgbClr val="B8A0D8"/>
            </a:solidFill>
            <a:prstDash val="solid"/>
          </a:ln>
        </p:spPr>
      </p:sp>
      <p:sp>
        <p:nvSpPr>
          <p:cNvPr id="12" name="Text 10"/>
          <p:cNvSpPr/>
          <p:nvPr/>
        </p:nvSpPr>
        <p:spPr>
          <a:xfrm>
            <a:off x="411480" y="3858768"/>
            <a:ext cx="7772400" cy="320040"/>
          </a:xfrm>
          <a:prstGeom prst="rect">
            <a:avLst/>
          </a:prstGeom>
          <a:noFill/>
        </p:spPr>
        <p:txBody>
          <a:bodyPr wrap="square" lIns="0" tIns="0" rIns="0" bIns="0" rtlCol="0" anchor="ctr"/>
          <a:lstStyle/>
          <a:p>
            <a:pPr marL="0" indent="0" algn="l">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Mallak Abu Sada  ·  Maya Abu Aslahamat</a:t>
            </a:r>
            <a:endParaRPr lang="en-US" sz="1400" dirty="0"/>
          </a:p>
        </p:txBody>
      </p:sp>
      <p:sp>
        <p:nvSpPr>
          <p:cNvPr id="13" name="Text 11"/>
          <p:cNvSpPr/>
          <p:nvPr/>
        </p:nvSpPr>
        <p:spPr>
          <a:xfrm>
            <a:off x="411480" y="4206240"/>
            <a:ext cx="8046720" cy="256032"/>
          </a:xfrm>
          <a:prstGeom prst="rect">
            <a:avLst/>
          </a:prstGeom>
          <a:noFill/>
        </p:spPr>
        <p:txBody>
          <a:bodyPr wrap="square" lIns="0" tIns="0" rIns="0" bIns="0" rtlCol="0" anchor="ctr"/>
          <a:lstStyle/>
          <a:p>
            <a:pPr marL="0" indent="0" algn="l">
              <a:buNone/>
            </a:pPr>
            <a:r>
              <a:rPr lang="en-US" sz="1050" dirty="0">
                <a:solidFill>
                  <a:srgbClr val="D4C0EE"/>
                </a:solidFill>
                <a:latin typeface="Calibri" panose="020F0502020204030204" pitchFamily="34" charset="0"/>
                <a:ea typeface="Calibri" panose="020F0502020204030204" pitchFamily="34" charset="-122"/>
                <a:cs typeface="Calibri" panose="020F0502020204030204" pitchFamily="34" charset="-120"/>
              </a:rPr>
              <a:t>Business Intelligence &amp; Data Analysis  ·  University of Petra  ·  Supervised by Dr. Ayman M. Mansour</a:t>
            </a:r>
            <a:endParaRPr lang="en-US" sz="1050" dirty="0"/>
          </a:p>
        </p:txBody>
      </p:sp>
      <p:sp>
        <p:nvSpPr>
          <p:cNvPr id="14" name="Shape 12"/>
          <p:cNvSpPr/>
          <p:nvPr/>
        </p:nvSpPr>
        <p:spPr>
          <a:xfrm>
            <a:off x="411480" y="4553712"/>
            <a:ext cx="2011680" cy="512064"/>
          </a:xfrm>
          <a:prstGeom prst="roundRect">
            <a:avLst>
              <a:gd name="adj" fmla="val 17857"/>
            </a:avLst>
          </a:prstGeom>
          <a:solidFill>
            <a:srgbClr val="FFFFFF">
              <a:alpha val="12000"/>
            </a:srgbClr>
          </a:solidFill>
          <a:ln w="12700">
            <a:solidFill>
              <a:srgbClr val="E8A0BF">
                <a:alpha val="60000"/>
              </a:srgbClr>
            </a:solidFill>
            <a:prstDash val="solid"/>
          </a:ln>
        </p:spPr>
      </p:sp>
      <p:sp>
        <p:nvSpPr>
          <p:cNvPr id="15" name="Text 13"/>
          <p:cNvSpPr/>
          <p:nvPr/>
        </p:nvSpPr>
        <p:spPr>
          <a:xfrm>
            <a:off x="411480" y="4553712"/>
            <a:ext cx="2011680" cy="274320"/>
          </a:xfrm>
          <a:prstGeom prst="rect">
            <a:avLst/>
          </a:prstGeom>
          <a:noFill/>
        </p:spPr>
        <p:txBody>
          <a:bodyPr wrap="square" lIns="0" tIns="0" rIns="0" bIns="0" rtlCol="0" anchor="ctr"/>
          <a:lstStyle/>
          <a:p>
            <a:pPr marL="0" indent="0" algn="ctr">
              <a:buNone/>
            </a:pPr>
            <a:r>
              <a:rPr lang="en-US" sz="2000" b="1" dirty="0">
                <a:solidFill>
                  <a:srgbClr val="E8A0BF"/>
                </a:solidFill>
                <a:latin typeface="Georgia" panose="02040502050405020303" pitchFamily="34" charset="0"/>
                <a:ea typeface="Georgia" panose="02040502050405020303" pitchFamily="34" charset="-122"/>
                <a:cs typeface="Georgia" panose="02040502050405020303" pitchFamily="34" charset="-120"/>
              </a:rPr>
              <a:t>111</a:t>
            </a:r>
            <a:endParaRPr lang="en-US" sz="2000" dirty="0"/>
          </a:p>
        </p:txBody>
      </p:sp>
      <p:sp>
        <p:nvSpPr>
          <p:cNvPr id="16" name="Text 14"/>
          <p:cNvSpPr/>
          <p:nvPr/>
        </p:nvSpPr>
        <p:spPr>
          <a:xfrm>
            <a:off x="411480" y="4828032"/>
            <a:ext cx="2011680" cy="182880"/>
          </a:xfrm>
          <a:prstGeom prst="rect">
            <a:avLst/>
          </a:prstGeom>
          <a:noFill/>
        </p:spPr>
        <p:txBody>
          <a:bodyPr wrap="square" lIns="0" tIns="0" rIns="0" bIns="0" rtlCol="0" anchor="ctr"/>
          <a:lstStyle/>
          <a:p>
            <a:pPr marL="0" indent="0" algn="ctr">
              <a:buNone/>
            </a:pPr>
            <a:r>
              <a:rPr lang="en-US" sz="900" dirty="0">
                <a:solidFill>
                  <a:srgbClr val="D4C0EE"/>
                </a:solidFill>
                <a:latin typeface="Calibri" panose="020F0502020204030204" pitchFamily="34" charset="0"/>
                <a:ea typeface="Calibri" panose="020F0502020204030204" pitchFamily="34" charset="-122"/>
                <a:cs typeface="Calibri" panose="020F0502020204030204" pitchFamily="34" charset="-120"/>
              </a:rPr>
              <a:t>Patients</a:t>
            </a:r>
            <a:endParaRPr lang="en-US" sz="900" dirty="0"/>
          </a:p>
        </p:txBody>
      </p:sp>
      <p:sp>
        <p:nvSpPr>
          <p:cNvPr id="17" name="Shape 15"/>
          <p:cNvSpPr/>
          <p:nvPr/>
        </p:nvSpPr>
        <p:spPr>
          <a:xfrm>
            <a:off x="2587752" y="4553712"/>
            <a:ext cx="2011680" cy="512064"/>
          </a:xfrm>
          <a:prstGeom prst="roundRect">
            <a:avLst>
              <a:gd name="adj" fmla="val 17857"/>
            </a:avLst>
          </a:prstGeom>
          <a:solidFill>
            <a:srgbClr val="FFFFFF">
              <a:alpha val="12000"/>
            </a:srgbClr>
          </a:solidFill>
          <a:ln w="12700">
            <a:solidFill>
              <a:srgbClr val="B8A0D8">
                <a:alpha val="60000"/>
              </a:srgbClr>
            </a:solidFill>
            <a:prstDash val="solid"/>
          </a:ln>
        </p:spPr>
      </p:sp>
      <p:sp>
        <p:nvSpPr>
          <p:cNvPr id="18" name="Text 16"/>
          <p:cNvSpPr/>
          <p:nvPr/>
        </p:nvSpPr>
        <p:spPr>
          <a:xfrm>
            <a:off x="2587752" y="4553712"/>
            <a:ext cx="2011680" cy="274320"/>
          </a:xfrm>
          <a:prstGeom prst="rect">
            <a:avLst/>
          </a:prstGeom>
          <a:noFill/>
        </p:spPr>
        <p:txBody>
          <a:bodyPr wrap="square" lIns="0" tIns="0" rIns="0" bIns="0" rtlCol="0" anchor="ctr"/>
          <a:lstStyle/>
          <a:p>
            <a:pPr marL="0" indent="0" algn="ctr">
              <a:buNone/>
            </a:pPr>
            <a:r>
              <a:rPr lang="en-US" sz="2000" b="1" dirty="0">
                <a:solidFill>
                  <a:srgbClr val="B8A0D8"/>
                </a:solidFill>
                <a:latin typeface="Georgia" panose="02040502050405020303" pitchFamily="34" charset="0"/>
                <a:ea typeface="Georgia" panose="02040502050405020303" pitchFamily="34" charset="-122"/>
                <a:cs typeface="Georgia" panose="02040502050405020303" pitchFamily="34" charset="-120"/>
              </a:rPr>
              <a:t>250</a:t>
            </a:r>
            <a:endParaRPr lang="en-US" sz="2000" dirty="0"/>
          </a:p>
        </p:txBody>
      </p:sp>
      <p:sp>
        <p:nvSpPr>
          <p:cNvPr id="19" name="Text 17"/>
          <p:cNvSpPr/>
          <p:nvPr/>
        </p:nvSpPr>
        <p:spPr>
          <a:xfrm>
            <a:off x="2587752" y="4828032"/>
            <a:ext cx="2011680" cy="182880"/>
          </a:xfrm>
          <a:prstGeom prst="rect">
            <a:avLst/>
          </a:prstGeom>
          <a:noFill/>
        </p:spPr>
        <p:txBody>
          <a:bodyPr wrap="square" lIns="0" tIns="0" rIns="0" bIns="0" rtlCol="0" anchor="ctr"/>
          <a:lstStyle/>
          <a:p>
            <a:pPr marL="0" indent="0" algn="ctr">
              <a:buNone/>
            </a:pPr>
            <a:r>
              <a:rPr lang="en-US" sz="900" dirty="0">
                <a:solidFill>
                  <a:srgbClr val="D4C0EE"/>
                </a:solidFill>
                <a:latin typeface="Calibri" panose="020F0502020204030204" pitchFamily="34" charset="0"/>
                <a:ea typeface="Calibri" panose="020F0502020204030204" pitchFamily="34" charset="-122"/>
                <a:cs typeface="Calibri" panose="020F0502020204030204" pitchFamily="34" charset="-120"/>
              </a:rPr>
              <a:t>Donors</a:t>
            </a:r>
            <a:endParaRPr lang="en-US" sz="900" dirty="0"/>
          </a:p>
        </p:txBody>
      </p:sp>
      <p:sp>
        <p:nvSpPr>
          <p:cNvPr id="20" name="Shape 18"/>
          <p:cNvSpPr/>
          <p:nvPr/>
        </p:nvSpPr>
        <p:spPr>
          <a:xfrm>
            <a:off x="4764024" y="4553712"/>
            <a:ext cx="2011680" cy="512064"/>
          </a:xfrm>
          <a:prstGeom prst="roundRect">
            <a:avLst>
              <a:gd name="adj" fmla="val 17857"/>
            </a:avLst>
          </a:prstGeom>
          <a:solidFill>
            <a:srgbClr val="FFFFFF">
              <a:alpha val="12000"/>
            </a:srgbClr>
          </a:solidFill>
          <a:ln w="12700">
            <a:solidFill>
              <a:srgbClr val="A8D8C0">
                <a:alpha val="60000"/>
              </a:srgbClr>
            </a:solidFill>
            <a:prstDash val="solid"/>
          </a:ln>
        </p:spPr>
      </p:sp>
      <p:sp>
        <p:nvSpPr>
          <p:cNvPr id="21" name="Text 19"/>
          <p:cNvSpPr/>
          <p:nvPr/>
        </p:nvSpPr>
        <p:spPr>
          <a:xfrm>
            <a:off x="4764024" y="4553712"/>
            <a:ext cx="2011680" cy="274320"/>
          </a:xfrm>
          <a:prstGeom prst="rect">
            <a:avLst/>
          </a:prstGeom>
          <a:noFill/>
        </p:spPr>
        <p:txBody>
          <a:bodyPr wrap="square" lIns="0" tIns="0" rIns="0" bIns="0" rtlCol="0" anchor="ctr"/>
          <a:lstStyle/>
          <a:p>
            <a:pPr marL="0" indent="0" algn="ctr">
              <a:buNone/>
            </a:pPr>
            <a:r>
              <a:rPr lang="en-US" sz="2000" b="1" dirty="0">
                <a:solidFill>
                  <a:srgbClr val="A8D8C0"/>
                </a:solidFill>
                <a:latin typeface="Georgia" panose="02040502050405020303" pitchFamily="34" charset="0"/>
                <a:ea typeface="Georgia" panose="02040502050405020303" pitchFamily="34" charset="-122"/>
                <a:cs typeface="Georgia" panose="02040502050405020303" pitchFamily="34" charset="-120"/>
              </a:rPr>
              <a:t>378</a:t>
            </a:r>
            <a:endParaRPr lang="en-US" sz="2000" dirty="0"/>
          </a:p>
        </p:txBody>
      </p:sp>
      <p:sp>
        <p:nvSpPr>
          <p:cNvPr id="22" name="Text 20"/>
          <p:cNvSpPr/>
          <p:nvPr/>
        </p:nvSpPr>
        <p:spPr>
          <a:xfrm>
            <a:off x="4764024" y="4828032"/>
            <a:ext cx="2011680" cy="182880"/>
          </a:xfrm>
          <a:prstGeom prst="rect">
            <a:avLst/>
          </a:prstGeom>
          <a:noFill/>
        </p:spPr>
        <p:txBody>
          <a:bodyPr wrap="square" lIns="0" tIns="0" rIns="0" bIns="0" rtlCol="0" anchor="ctr"/>
          <a:lstStyle/>
          <a:p>
            <a:pPr marL="0" indent="0" algn="ctr">
              <a:buNone/>
            </a:pPr>
            <a:r>
              <a:rPr lang="en-US" sz="900" dirty="0">
                <a:solidFill>
                  <a:srgbClr val="D4C0EE"/>
                </a:solidFill>
                <a:latin typeface="Calibri" panose="020F0502020204030204" pitchFamily="34" charset="0"/>
                <a:ea typeface="Calibri" panose="020F0502020204030204" pitchFamily="34" charset="-122"/>
                <a:cs typeface="Calibri" panose="020F0502020204030204" pitchFamily="34" charset="-120"/>
              </a:rPr>
              <a:t>Matches</a:t>
            </a:r>
            <a:endParaRPr lang="en-US" sz="900" dirty="0"/>
          </a:p>
        </p:txBody>
      </p:sp>
      <p:sp>
        <p:nvSpPr>
          <p:cNvPr id="23" name="Shape 21"/>
          <p:cNvSpPr/>
          <p:nvPr/>
        </p:nvSpPr>
        <p:spPr>
          <a:xfrm>
            <a:off x="6940296" y="4553712"/>
            <a:ext cx="2011680" cy="512064"/>
          </a:xfrm>
          <a:prstGeom prst="roundRect">
            <a:avLst>
              <a:gd name="adj" fmla="val 17857"/>
            </a:avLst>
          </a:prstGeom>
          <a:solidFill>
            <a:srgbClr val="FFFFFF">
              <a:alpha val="12000"/>
            </a:srgbClr>
          </a:solidFill>
          <a:ln w="12700">
            <a:solidFill>
              <a:srgbClr val="F5C0A0">
                <a:alpha val="60000"/>
              </a:srgbClr>
            </a:solidFill>
            <a:prstDash val="solid"/>
          </a:ln>
        </p:spPr>
      </p:sp>
      <p:sp>
        <p:nvSpPr>
          <p:cNvPr id="24" name="Text 22"/>
          <p:cNvSpPr/>
          <p:nvPr/>
        </p:nvSpPr>
        <p:spPr>
          <a:xfrm>
            <a:off x="6940296" y="4553712"/>
            <a:ext cx="2011680" cy="274320"/>
          </a:xfrm>
          <a:prstGeom prst="rect">
            <a:avLst/>
          </a:prstGeom>
          <a:noFill/>
        </p:spPr>
        <p:txBody>
          <a:bodyPr wrap="square" lIns="0" tIns="0" rIns="0" bIns="0" rtlCol="0" anchor="ctr"/>
          <a:lstStyle/>
          <a:p>
            <a:pPr marL="0" indent="0" algn="ctr">
              <a:buNone/>
            </a:pPr>
            <a:r>
              <a:rPr lang="en-US" sz="2000" b="1" dirty="0">
                <a:solidFill>
                  <a:srgbClr val="F5C0A0"/>
                </a:solidFill>
                <a:latin typeface="Georgia" panose="02040502050405020303" pitchFamily="34" charset="0"/>
                <a:ea typeface="Georgia" panose="02040502050405020303" pitchFamily="34" charset="-122"/>
                <a:cs typeface="Georgia" panose="02040502050405020303" pitchFamily="34" charset="-120"/>
              </a:rPr>
              <a:t>100%</a:t>
            </a:r>
            <a:endParaRPr lang="en-US" sz="2000" dirty="0"/>
          </a:p>
        </p:txBody>
      </p:sp>
      <p:sp>
        <p:nvSpPr>
          <p:cNvPr id="25" name="Text 23"/>
          <p:cNvSpPr/>
          <p:nvPr/>
        </p:nvSpPr>
        <p:spPr>
          <a:xfrm>
            <a:off x="6940296" y="4828032"/>
            <a:ext cx="2011680" cy="182880"/>
          </a:xfrm>
          <a:prstGeom prst="rect">
            <a:avLst/>
          </a:prstGeom>
          <a:noFill/>
        </p:spPr>
        <p:txBody>
          <a:bodyPr wrap="square" lIns="0" tIns="0" rIns="0" bIns="0" rtlCol="0" anchor="ctr"/>
          <a:lstStyle/>
          <a:p>
            <a:pPr marL="0" indent="0" algn="ctr">
              <a:buNone/>
            </a:pPr>
            <a:r>
              <a:rPr lang="en-US" sz="900" dirty="0">
                <a:solidFill>
                  <a:srgbClr val="D4C0EE"/>
                </a:solidFill>
                <a:latin typeface="Calibri" panose="020F0502020204030204" pitchFamily="34" charset="0"/>
                <a:ea typeface="Calibri" panose="020F0502020204030204" pitchFamily="34" charset="-122"/>
                <a:cs typeface="Calibri" panose="020F0502020204030204" pitchFamily="34" charset="-120"/>
              </a:rPr>
              <a:t>Coverage</a:t>
            </a:r>
            <a:endParaRPr lang="en-US" sz="900" dirty="0"/>
          </a:p>
        </p:txBody>
      </p:sp>
      <p:pic>
        <p:nvPicPr>
          <p:cNvPr id="7" name="Picture 6" descr="Screenshot 2026-05-30 212439"/>
          <p:cNvPicPr>
            <a:picLocks noChangeAspect="1"/>
          </p:cNvPicPr>
          <p:nvPr/>
        </p:nvPicPr>
        <p:blipFill>
          <a:blip r:embed="rId1"/>
          <a:stretch>
            <a:fillRect/>
          </a:stretch>
        </p:blipFill>
        <p:spPr>
          <a:xfrm>
            <a:off x="411480" y="811530"/>
            <a:ext cx="2051685" cy="5010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5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C9617A"/>
          </a:solidFill>
          <a:ln w="12700">
            <a:solidFill>
              <a:srgbClr val="C9617A"/>
            </a:solidFill>
            <a:prstDash val="solid"/>
          </a:ln>
        </p:spPr>
      </p:sp>
      <p:sp>
        <p:nvSpPr>
          <p:cNvPr id="3" name="Shape 1"/>
          <p:cNvSpPr/>
          <p:nvPr/>
        </p:nvSpPr>
        <p:spPr>
          <a:xfrm>
            <a:off x="0" y="4892040"/>
            <a:ext cx="9144000" cy="251460"/>
          </a:xfrm>
          <a:prstGeom prst="rect">
            <a:avLst/>
          </a:prstGeom>
          <a:solidFill>
            <a:srgbClr val="A0395A"/>
          </a:solidFill>
          <a:ln w="12700">
            <a:solidFill>
              <a:srgbClr val="A0395A"/>
            </a:solidFill>
            <a:prstDash val="solid"/>
          </a:ln>
        </p:spPr>
      </p:sp>
      <p:sp>
        <p:nvSpPr>
          <p:cNvPr id="4" name="Text 2"/>
          <p:cNvSpPr/>
          <p:nvPr/>
        </p:nvSpPr>
        <p:spPr>
          <a:xfrm>
            <a:off x="274320" y="4892040"/>
            <a:ext cx="8595360" cy="251460"/>
          </a:xfrm>
          <a:prstGeom prst="rect">
            <a:avLst/>
          </a:prstGeom>
          <a:noFill/>
        </p:spPr>
        <p:txBody>
          <a:bodyPr wrap="square" lIns="0" tIns="0" rIns="0" bIns="0" rtlCol="0" anchor="ctr"/>
          <a:lstStyle/>
          <a:p>
            <a:pPr marL="0" indent="0" algn="ctr">
              <a:buNone/>
            </a:pPr>
            <a:r>
              <a:rPr lang="en-US" sz="850" dirty="0">
                <a:solidFill>
                  <a:srgbClr val="F2BBCC"/>
                </a:solidFill>
                <a:latin typeface="Calibri" panose="020F0502020204030204" pitchFamily="34" charset="0"/>
                <a:ea typeface="Calibri" panose="020F0502020204030204" pitchFamily="34" charset="-122"/>
                <a:cs typeface="Calibri" panose="020F0502020204030204" pitchFamily="34" charset="-120"/>
              </a:rPr>
              <a:t>KHCC AidConnect  ·  Graduation Project Defense  ·  Mallak Abu Sada &amp; Maya Abu Aslahamat  ·  2025/2026</a:t>
            </a:r>
            <a:endParaRPr lang="en-US" sz="850" dirty="0"/>
          </a:p>
        </p:txBody>
      </p:sp>
      <p:sp>
        <p:nvSpPr>
          <p:cNvPr id="5" name="Shape 3"/>
          <p:cNvSpPr/>
          <p:nvPr/>
        </p:nvSpPr>
        <p:spPr>
          <a:xfrm>
            <a:off x="7790688" y="256032"/>
            <a:ext cx="1005840" cy="274320"/>
          </a:xfrm>
          <a:prstGeom prst="roundRect">
            <a:avLst>
              <a:gd name="adj" fmla="val 20000"/>
            </a:avLst>
          </a:prstGeom>
          <a:solidFill>
            <a:srgbClr val="E8855A"/>
          </a:solidFill>
          <a:ln w="12700">
            <a:solidFill>
              <a:srgbClr val="E8855A"/>
            </a:solidFill>
            <a:prstDash val="solid"/>
          </a:ln>
        </p:spPr>
      </p:sp>
      <p:sp>
        <p:nvSpPr>
          <p:cNvPr id="6" name="Text 4"/>
          <p:cNvSpPr/>
          <p:nvPr/>
        </p:nvSpPr>
        <p:spPr>
          <a:xfrm>
            <a:off x="7790688" y="256032"/>
            <a:ext cx="1005840" cy="274320"/>
          </a:xfrm>
          <a:prstGeom prst="rect">
            <a:avLst/>
          </a:prstGeom>
          <a:noFill/>
        </p:spPr>
        <p:txBody>
          <a:bodyPr wrap="square" lIns="0" tIns="0" rIns="0" bIns="0" rtlCol="0" anchor="ctr"/>
          <a:lstStyle/>
          <a:p>
            <a:pPr marL="0" indent="0" algn="ctr">
              <a:buNone/>
            </a:pPr>
            <a:r>
              <a:rPr lang="en-US" sz="850" b="1" kern="0" spc="50" dirty="0">
                <a:solidFill>
                  <a:srgbClr val="FFFFFF"/>
                </a:solidFill>
              </a:rPr>
              <a:t>SLIDE 2 / 20</a:t>
            </a:r>
            <a:endParaRPr lang="en-US" sz="850" dirty="0"/>
          </a:p>
        </p:txBody>
      </p:sp>
      <p:sp>
        <p:nvSpPr>
          <p:cNvPr id="7" name="Text 5"/>
          <p:cNvSpPr/>
          <p:nvPr/>
        </p:nvSpPr>
        <p:spPr>
          <a:xfrm>
            <a:off x="411480" y="164592"/>
            <a:ext cx="7315200" cy="594360"/>
          </a:xfrm>
          <a:prstGeom prst="rect">
            <a:avLst/>
          </a:prstGeom>
          <a:noFill/>
        </p:spPr>
        <p:txBody>
          <a:bodyPr wrap="square" lIns="0" tIns="0" rIns="0" bIns="0" rtlCol="0" anchor="ctr"/>
          <a:lstStyle/>
          <a:p>
            <a:pPr marL="0" indent="0" algn="l">
              <a:buNone/>
            </a:pPr>
            <a:r>
              <a:rPr lang="en-US" sz="2400" b="1" dirty="0">
                <a:solidFill>
                  <a:srgbClr val="FFFFFF"/>
                </a:solidFill>
                <a:latin typeface="Georgia" panose="02040502050405020303" pitchFamily="34" charset="0"/>
                <a:ea typeface="Georgia" panose="02040502050405020303" pitchFamily="34" charset="-122"/>
                <a:cs typeface="Georgia" panose="02040502050405020303" pitchFamily="34" charset="-120"/>
              </a:rPr>
              <a:t>Project Introduction &amp; Core Idea</a:t>
            </a:r>
            <a:endParaRPr lang="en-US" sz="2400" dirty="0"/>
          </a:p>
        </p:txBody>
      </p:sp>
      <p:sp>
        <p:nvSpPr>
          <p:cNvPr id="8" name="Shape 6"/>
          <p:cNvSpPr/>
          <p:nvPr/>
        </p:nvSpPr>
        <p:spPr>
          <a:xfrm>
            <a:off x="320040" y="1024128"/>
            <a:ext cx="4041648" cy="3639312"/>
          </a:xfrm>
          <a:prstGeom prst="rect">
            <a:avLst/>
          </a:prstGeom>
          <a:solidFill>
            <a:srgbClr val="FFFFFF"/>
          </a:solidFill>
          <a:ln w="12700">
            <a:solidFill>
              <a:srgbClr val="EDE0E8"/>
            </a:solidFill>
            <a:prstDash val="solid"/>
          </a:ln>
          <a:effectLst>
            <a:outerShdw blurRad="127000" dist="38100" dir="8100000" algn="bl" rotWithShape="0">
              <a:srgbClr val="C9617A">
                <a:alpha val="15000"/>
              </a:srgbClr>
            </a:outerShdw>
          </a:effectLst>
        </p:spPr>
      </p:sp>
      <p:sp>
        <p:nvSpPr>
          <p:cNvPr id="9" name="Shape 7"/>
          <p:cNvSpPr/>
          <p:nvPr/>
        </p:nvSpPr>
        <p:spPr>
          <a:xfrm>
            <a:off x="320040" y="1024128"/>
            <a:ext cx="4041648" cy="384048"/>
          </a:xfrm>
          <a:prstGeom prst="rect">
            <a:avLst/>
          </a:prstGeom>
          <a:solidFill>
            <a:srgbClr val="E8A0BF"/>
          </a:solidFill>
          <a:ln w="12700">
            <a:solidFill>
              <a:srgbClr val="E8A0BF"/>
            </a:solidFill>
            <a:prstDash val="solid"/>
          </a:ln>
        </p:spPr>
      </p:sp>
      <p:sp>
        <p:nvSpPr>
          <p:cNvPr id="10" name="Text 8"/>
          <p:cNvSpPr/>
          <p:nvPr/>
        </p:nvSpPr>
        <p:spPr>
          <a:xfrm>
            <a:off x="457200" y="1024128"/>
            <a:ext cx="3794760" cy="384048"/>
          </a:xfrm>
          <a:prstGeom prst="rect">
            <a:avLst/>
          </a:prstGeom>
          <a:noFill/>
        </p:spPr>
        <p:txBody>
          <a:bodyPr wrap="square" lIns="0" tIns="0" rIns="0" bIns="0" rtlCol="0" anchor="ctr"/>
          <a:lstStyle/>
          <a:p>
            <a:pPr marL="0" indent="0" algn="l">
              <a:buNone/>
            </a:pPr>
            <a:r>
              <a:rPr lang="en-US" sz="1300" b="1" dirty="0">
                <a:solidFill>
                  <a:srgbClr val="FFFFFF"/>
                </a:solidFill>
              </a:rPr>
              <a:t>What Is KHCC AidConnect?</a:t>
            </a:r>
            <a:endParaRPr lang="en-US" sz="1300" dirty="0"/>
          </a:p>
        </p:txBody>
      </p:sp>
      <p:sp>
        <p:nvSpPr>
          <p:cNvPr id="11" name="Shape 9"/>
          <p:cNvSpPr/>
          <p:nvPr/>
        </p:nvSpPr>
        <p:spPr>
          <a:xfrm>
            <a:off x="438912" y="1609344"/>
            <a:ext cx="384048" cy="384048"/>
          </a:xfrm>
          <a:prstGeom prst="ellipse">
            <a:avLst/>
          </a:prstGeom>
          <a:solidFill>
            <a:srgbClr val="C9617A">
              <a:alpha val="20000"/>
            </a:srgbClr>
          </a:solidFill>
          <a:ln w="12700">
            <a:solidFill>
              <a:srgbClr val="C9617A">
                <a:alpha val="40000"/>
              </a:srgbClr>
            </a:solidFill>
            <a:prstDash val="solid"/>
          </a:ln>
        </p:spPr>
      </p:sp>
      <p:sp>
        <p:nvSpPr>
          <p:cNvPr id="12" name="Text 10"/>
          <p:cNvSpPr/>
          <p:nvPr/>
        </p:nvSpPr>
        <p:spPr>
          <a:xfrm>
            <a:off x="438912" y="1591056"/>
            <a:ext cx="384048" cy="402336"/>
          </a:xfrm>
          <a:prstGeom prst="rect">
            <a:avLst/>
          </a:prstGeom>
          <a:noFill/>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3" name="Text 11"/>
          <p:cNvSpPr/>
          <p:nvPr/>
        </p:nvSpPr>
        <p:spPr>
          <a:xfrm>
            <a:off x="896112" y="1572768"/>
            <a:ext cx="3337560" cy="658368"/>
          </a:xfrm>
          <a:prstGeom prst="rect">
            <a:avLst/>
          </a:prstGeom>
          <a:noFill/>
        </p:spPr>
        <p:txBody>
          <a:bodyPr wrap="square" lIns="0" tIns="0" rIns="0" bIns="0" rtlCol="0" anchor="ctr"/>
          <a:lstStyle/>
          <a:p>
            <a:pPr marL="0" indent="0" algn="l">
              <a:buNone/>
            </a:pPr>
            <a:r>
              <a:rPr lang="en-US" sz="1050" dirty="0">
                <a:solidFill>
                  <a:srgbClr val="5A4058"/>
                </a:solidFill>
                <a:latin typeface="Calibri" panose="020F0502020204030204" pitchFamily="34" charset="0"/>
                <a:ea typeface="Calibri" panose="020F0502020204030204" pitchFamily="34" charset="-122"/>
                <a:cs typeface="Calibri" panose="020F0502020204030204" pitchFamily="34" charset="-120"/>
              </a:rPr>
              <a:t>An AI-powered mobile-first web application automating the complete donor-to-patient financial aid matching process at KHCC.</a:t>
            </a:r>
            <a:endParaRPr lang="en-US" sz="1050" dirty="0"/>
          </a:p>
        </p:txBody>
      </p:sp>
      <p:sp>
        <p:nvSpPr>
          <p:cNvPr id="14" name="Shape 12"/>
          <p:cNvSpPr/>
          <p:nvPr/>
        </p:nvSpPr>
        <p:spPr>
          <a:xfrm>
            <a:off x="438912" y="2386584"/>
            <a:ext cx="384048" cy="384048"/>
          </a:xfrm>
          <a:prstGeom prst="ellipse">
            <a:avLst/>
          </a:prstGeom>
          <a:solidFill>
            <a:srgbClr val="7B5EA7">
              <a:alpha val="20000"/>
            </a:srgbClr>
          </a:solidFill>
          <a:ln w="12700">
            <a:solidFill>
              <a:srgbClr val="7B5EA7">
                <a:alpha val="40000"/>
              </a:srgbClr>
            </a:solidFill>
            <a:prstDash val="solid"/>
          </a:ln>
        </p:spPr>
      </p:sp>
      <p:sp>
        <p:nvSpPr>
          <p:cNvPr id="15" name="Text 13"/>
          <p:cNvSpPr/>
          <p:nvPr/>
        </p:nvSpPr>
        <p:spPr>
          <a:xfrm>
            <a:off x="438912" y="2368296"/>
            <a:ext cx="384048" cy="402336"/>
          </a:xfrm>
          <a:prstGeom prst="rect">
            <a:avLst/>
          </a:prstGeom>
          <a:noFill/>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6" name="Text 14"/>
          <p:cNvSpPr/>
          <p:nvPr/>
        </p:nvSpPr>
        <p:spPr>
          <a:xfrm>
            <a:off x="896112" y="2350008"/>
            <a:ext cx="3337560" cy="658368"/>
          </a:xfrm>
          <a:prstGeom prst="rect">
            <a:avLst/>
          </a:prstGeom>
          <a:noFill/>
        </p:spPr>
        <p:txBody>
          <a:bodyPr wrap="square" lIns="0" tIns="0" rIns="0" bIns="0" rtlCol="0" anchor="ctr"/>
          <a:lstStyle/>
          <a:p>
            <a:pPr marL="0" indent="0" algn="l">
              <a:buNone/>
            </a:pPr>
            <a:r>
              <a:rPr lang="en-US" sz="1050" dirty="0">
                <a:solidFill>
                  <a:srgbClr val="5A4058"/>
                </a:solidFill>
                <a:latin typeface="Calibri" panose="020F0502020204030204" pitchFamily="34" charset="0"/>
                <a:ea typeface="Calibri" panose="020F0502020204030204" pitchFamily="34" charset="-122"/>
                <a:cs typeface="Calibri" panose="020F0502020204030204" pitchFamily="34" charset="-120"/>
              </a:rPr>
              <a:t>Built on two core AI engines: a K-Nearest Neighbours retrieval engine and a rule-based programme recommender — operating in real time.</a:t>
            </a:r>
            <a:endParaRPr lang="en-US" sz="1050" dirty="0"/>
          </a:p>
        </p:txBody>
      </p:sp>
      <p:sp>
        <p:nvSpPr>
          <p:cNvPr id="17" name="Shape 15"/>
          <p:cNvSpPr/>
          <p:nvPr/>
        </p:nvSpPr>
        <p:spPr>
          <a:xfrm>
            <a:off x="438912" y="3163824"/>
            <a:ext cx="384048" cy="384048"/>
          </a:xfrm>
          <a:prstGeom prst="ellipse">
            <a:avLst/>
          </a:prstGeom>
          <a:solidFill>
            <a:srgbClr val="5FAF8A">
              <a:alpha val="20000"/>
            </a:srgbClr>
          </a:solidFill>
          <a:ln w="12700">
            <a:solidFill>
              <a:srgbClr val="5FAF8A">
                <a:alpha val="40000"/>
              </a:srgbClr>
            </a:solidFill>
            <a:prstDash val="solid"/>
          </a:ln>
        </p:spPr>
      </p:sp>
      <p:sp>
        <p:nvSpPr>
          <p:cNvPr id="18" name="Text 16"/>
          <p:cNvSpPr/>
          <p:nvPr/>
        </p:nvSpPr>
        <p:spPr>
          <a:xfrm>
            <a:off x="438912" y="3145536"/>
            <a:ext cx="384048" cy="402336"/>
          </a:xfrm>
          <a:prstGeom prst="rect">
            <a:avLst/>
          </a:prstGeom>
          <a:noFill/>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9" name="Text 17"/>
          <p:cNvSpPr/>
          <p:nvPr/>
        </p:nvSpPr>
        <p:spPr>
          <a:xfrm>
            <a:off x="896112" y="3127248"/>
            <a:ext cx="3337560" cy="658368"/>
          </a:xfrm>
          <a:prstGeom prst="rect">
            <a:avLst/>
          </a:prstGeom>
          <a:noFill/>
        </p:spPr>
        <p:txBody>
          <a:bodyPr wrap="square" lIns="0" tIns="0" rIns="0" bIns="0" rtlCol="0" anchor="ctr"/>
          <a:lstStyle/>
          <a:p>
            <a:pPr marL="0" indent="0" algn="l">
              <a:buNone/>
            </a:pPr>
            <a:r>
              <a:rPr lang="en-US" sz="1050" dirty="0">
                <a:solidFill>
                  <a:srgbClr val="5A4058"/>
                </a:solidFill>
                <a:latin typeface="Calibri" panose="020F0502020204030204" pitchFamily="34" charset="0"/>
                <a:ea typeface="Calibri" panose="020F0502020204030204" pitchFamily="34" charset="-122"/>
                <a:cs typeface="Calibri" panose="020F0502020204030204" pitchFamily="34" charset="-120"/>
              </a:rPr>
              <a:t>Integrates a Zakat compliance validation gate enforcing Islamic finance rules before any restricted donation is confirmed.</a:t>
            </a:r>
            <a:endParaRPr lang="en-US" sz="1050" dirty="0"/>
          </a:p>
        </p:txBody>
      </p:sp>
      <p:sp>
        <p:nvSpPr>
          <p:cNvPr id="20" name="Shape 18"/>
          <p:cNvSpPr/>
          <p:nvPr/>
        </p:nvSpPr>
        <p:spPr>
          <a:xfrm>
            <a:off x="438912" y="3941064"/>
            <a:ext cx="384048" cy="384048"/>
          </a:xfrm>
          <a:prstGeom prst="ellipse">
            <a:avLst/>
          </a:prstGeom>
          <a:solidFill>
            <a:srgbClr val="5A9BC8">
              <a:alpha val="20000"/>
            </a:srgbClr>
          </a:solidFill>
          <a:ln w="12700">
            <a:solidFill>
              <a:srgbClr val="5A9BC8">
                <a:alpha val="40000"/>
              </a:srgbClr>
            </a:solidFill>
            <a:prstDash val="solid"/>
          </a:ln>
        </p:spPr>
      </p:sp>
      <p:sp>
        <p:nvSpPr>
          <p:cNvPr id="21" name="Text 19"/>
          <p:cNvSpPr/>
          <p:nvPr/>
        </p:nvSpPr>
        <p:spPr>
          <a:xfrm>
            <a:off x="438912" y="3922776"/>
            <a:ext cx="384048" cy="402336"/>
          </a:xfrm>
          <a:prstGeom prst="rect">
            <a:avLst/>
          </a:prstGeom>
          <a:noFill/>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2" name="Text 20"/>
          <p:cNvSpPr/>
          <p:nvPr/>
        </p:nvSpPr>
        <p:spPr>
          <a:xfrm>
            <a:off x="896112" y="3904488"/>
            <a:ext cx="3337560" cy="658368"/>
          </a:xfrm>
          <a:prstGeom prst="rect">
            <a:avLst/>
          </a:prstGeom>
          <a:noFill/>
        </p:spPr>
        <p:txBody>
          <a:bodyPr wrap="square" lIns="0" tIns="0" rIns="0" bIns="0" rtlCol="0" anchor="ctr"/>
          <a:lstStyle/>
          <a:p>
            <a:pPr marL="0" indent="0" algn="l">
              <a:buNone/>
            </a:pPr>
            <a:r>
              <a:rPr lang="en-US" sz="1050" dirty="0">
                <a:solidFill>
                  <a:srgbClr val="5A4058"/>
                </a:solidFill>
                <a:latin typeface="Calibri" panose="020F0502020204030204" pitchFamily="34" charset="0"/>
                <a:ea typeface="Calibri" panose="020F0502020204030204" pitchFamily="34" charset="-122"/>
                <a:cs typeface="Calibri" panose="020F0502020204030204" pitchFamily="34" charset="-120"/>
              </a:rPr>
              <a:t>Feeds four interactive Tableau dashboards for four distinct KHCC stakeholder audiences.</a:t>
            </a:r>
            <a:endParaRPr lang="en-US" sz="1050" dirty="0"/>
          </a:p>
        </p:txBody>
      </p:sp>
      <p:sp>
        <p:nvSpPr>
          <p:cNvPr id="23" name="Shape 21"/>
          <p:cNvSpPr/>
          <p:nvPr/>
        </p:nvSpPr>
        <p:spPr>
          <a:xfrm>
            <a:off x="4617720" y="1024128"/>
            <a:ext cx="4160520" cy="3639312"/>
          </a:xfrm>
          <a:prstGeom prst="rect">
            <a:avLst/>
          </a:prstGeom>
          <a:solidFill>
            <a:srgbClr val="FCE8F0"/>
          </a:solidFill>
          <a:ln w="12700">
            <a:solidFill>
              <a:srgbClr val="F2BBCC"/>
            </a:solidFill>
            <a:prstDash val="solid"/>
          </a:ln>
          <a:effectLst>
            <a:outerShdw blurRad="127000" dist="38100" dir="8100000" algn="bl" rotWithShape="0">
              <a:srgbClr val="C9617A">
                <a:alpha val="15000"/>
              </a:srgbClr>
            </a:outerShdw>
          </a:effectLst>
        </p:spPr>
      </p:sp>
      <p:sp>
        <p:nvSpPr>
          <p:cNvPr id="24" name="Shape 22"/>
          <p:cNvSpPr/>
          <p:nvPr/>
        </p:nvSpPr>
        <p:spPr>
          <a:xfrm>
            <a:off x="4617720" y="1024128"/>
            <a:ext cx="4160520" cy="384048"/>
          </a:xfrm>
          <a:prstGeom prst="rect">
            <a:avLst/>
          </a:prstGeom>
          <a:solidFill>
            <a:srgbClr val="7B5EA7"/>
          </a:solidFill>
          <a:ln w="12700">
            <a:solidFill>
              <a:srgbClr val="7B5EA7"/>
            </a:solidFill>
            <a:prstDash val="solid"/>
          </a:ln>
        </p:spPr>
      </p:sp>
      <p:sp>
        <p:nvSpPr>
          <p:cNvPr id="25" name="Text 23"/>
          <p:cNvSpPr/>
          <p:nvPr/>
        </p:nvSpPr>
        <p:spPr>
          <a:xfrm>
            <a:off x="4754880" y="1024128"/>
            <a:ext cx="3886200" cy="384048"/>
          </a:xfrm>
          <a:prstGeom prst="rect">
            <a:avLst/>
          </a:prstGeom>
          <a:noFill/>
        </p:spPr>
        <p:txBody>
          <a:bodyPr wrap="square" lIns="0" tIns="0" rIns="0" bIns="0" rtlCol="0" anchor="ctr"/>
          <a:lstStyle/>
          <a:p>
            <a:pPr marL="0" indent="0" algn="l">
              <a:buNone/>
            </a:pPr>
            <a:r>
              <a:rPr lang="en-US" sz="1300" b="1" dirty="0">
                <a:solidFill>
                  <a:srgbClr val="FFFFFF"/>
                </a:solidFill>
              </a:rPr>
              <a:t>The Core Insight</a:t>
            </a:r>
            <a:endParaRPr lang="en-US" sz="1300" dirty="0"/>
          </a:p>
        </p:txBody>
      </p:sp>
      <p:sp>
        <p:nvSpPr>
          <p:cNvPr id="26" name="Text 24"/>
          <p:cNvSpPr/>
          <p:nvPr/>
        </p:nvSpPr>
        <p:spPr>
          <a:xfrm>
            <a:off x="4709160" y="1463040"/>
            <a:ext cx="548640" cy="548640"/>
          </a:xfrm>
          <a:prstGeom prst="rect">
            <a:avLst/>
          </a:prstGeom>
          <a:noFill/>
        </p:spPr>
        <p:txBody>
          <a:bodyPr wrap="square" lIns="0" tIns="0" rIns="0" bIns="0" rtlCol="0" anchor="ctr"/>
          <a:lstStyle/>
          <a:p>
            <a:pPr marL="0" indent="0" algn="l">
              <a:buNone/>
            </a:pPr>
            <a:r>
              <a:rPr lang="en-US" sz="4800" dirty="0">
                <a:solidFill>
                  <a:srgbClr val="E8A0BF"/>
                </a:solidFill>
                <a:latin typeface="Georgia" panose="02040502050405020303" pitchFamily="34" charset="0"/>
                <a:ea typeface="Georgia" panose="02040502050405020303" pitchFamily="34" charset="-122"/>
                <a:cs typeface="Georgia" panose="02040502050405020303" pitchFamily="34" charset="-120"/>
              </a:rPr>
              <a:t>"</a:t>
            </a:r>
            <a:endParaRPr lang="en-US" sz="4800" dirty="0"/>
          </a:p>
        </p:txBody>
      </p:sp>
      <p:sp>
        <p:nvSpPr>
          <p:cNvPr id="27" name="Text 25"/>
          <p:cNvSpPr/>
          <p:nvPr/>
        </p:nvSpPr>
        <p:spPr>
          <a:xfrm>
            <a:off x="4754880" y="1783080"/>
            <a:ext cx="3886200" cy="1371600"/>
          </a:xfrm>
          <a:prstGeom prst="rect">
            <a:avLst/>
          </a:prstGeom>
          <a:noFill/>
        </p:spPr>
        <p:txBody>
          <a:bodyPr wrap="square" lIns="0" tIns="0" rIns="0" bIns="0" rtlCol="0" anchor="ctr"/>
          <a:lstStyle/>
          <a:p>
            <a:pPr marL="0" indent="0" algn="l">
              <a:buNone/>
            </a:pPr>
            <a:r>
              <a:rPr lang="en-US" sz="1100" i="1" dirty="0">
                <a:solidFill>
                  <a:srgbClr val="A0395A"/>
                </a:solidFill>
                <a:latin typeface="Calibri" panose="020F0502020204030204" pitchFamily="34" charset="0"/>
                <a:ea typeface="Calibri" panose="020F0502020204030204" pitchFamily="34" charset="-122"/>
                <a:cs typeface="Calibri" panose="020F0502020204030204" pitchFamily="34" charset="-120"/>
              </a:rPr>
              <a:t>We visited KHCC. We sat with the caseworkers. They told us the process was entirely manual. Two patients with identical cancer stages and identical incomes could receive completely different aid on different days — depending on who reviewed their file and when.</a:t>
            </a:r>
            <a:endParaRPr lang="en-US" sz="1100" dirty="0"/>
          </a:p>
        </p:txBody>
      </p:sp>
      <p:sp>
        <p:nvSpPr>
          <p:cNvPr id="28" name="Text 26"/>
          <p:cNvSpPr/>
          <p:nvPr/>
        </p:nvSpPr>
        <p:spPr>
          <a:xfrm>
            <a:off x="4754880" y="3200400"/>
            <a:ext cx="3886200" cy="256032"/>
          </a:xfrm>
          <a:prstGeom prst="rect">
            <a:avLst/>
          </a:prstGeom>
          <a:noFill/>
        </p:spPr>
        <p:txBody>
          <a:bodyPr wrap="square" lIns="0" tIns="0" rIns="0" bIns="0" rtlCol="0" anchor="ctr"/>
          <a:lstStyle/>
          <a:p>
            <a:pPr marL="0" indent="0" algn="r">
              <a:buNone/>
            </a:pPr>
            <a:r>
              <a:rPr lang="en-US" sz="950" dirty="0">
                <a:solidFill>
                  <a:srgbClr val="7B5EA7"/>
                </a:solidFill>
                <a:latin typeface="Calibri" panose="020F0502020204030204" pitchFamily="34" charset="0"/>
                <a:ea typeface="Calibri" panose="020F0502020204030204" pitchFamily="34" charset="-122"/>
                <a:cs typeface="Calibri" panose="020F0502020204030204" pitchFamily="34" charset="-120"/>
              </a:rPr>
              <a:t>— KHCC Caseworker Interview, 2025</a:t>
            </a:r>
            <a:endParaRPr lang="en-US" sz="950" dirty="0"/>
          </a:p>
        </p:txBody>
      </p:sp>
      <p:sp>
        <p:nvSpPr>
          <p:cNvPr id="29" name="Shape 27"/>
          <p:cNvSpPr/>
          <p:nvPr/>
        </p:nvSpPr>
        <p:spPr>
          <a:xfrm>
            <a:off x="4736592" y="3547872"/>
            <a:ext cx="3931920" cy="27432"/>
          </a:xfrm>
          <a:prstGeom prst="rect">
            <a:avLst/>
          </a:prstGeom>
          <a:solidFill>
            <a:srgbClr val="B8A0D8"/>
          </a:solidFill>
          <a:ln w="12700">
            <a:solidFill>
              <a:srgbClr val="B8A0D8"/>
            </a:solidFill>
            <a:prstDash val="solid"/>
          </a:ln>
        </p:spPr>
      </p:sp>
      <p:sp>
        <p:nvSpPr>
          <p:cNvPr id="30" name="Text 28"/>
          <p:cNvSpPr/>
          <p:nvPr/>
        </p:nvSpPr>
        <p:spPr>
          <a:xfrm>
            <a:off x="4754880" y="3639312"/>
            <a:ext cx="3913632" cy="621792"/>
          </a:xfrm>
          <a:prstGeom prst="rect">
            <a:avLst/>
          </a:prstGeom>
          <a:noFill/>
        </p:spPr>
        <p:txBody>
          <a:bodyPr wrap="square" lIns="0" tIns="0" rIns="0" bIns="0" rtlCol="0" anchor="ctr"/>
          <a:lstStyle/>
          <a:p>
            <a:pPr marL="0" indent="0" algn="l">
              <a:buNone/>
            </a:pPr>
            <a:r>
              <a:rPr lang="en-US" sz="1050" b="1" dirty="0">
                <a:solidFill>
                  <a:srgbClr val="4A3575"/>
                </a:solidFill>
                <a:latin typeface="Calibri" panose="020F0502020204030204" pitchFamily="34" charset="0"/>
                <a:ea typeface="Calibri" panose="020F0502020204030204" pitchFamily="34" charset="-122"/>
                <a:cs typeface="Calibri" panose="020F0502020204030204" pitchFamily="34" charset="-120"/>
              </a:rPr>
              <a:t>AidConnect replaces this inconsistency with a fair, data-driven matching system — the same way, every time, for every patient.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A1A35"/>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A0395A"/>
          </a:solidFill>
          <a:ln w="12700">
            <a:solidFill>
              <a:srgbClr val="A0395A"/>
            </a:solidFill>
            <a:prstDash val="solid"/>
          </a:ln>
        </p:spPr>
      </p:sp>
      <p:sp>
        <p:nvSpPr>
          <p:cNvPr id="3" name="Text 1"/>
          <p:cNvSpPr/>
          <p:nvPr/>
        </p:nvSpPr>
        <p:spPr>
          <a:xfrm>
            <a:off x="274320" y="4892040"/>
            <a:ext cx="8595360" cy="251460"/>
          </a:xfrm>
          <a:prstGeom prst="rect">
            <a:avLst/>
          </a:prstGeom>
          <a:noFill/>
        </p:spPr>
        <p:txBody>
          <a:bodyPr wrap="square" lIns="0" tIns="0" rIns="0" bIns="0" rtlCol="0" anchor="ctr"/>
          <a:lstStyle/>
          <a:p>
            <a:pPr marL="0" indent="0" algn="ctr">
              <a:buNone/>
            </a:pPr>
            <a:r>
              <a:rPr lang="en-US" sz="850" dirty="0">
                <a:solidFill>
                  <a:srgbClr val="F2BBCC"/>
                </a:solidFill>
                <a:latin typeface="Calibri" panose="020F0502020204030204" pitchFamily="34" charset="0"/>
                <a:ea typeface="Calibri" panose="020F0502020204030204" pitchFamily="34" charset="-122"/>
                <a:cs typeface="Calibri" panose="020F0502020204030204" pitchFamily="34" charset="-120"/>
              </a:rPr>
              <a:t>KHCC AidConnect  ·  Graduation Project Defense  ·  Mallak Abu Sada &amp; Maya Abu Aslahamat  ·  2025/2026</a:t>
            </a:r>
            <a:endParaRPr lang="en-US" sz="850" dirty="0"/>
          </a:p>
        </p:txBody>
      </p:sp>
      <p:sp>
        <p:nvSpPr>
          <p:cNvPr id="4" name="Shape 2"/>
          <p:cNvSpPr/>
          <p:nvPr/>
        </p:nvSpPr>
        <p:spPr>
          <a:xfrm>
            <a:off x="7790688" y="256032"/>
            <a:ext cx="1005840" cy="274320"/>
          </a:xfrm>
          <a:prstGeom prst="roundRect">
            <a:avLst>
              <a:gd name="adj" fmla="val 20000"/>
            </a:avLst>
          </a:prstGeom>
          <a:solidFill>
            <a:srgbClr val="E8855A"/>
          </a:solidFill>
          <a:ln w="12700">
            <a:solidFill>
              <a:srgbClr val="E8855A"/>
            </a:solidFill>
            <a:prstDash val="solid"/>
          </a:ln>
        </p:spPr>
      </p:sp>
      <p:sp>
        <p:nvSpPr>
          <p:cNvPr id="5" name="Text 3"/>
          <p:cNvSpPr/>
          <p:nvPr/>
        </p:nvSpPr>
        <p:spPr>
          <a:xfrm>
            <a:off x="7790688" y="256032"/>
            <a:ext cx="1005840" cy="274320"/>
          </a:xfrm>
          <a:prstGeom prst="rect">
            <a:avLst/>
          </a:prstGeom>
          <a:noFill/>
        </p:spPr>
        <p:txBody>
          <a:bodyPr wrap="square" lIns="0" tIns="0" rIns="0" bIns="0" rtlCol="0" anchor="ctr"/>
          <a:lstStyle/>
          <a:p>
            <a:pPr marL="0" indent="0" algn="ctr">
              <a:buNone/>
            </a:pPr>
            <a:r>
              <a:rPr lang="en-US" sz="850" b="1" kern="0" spc="50" dirty="0">
                <a:solidFill>
                  <a:srgbClr val="FFFFFF"/>
                </a:solidFill>
              </a:rPr>
              <a:t>SLIDE 3 / 20</a:t>
            </a:r>
            <a:endParaRPr lang="en-US" sz="850" dirty="0"/>
          </a:p>
        </p:txBody>
      </p:sp>
      <p:sp>
        <p:nvSpPr>
          <p:cNvPr id="6" name="Shape 4"/>
          <p:cNvSpPr/>
          <p:nvPr/>
        </p:nvSpPr>
        <p:spPr>
          <a:xfrm>
            <a:off x="0" y="0"/>
            <a:ext cx="9144000" cy="54864"/>
          </a:xfrm>
          <a:prstGeom prst="rect">
            <a:avLst/>
          </a:prstGeom>
          <a:solidFill>
            <a:srgbClr val="E8A0BF"/>
          </a:solidFill>
          <a:ln w="12700">
            <a:solidFill>
              <a:srgbClr val="E8A0BF"/>
            </a:solidFill>
            <a:prstDash val="solid"/>
          </a:ln>
        </p:spPr>
      </p:sp>
      <p:sp>
        <p:nvSpPr>
          <p:cNvPr id="7" name="Text 5"/>
          <p:cNvSpPr/>
          <p:nvPr/>
        </p:nvSpPr>
        <p:spPr>
          <a:xfrm>
            <a:off x="411480" y="182880"/>
            <a:ext cx="8229600" cy="621792"/>
          </a:xfrm>
          <a:prstGeom prst="rect">
            <a:avLst/>
          </a:prstGeom>
          <a:noFill/>
        </p:spPr>
        <p:txBody>
          <a:bodyPr wrap="square" lIns="0" tIns="0" rIns="0" bIns="0" rtlCol="0" anchor="ctr"/>
          <a:lstStyle/>
          <a:p>
            <a:pPr marL="0" indent="0" algn="l">
              <a:buNone/>
            </a:pPr>
            <a:r>
              <a:rPr lang="en-US" sz="3000" b="1" dirty="0">
                <a:solidFill>
                  <a:srgbClr val="FFFFFF"/>
                </a:solidFill>
                <a:latin typeface="Georgia" panose="02040502050405020303" pitchFamily="34" charset="0"/>
                <a:ea typeface="Georgia" panose="02040502050405020303" pitchFamily="34" charset="-122"/>
                <a:cs typeface="Georgia" panose="02040502050405020303" pitchFamily="34" charset="-120"/>
              </a:rPr>
              <a:t>The Problem Statement</a:t>
            </a:r>
            <a:endParaRPr lang="en-US" sz="3000" dirty="0"/>
          </a:p>
        </p:txBody>
      </p:sp>
      <p:sp>
        <p:nvSpPr>
          <p:cNvPr id="8" name="Text 6"/>
          <p:cNvSpPr/>
          <p:nvPr/>
        </p:nvSpPr>
        <p:spPr>
          <a:xfrm>
            <a:off x="411480" y="822960"/>
            <a:ext cx="7772400" cy="256032"/>
          </a:xfrm>
          <a:prstGeom prst="rect">
            <a:avLst/>
          </a:prstGeom>
          <a:noFill/>
        </p:spPr>
        <p:txBody>
          <a:bodyPr wrap="square" lIns="0" tIns="0" rIns="0" bIns="0" rtlCol="0" anchor="ctr"/>
          <a:lstStyle/>
          <a:p>
            <a:pPr marL="0" indent="0" algn="l">
              <a:buNone/>
            </a:pPr>
            <a:r>
              <a:rPr lang="en-US" sz="1200" dirty="0">
                <a:solidFill>
                  <a:srgbClr val="F2BBCC"/>
                </a:solidFill>
                <a:latin typeface="Calibri" panose="020F0502020204030204" pitchFamily="34" charset="0"/>
                <a:ea typeface="Calibri" panose="020F0502020204030204" pitchFamily="34" charset="-122"/>
                <a:cs typeface="Calibri" panose="020F0502020204030204" pitchFamily="34" charset="-120"/>
              </a:rPr>
              <a:t>Three structural failures inside the current KHCC manual aid allocation process</a:t>
            </a:r>
            <a:endParaRPr lang="en-US" sz="1200" dirty="0"/>
          </a:p>
        </p:txBody>
      </p:sp>
      <p:sp>
        <p:nvSpPr>
          <p:cNvPr id="9" name="Shape 7"/>
          <p:cNvSpPr/>
          <p:nvPr/>
        </p:nvSpPr>
        <p:spPr>
          <a:xfrm>
            <a:off x="320040" y="1188720"/>
            <a:ext cx="8503920" cy="1078992"/>
          </a:xfrm>
          <a:prstGeom prst="rect">
            <a:avLst/>
          </a:prstGeom>
          <a:solidFill>
            <a:srgbClr val="FFFFFF">
              <a:alpha val="10000"/>
            </a:srgbClr>
          </a:solidFill>
          <a:ln w="12700">
            <a:solidFill>
              <a:srgbClr val="E8A0BF"/>
            </a:solidFill>
            <a:prstDash val="solid"/>
          </a:ln>
        </p:spPr>
      </p:sp>
      <p:sp>
        <p:nvSpPr>
          <p:cNvPr id="10" name="Shape 8"/>
          <p:cNvSpPr/>
          <p:nvPr/>
        </p:nvSpPr>
        <p:spPr>
          <a:xfrm>
            <a:off x="320040" y="1188720"/>
            <a:ext cx="73152" cy="1078992"/>
          </a:xfrm>
          <a:prstGeom prst="rect">
            <a:avLst/>
          </a:prstGeom>
          <a:solidFill>
            <a:srgbClr val="E8A0BF"/>
          </a:solidFill>
          <a:ln w="12700">
            <a:solidFill>
              <a:srgbClr val="E8A0BF"/>
            </a:solidFill>
            <a:prstDash val="solid"/>
          </a:ln>
        </p:spPr>
      </p:sp>
      <p:sp>
        <p:nvSpPr>
          <p:cNvPr id="11" name="Shape 9"/>
          <p:cNvSpPr/>
          <p:nvPr/>
        </p:nvSpPr>
        <p:spPr>
          <a:xfrm>
            <a:off x="475488" y="1298448"/>
            <a:ext cx="548640" cy="320040"/>
          </a:xfrm>
          <a:prstGeom prst="roundRect">
            <a:avLst>
              <a:gd name="adj" fmla="val 17143"/>
            </a:avLst>
          </a:prstGeom>
          <a:solidFill>
            <a:srgbClr val="E8A0BF">
              <a:alpha val="70000"/>
            </a:srgbClr>
          </a:solidFill>
          <a:ln w="12700">
            <a:solidFill>
              <a:srgbClr val="E8A0BF"/>
            </a:solidFill>
            <a:prstDash val="solid"/>
          </a:ln>
        </p:spPr>
      </p:sp>
      <p:sp>
        <p:nvSpPr>
          <p:cNvPr id="12" name="Text 10"/>
          <p:cNvSpPr/>
          <p:nvPr/>
        </p:nvSpPr>
        <p:spPr>
          <a:xfrm>
            <a:off x="475488" y="1298448"/>
            <a:ext cx="548640" cy="320040"/>
          </a:xfrm>
          <a:prstGeom prst="rect">
            <a:avLst/>
          </a:prstGeom>
          <a:noFill/>
        </p:spPr>
        <p:txBody>
          <a:bodyPr wrap="square" lIns="0" tIns="0" rIns="0" bIns="0" rtlCol="0" anchor="ctr"/>
          <a:lstStyle/>
          <a:p>
            <a:pPr marL="0" indent="0" algn="ctr">
              <a:buNone/>
            </a:pPr>
            <a:r>
              <a:rPr lang="en-US" sz="1400" b="1" dirty="0">
                <a:solidFill>
                  <a:srgbClr val="FFFFFF"/>
                </a:solidFill>
              </a:rPr>
              <a:t>01</a:t>
            </a:r>
            <a:endParaRPr lang="en-US" sz="1400" dirty="0"/>
          </a:p>
        </p:txBody>
      </p:sp>
      <p:sp>
        <p:nvSpPr>
          <p:cNvPr id="13" name="Text 11"/>
          <p:cNvSpPr/>
          <p:nvPr/>
        </p:nvSpPr>
        <p:spPr>
          <a:xfrm>
            <a:off x="1152144" y="1280160"/>
            <a:ext cx="7223760" cy="320040"/>
          </a:xfrm>
          <a:prstGeom prst="rect">
            <a:avLst/>
          </a:prstGeom>
          <a:noFill/>
        </p:spPr>
        <p:txBody>
          <a:bodyPr wrap="square" lIns="0" tIns="0" rIns="0" bIns="0" rtlCol="0" anchor="ctr"/>
          <a:lstStyle/>
          <a:p>
            <a:pPr marL="0" indent="0" algn="l">
              <a:buNone/>
            </a:pPr>
            <a:r>
              <a:rPr lang="en-US" sz="1300" b="1" dirty="0">
                <a:solidFill>
                  <a:srgbClr val="FFFFFF"/>
                </a:solidFill>
              </a:rPr>
              <a:t>No Quantitative Need-Scoring Framework</a:t>
            </a:r>
            <a:endParaRPr lang="en-US" sz="1300" dirty="0"/>
          </a:p>
        </p:txBody>
      </p:sp>
      <p:sp>
        <p:nvSpPr>
          <p:cNvPr id="14" name="Text 12"/>
          <p:cNvSpPr/>
          <p:nvPr/>
        </p:nvSpPr>
        <p:spPr>
          <a:xfrm>
            <a:off x="1152144" y="1645920"/>
            <a:ext cx="7571232" cy="548640"/>
          </a:xfrm>
          <a:prstGeom prst="rect">
            <a:avLst/>
          </a:prstGeom>
          <a:noFill/>
        </p:spPr>
        <p:txBody>
          <a:bodyPr wrap="square" lIns="0" tIns="0" rIns="0" bIns="0" rtlCol="0" anchor="ctr"/>
          <a:lstStyle/>
          <a:p>
            <a:pPr marL="0" indent="0" algn="l">
              <a:buNone/>
            </a:pPr>
            <a:r>
              <a:rPr lang="en-US" sz="1000" dirty="0">
                <a:solidFill>
                  <a:srgbClr val="F2BBCC"/>
                </a:solidFill>
                <a:latin typeface="Calibri" panose="020F0502020204030204" pitchFamily="34" charset="0"/>
                <a:ea typeface="Calibri" panose="020F0502020204030204" pitchFamily="34" charset="-122"/>
                <a:cs typeface="Calibri" panose="020F0502020204030204" pitchFamily="34" charset="-120"/>
              </a:rPr>
              <a:t>Aid priority at KHCC is currently determined by caseworker judgment — not a consistent formula. Two patients with identical cancer stages and income levels can receive different priority rankings depending on who reviews their file. There is no weighted score, no normalisation, and no reproducibility.</a:t>
            </a:r>
            <a:endParaRPr lang="en-US" sz="1000" dirty="0"/>
          </a:p>
        </p:txBody>
      </p:sp>
      <p:sp>
        <p:nvSpPr>
          <p:cNvPr id="15" name="Shape 13"/>
          <p:cNvSpPr/>
          <p:nvPr/>
        </p:nvSpPr>
        <p:spPr>
          <a:xfrm>
            <a:off x="320040" y="2423160"/>
            <a:ext cx="8503920" cy="1078992"/>
          </a:xfrm>
          <a:prstGeom prst="rect">
            <a:avLst/>
          </a:prstGeom>
          <a:solidFill>
            <a:srgbClr val="FFFFFF">
              <a:alpha val="10000"/>
            </a:srgbClr>
          </a:solidFill>
          <a:ln w="12700">
            <a:solidFill>
              <a:srgbClr val="B8A0D8"/>
            </a:solidFill>
            <a:prstDash val="solid"/>
          </a:ln>
        </p:spPr>
      </p:sp>
      <p:sp>
        <p:nvSpPr>
          <p:cNvPr id="16" name="Shape 14"/>
          <p:cNvSpPr/>
          <p:nvPr/>
        </p:nvSpPr>
        <p:spPr>
          <a:xfrm>
            <a:off x="320040" y="2423160"/>
            <a:ext cx="73152" cy="1078992"/>
          </a:xfrm>
          <a:prstGeom prst="rect">
            <a:avLst/>
          </a:prstGeom>
          <a:solidFill>
            <a:srgbClr val="B8A0D8"/>
          </a:solidFill>
          <a:ln w="12700">
            <a:solidFill>
              <a:srgbClr val="B8A0D8"/>
            </a:solidFill>
            <a:prstDash val="solid"/>
          </a:ln>
        </p:spPr>
      </p:sp>
      <p:sp>
        <p:nvSpPr>
          <p:cNvPr id="17" name="Shape 15"/>
          <p:cNvSpPr/>
          <p:nvPr/>
        </p:nvSpPr>
        <p:spPr>
          <a:xfrm>
            <a:off x="475488" y="2532888"/>
            <a:ext cx="548640" cy="320040"/>
          </a:xfrm>
          <a:prstGeom prst="roundRect">
            <a:avLst>
              <a:gd name="adj" fmla="val 17143"/>
            </a:avLst>
          </a:prstGeom>
          <a:solidFill>
            <a:srgbClr val="B8A0D8">
              <a:alpha val="70000"/>
            </a:srgbClr>
          </a:solidFill>
          <a:ln w="12700">
            <a:solidFill>
              <a:srgbClr val="B8A0D8"/>
            </a:solidFill>
            <a:prstDash val="solid"/>
          </a:ln>
        </p:spPr>
      </p:sp>
      <p:sp>
        <p:nvSpPr>
          <p:cNvPr id="18" name="Text 16"/>
          <p:cNvSpPr/>
          <p:nvPr/>
        </p:nvSpPr>
        <p:spPr>
          <a:xfrm>
            <a:off x="475488" y="2532888"/>
            <a:ext cx="548640" cy="320040"/>
          </a:xfrm>
          <a:prstGeom prst="rect">
            <a:avLst/>
          </a:prstGeom>
          <a:noFill/>
        </p:spPr>
        <p:txBody>
          <a:bodyPr wrap="square" lIns="0" tIns="0" rIns="0" bIns="0" rtlCol="0" anchor="ctr"/>
          <a:lstStyle/>
          <a:p>
            <a:pPr marL="0" indent="0" algn="ctr">
              <a:buNone/>
            </a:pPr>
            <a:r>
              <a:rPr lang="en-US" sz="1400" b="1" dirty="0">
                <a:solidFill>
                  <a:srgbClr val="FFFFFF"/>
                </a:solidFill>
              </a:rPr>
              <a:t>02</a:t>
            </a:r>
            <a:endParaRPr lang="en-US" sz="1400" dirty="0"/>
          </a:p>
        </p:txBody>
      </p:sp>
      <p:sp>
        <p:nvSpPr>
          <p:cNvPr id="19" name="Text 17"/>
          <p:cNvSpPr/>
          <p:nvPr/>
        </p:nvSpPr>
        <p:spPr>
          <a:xfrm>
            <a:off x="1152144" y="2514600"/>
            <a:ext cx="7223760" cy="320040"/>
          </a:xfrm>
          <a:prstGeom prst="rect">
            <a:avLst/>
          </a:prstGeom>
          <a:noFill/>
        </p:spPr>
        <p:txBody>
          <a:bodyPr wrap="square" lIns="0" tIns="0" rIns="0" bIns="0" rtlCol="0" anchor="ctr"/>
          <a:lstStyle/>
          <a:p>
            <a:pPr marL="0" indent="0" algn="l">
              <a:buNone/>
            </a:pPr>
            <a:r>
              <a:rPr lang="en-US" sz="1300" b="1" dirty="0">
                <a:solidFill>
                  <a:srgbClr val="FFFFFF"/>
                </a:solidFill>
              </a:rPr>
              <a:t>No Automated Donor-Patient Matching Engine</a:t>
            </a:r>
            <a:endParaRPr lang="en-US" sz="1300" dirty="0"/>
          </a:p>
        </p:txBody>
      </p:sp>
      <p:sp>
        <p:nvSpPr>
          <p:cNvPr id="20" name="Text 18"/>
          <p:cNvSpPr/>
          <p:nvPr/>
        </p:nvSpPr>
        <p:spPr>
          <a:xfrm>
            <a:off x="1152144" y="2880360"/>
            <a:ext cx="7571232" cy="548640"/>
          </a:xfrm>
          <a:prstGeom prst="rect">
            <a:avLst/>
          </a:prstGeom>
          <a:noFill/>
        </p:spPr>
        <p:txBody>
          <a:bodyPr wrap="square" lIns="0" tIns="0" rIns="0" bIns="0" rtlCol="0" anchor="ctr"/>
          <a:lstStyle/>
          <a:p>
            <a:pPr marL="0" indent="0" algn="l">
              <a:buNone/>
            </a:pPr>
            <a:r>
              <a:rPr lang="en-US" sz="1000" dirty="0">
                <a:solidFill>
                  <a:srgbClr val="F2BBCC"/>
                </a:solidFill>
                <a:latin typeface="Calibri" panose="020F0502020204030204" pitchFamily="34" charset="0"/>
                <a:ea typeface="Calibri" panose="020F0502020204030204" pitchFamily="34" charset="-122"/>
                <a:cs typeface="Calibri" panose="020F0502020204030204" pitchFamily="34" charset="-120"/>
              </a:rPr>
              <a:t>Matching donors to patients is entirely manual. It cannot handle the combinatorial complexity of matching 250 donors to 111 patients across 6 eligibility programmes. High-need patients on the waitlist are routinely overlooked because no system surfaces them efficiently.</a:t>
            </a:r>
            <a:endParaRPr lang="en-US" sz="1000" dirty="0"/>
          </a:p>
        </p:txBody>
      </p:sp>
      <p:sp>
        <p:nvSpPr>
          <p:cNvPr id="21" name="Shape 19"/>
          <p:cNvSpPr/>
          <p:nvPr/>
        </p:nvSpPr>
        <p:spPr>
          <a:xfrm>
            <a:off x="320040" y="3657600"/>
            <a:ext cx="8503920" cy="1078992"/>
          </a:xfrm>
          <a:prstGeom prst="rect">
            <a:avLst/>
          </a:prstGeom>
          <a:solidFill>
            <a:srgbClr val="FFFFFF">
              <a:alpha val="10000"/>
            </a:srgbClr>
          </a:solidFill>
          <a:ln w="12700">
            <a:solidFill>
              <a:srgbClr val="F5C0A0"/>
            </a:solidFill>
            <a:prstDash val="solid"/>
          </a:ln>
        </p:spPr>
      </p:sp>
      <p:sp>
        <p:nvSpPr>
          <p:cNvPr id="22" name="Shape 20"/>
          <p:cNvSpPr/>
          <p:nvPr/>
        </p:nvSpPr>
        <p:spPr>
          <a:xfrm>
            <a:off x="320040" y="3657600"/>
            <a:ext cx="73152" cy="1078992"/>
          </a:xfrm>
          <a:prstGeom prst="rect">
            <a:avLst/>
          </a:prstGeom>
          <a:solidFill>
            <a:srgbClr val="F5C0A0"/>
          </a:solidFill>
          <a:ln w="12700">
            <a:solidFill>
              <a:srgbClr val="F5C0A0"/>
            </a:solidFill>
            <a:prstDash val="solid"/>
          </a:ln>
        </p:spPr>
      </p:sp>
      <p:sp>
        <p:nvSpPr>
          <p:cNvPr id="23" name="Shape 21"/>
          <p:cNvSpPr/>
          <p:nvPr/>
        </p:nvSpPr>
        <p:spPr>
          <a:xfrm>
            <a:off x="475488" y="3767328"/>
            <a:ext cx="548640" cy="320040"/>
          </a:xfrm>
          <a:prstGeom prst="roundRect">
            <a:avLst>
              <a:gd name="adj" fmla="val 17143"/>
            </a:avLst>
          </a:prstGeom>
          <a:solidFill>
            <a:srgbClr val="F5C0A0">
              <a:alpha val="70000"/>
            </a:srgbClr>
          </a:solidFill>
          <a:ln w="12700">
            <a:solidFill>
              <a:srgbClr val="F5C0A0"/>
            </a:solidFill>
            <a:prstDash val="solid"/>
          </a:ln>
        </p:spPr>
      </p:sp>
      <p:sp>
        <p:nvSpPr>
          <p:cNvPr id="24" name="Text 22"/>
          <p:cNvSpPr/>
          <p:nvPr/>
        </p:nvSpPr>
        <p:spPr>
          <a:xfrm>
            <a:off x="475488" y="3767328"/>
            <a:ext cx="548640" cy="320040"/>
          </a:xfrm>
          <a:prstGeom prst="rect">
            <a:avLst/>
          </a:prstGeom>
          <a:noFill/>
        </p:spPr>
        <p:txBody>
          <a:bodyPr wrap="square" lIns="0" tIns="0" rIns="0" bIns="0" rtlCol="0" anchor="ctr"/>
          <a:lstStyle/>
          <a:p>
            <a:pPr marL="0" indent="0" algn="ctr">
              <a:buNone/>
            </a:pPr>
            <a:r>
              <a:rPr lang="en-US" sz="1400" b="1" dirty="0">
                <a:solidFill>
                  <a:srgbClr val="FFFFFF"/>
                </a:solidFill>
              </a:rPr>
              <a:t>03</a:t>
            </a:r>
            <a:endParaRPr lang="en-US" sz="1400" dirty="0"/>
          </a:p>
        </p:txBody>
      </p:sp>
      <p:sp>
        <p:nvSpPr>
          <p:cNvPr id="25" name="Text 23"/>
          <p:cNvSpPr/>
          <p:nvPr/>
        </p:nvSpPr>
        <p:spPr>
          <a:xfrm>
            <a:off x="1152144" y="3749040"/>
            <a:ext cx="7223760" cy="320040"/>
          </a:xfrm>
          <a:prstGeom prst="rect">
            <a:avLst/>
          </a:prstGeom>
          <a:noFill/>
        </p:spPr>
        <p:txBody>
          <a:bodyPr wrap="square" lIns="0" tIns="0" rIns="0" bIns="0" rtlCol="0" anchor="ctr"/>
          <a:lstStyle/>
          <a:p>
            <a:pPr marL="0" indent="0" algn="l">
              <a:buNone/>
            </a:pPr>
            <a:r>
              <a:rPr lang="en-US" sz="1300" b="1" dirty="0">
                <a:solidFill>
                  <a:srgbClr val="FFFFFF"/>
                </a:solidFill>
              </a:rPr>
              <a:t>No Zakat Compliance Enforcement — 95.5% Violation Rate</a:t>
            </a:r>
            <a:endParaRPr lang="en-US" sz="1300" dirty="0"/>
          </a:p>
        </p:txBody>
      </p:sp>
      <p:sp>
        <p:nvSpPr>
          <p:cNvPr id="26" name="Text 24"/>
          <p:cNvSpPr/>
          <p:nvPr/>
        </p:nvSpPr>
        <p:spPr>
          <a:xfrm>
            <a:off x="1152144" y="4114800"/>
            <a:ext cx="7571232" cy="548640"/>
          </a:xfrm>
          <a:prstGeom prst="rect">
            <a:avLst/>
          </a:prstGeom>
          <a:noFill/>
        </p:spPr>
        <p:txBody>
          <a:bodyPr wrap="square" lIns="0" tIns="0" rIns="0" bIns="0" rtlCol="0" anchor="ctr"/>
          <a:lstStyle/>
          <a:p>
            <a:pPr marL="0" indent="0" algn="l">
              <a:buNone/>
            </a:pPr>
            <a:r>
              <a:rPr lang="en-US" sz="1000" dirty="0">
                <a:solidFill>
                  <a:srgbClr val="F2BBCC"/>
                </a:solidFill>
                <a:latin typeface="Calibri" panose="020F0502020204030204" pitchFamily="34" charset="0"/>
                <a:ea typeface="Calibri" panose="020F0502020204030204" pitchFamily="34" charset="-122"/>
                <a:cs typeface="Calibri" panose="020F0502020204030204" pitchFamily="34" charset="-120"/>
              </a:rPr>
              <a:t>Our audit of 378 historical match records revealed 42 of 44 Zakat-restricted donations (95.5%) were allocated to non-Zakat-compliant programmes. This is a structural legal and religious compliance failure with direct consequences for donor trust and institutional credibility.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7B5EA7"/>
          </a:solidFill>
          <a:ln w="12700">
            <a:solidFill>
              <a:srgbClr val="7B5EA7"/>
            </a:solidFill>
            <a:prstDash val="solid"/>
          </a:ln>
        </p:spPr>
      </p:sp>
      <p:sp>
        <p:nvSpPr>
          <p:cNvPr id="3" name="Shape 1"/>
          <p:cNvSpPr/>
          <p:nvPr/>
        </p:nvSpPr>
        <p:spPr>
          <a:xfrm>
            <a:off x="0" y="4892040"/>
            <a:ext cx="9144000" cy="251460"/>
          </a:xfrm>
          <a:prstGeom prst="rect">
            <a:avLst/>
          </a:prstGeom>
          <a:solidFill>
            <a:srgbClr val="A0395A"/>
          </a:solidFill>
          <a:ln w="12700">
            <a:solidFill>
              <a:srgbClr val="A0395A"/>
            </a:solidFill>
            <a:prstDash val="solid"/>
          </a:ln>
        </p:spPr>
      </p:sp>
      <p:sp>
        <p:nvSpPr>
          <p:cNvPr id="4" name="Text 2"/>
          <p:cNvSpPr/>
          <p:nvPr/>
        </p:nvSpPr>
        <p:spPr>
          <a:xfrm>
            <a:off x="274320" y="4892040"/>
            <a:ext cx="8595360" cy="251460"/>
          </a:xfrm>
          <a:prstGeom prst="rect">
            <a:avLst/>
          </a:prstGeom>
          <a:noFill/>
        </p:spPr>
        <p:txBody>
          <a:bodyPr wrap="square" lIns="0" tIns="0" rIns="0" bIns="0" rtlCol="0" anchor="ctr"/>
          <a:lstStyle/>
          <a:p>
            <a:pPr marL="0" indent="0" algn="ctr">
              <a:buNone/>
            </a:pPr>
            <a:r>
              <a:rPr lang="en-US" sz="850" dirty="0">
                <a:solidFill>
                  <a:srgbClr val="F2BBCC"/>
                </a:solidFill>
                <a:latin typeface="Calibri" panose="020F0502020204030204" pitchFamily="34" charset="0"/>
                <a:ea typeface="Calibri" panose="020F0502020204030204" pitchFamily="34" charset="-122"/>
                <a:cs typeface="Calibri" panose="020F0502020204030204" pitchFamily="34" charset="-120"/>
              </a:rPr>
              <a:t>KHCC AidConnect  ·  Graduation Project Defense  ·  Mallak Abu Sada &amp; Maya Abu Aslahamat  ·  2025/2026</a:t>
            </a:r>
            <a:endParaRPr lang="en-US" sz="850" dirty="0"/>
          </a:p>
        </p:txBody>
      </p:sp>
      <p:sp>
        <p:nvSpPr>
          <p:cNvPr id="5" name="Shape 3"/>
          <p:cNvSpPr/>
          <p:nvPr/>
        </p:nvSpPr>
        <p:spPr>
          <a:xfrm>
            <a:off x="7790688" y="256032"/>
            <a:ext cx="1005840" cy="274320"/>
          </a:xfrm>
          <a:prstGeom prst="roundRect">
            <a:avLst>
              <a:gd name="adj" fmla="val 20000"/>
            </a:avLst>
          </a:prstGeom>
          <a:solidFill>
            <a:srgbClr val="E8855A"/>
          </a:solidFill>
          <a:ln w="12700">
            <a:solidFill>
              <a:srgbClr val="E8855A"/>
            </a:solidFill>
            <a:prstDash val="solid"/>
          </a:ln>
        </p:spPr>
      </p:sp>
      <p:sp>
        <p:nvSpPr>
          <p:cNvPr id="6" name="Text 4"/>
          <p:cNvSpPr/>
          <p:nvPr/>
        </p:nvSpPr>
        <p:spPr>
          <a:xfrm>
            <a:off x="7790688" y="256032"/>
            <a:ext cx="1005840" cy="274320"/>
          </a:xfrm>
          <a:prstGeom prst="rect">
            <a:avLst/>
          </a:prstGeom>
          <a:noFill/>
        </p:spPr>
        <p:txBody>
          <a:bodyPr wrap="square" lIns="0" tIns="0" rIns="0" bIns="0" rtlCol="0" anchor="ctr"/>
          <a:lstStyle/>
          <a:p>
            <a:pPr marL="0" indent="0" algn="ctr">
              <a:buNone/>
            </a:pPr>
            <a:r>
              <a:rPr lang="en-US" sz="850" b="1" kern="0" spc="50" dirty="0">
                <a:solidFill>
                  <a:srgbClr val="FFFFFF"/>
                </a:solidFill>
              </a:rPr>
              <a:t>SLIDE 4 / 20</a:t>
            </a:r>
            <a:endParaRPr lang="en-US" sz="850" dirty="0"/>
          </a:p>
        </p:txBody>
      </p:sp>
      <p:sp>
        <p:nvSpPr>
          <p:cNvPr id="7" name="Text 5"/>
          <p:cNvSpPr/>
          <p:nvPr/>
        </p:nvSpPr>
        <p:spPr>
          <a:xfrm>
            <a:off x="411480" y="164592"/>
            <a:ext cx="7772400" cy="594360"/>
          </a:xfrm>
          <a:prstGeom prst="rect">
            <a:avLst/>
          </a:prstGeom>
          <a:noFill/>
        </p:spPr>
        <p:txBody>
          <a:bodyPr wrap="square" lIns="0" tIns="0" rIns="0" bIns="0" rtlCol="0" anchor="ctr"/>
          <a:lstStyle/>
          <a:p>
            <a:pPr marL="0" indent="0" algn="l">
              <a:buNone/>
            </a:pPr>
            <a:r>
              <a:rPr lang="en-US" sz="2400" b="1" dirty="0">
                <a:solidFill>
                  <a:srgbClr val="FFFFFF"/>
                </a:solidFill>
                <a:latin typeface="Georgia" panose="02040502050405020303" pitchFamily="34" charset="0"/>
                <a:ea typeface="Georgia" panose="02040502050405020303" pitchFamily="34" charset="-122"/>
                <a:cs typeface="Georgia" panose="02040502050405020303" pitchFamily="34" charset="-120"/>
              </a:rPr>
              <a:t>Project Importance &amp; Social/Medical Impact</a:t>
            </a:r>
            <a:endParaRPr lang="en-US" sz="2400" dirty="0"/>
          </a:p>
        </p:txBody>
      </p:sp>
      <p:sp>
        <p:nvSpPr>
          <p:cNvPr id="8" name="Shape 6"/>
          <p:cNvSpPr/>
          <p:nvPr/>
        </p:nvSpPr>
        <p:spPr>
          <a:xfrm>
            <a:off x="320040" y="1078992"/>
            <a:ext cx="2761488" cy="1627632"/>
          </a:xfrm>
          <a:prstGeom prst="rect">
            <a:avLst/>
          </a:prstGeom>
          <a:solidFill>
            <a:srgbClr val="FCE8F0"/>
          </a:solidFill>
          <a:ln w="12700">
            <a:solidFill>
              <a:srgbClr val="E8A0BF"/>
            </a:solidFill>
            <a:prstDash val="solid"/>
          </a:ln>
          <a:effectLst>
            <a:outerShdw blurRad="76200" dist="25400" dir="8100000" algn="bl" rotWithShape="0">
              <a:srgbClr val="B8A0D8">
                <a:alpha val="12000"/>
              </a:srgbClr>
            </a:outerShdw>
          </a:effectLst>
        </p:spPr>
      </p:sp>
      <p:sp>
        <p:nvSpPr>
          <p:cNvPr id="9" name="Shape 7"/>
          <p:cNvSpPr/>
          <p:nvPr/>
        </p:nvSpPr>
        <p:spPr>
          <a:xfrm>
            <a:off x="320040" y="1078992"/>
            <a:ext cx="2761488" cy="54864"/>
          </a:xfrm>
          <a:prstGeom prst="rect">
            <a:avLst/>
          </a:prstGeom>
          <a:solidFill>
            <a:srgbClr val="E8A0BF"/>
          </a:solidFill>
          <a:ln w="12700">
            <a:solidFill>
              <a:srgbClr val="E8A0BF"/>
            </a:solidFill>
            <a:prstDash val="solid"/>
          </a:ln>
        </p:spPr>
      </p:sp>
      <p:sp>
        <p:nvSpPr>
          <p:cNvPr id="10" name="Shape 8"/>
          <p:cNvSpPr/>
          <p:nvPr/>
        </p:nvSpPr>
        <p:spPr>
          <a:xfrm>
            <a:off x="448056" y="1207008"/>
            <a:ext cx="457200" cy="457200"/>
          </a:xfrm>
          <a:prstGeom prst="ellipse">
            <a:avLst/>
          </a:prstGeom>
          <a:solidFill>
            <a:srgbClr val="E8A0BF">
              <a:alpha val="40000"/>
            </a:srgbClr>
          </a:solidFill>
          <a:ln w="12700">
            <a:solidFill>
              <a:srgbClr val="E8A0BF">
                <a:alpha val="60000"/>
              </a:srgbClr>
            </a:solidFill>
            <a:prstDash val="solid"/>
          </a:ln>
        </p:spPr>
      </p:sp>
      <p:sp>
        <p:nvSpPr>
          <p:cNvPr id="11" name="Text 9"/>
          <p:cNvSpPr/>
          <p:nvPr/>
        </p:nvSpPr>
        <p:spPr>
          <a:xfrm>
            <a:off x="448056" y="1188720"/>
            <a:ext cx="457200" cy="457200"/>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2" name="Text 10"/>
          <p:cNvSpPr/>
          <p:nvPr/>
        </p:nvSpPr>
        <p:spPr>
          <a:xfrm>
            <a:off x="448056" y="1700784"/>
            <a:ext cx="2487168" cy="292608"/>
          </a:xfrm>
          <a:prstGeom prst="rect">
            <a:avLst/>
          </a:prstGeom>
          <a:noFill/>
        </p:spPr>
        <p:txBody>
          <a:bodyPr wrap="square" lIns="0" tIns="0" rIns="0" bIns="0" rtlCol="0" anchor="ctr"/>
          <a:lstStyle/>
          <a:p>
            <a:pPr marL="0" indent="0" algn="l">
              <a:buNone/>
            </a:pPr>
            <a:r>
              <a:rPr lang="en-US" sz="1200" b="1" dirty="0">
                <a:solidFill>
                  <a:srgbClr val="2A1A28"/>
                </a:solidFill>
                <a:latin typeface="Calibri" panose="020F0502020204030204" pitchFamily="34" charset="0"/>
                <a:ea typeface="Calibri" panose="020F0502020204030204" pitchFamily="34" charset="-122"/>
                <a:cs typeface="Calibri" panose="020F0502020204030204" pitchFamily="34" charset="-120"/>
              </a:rPr>
              <a:t>Clinical Equity</a:t>
            </a:r>
            <a:endParaRPr lang="en-US" sz="1200" dirty="0"/>
          </a:p>
        </p:txBody>
      </p:sp>
      <p:sp>
        <p:nvSpPr>
          <p:cNvPr id="13" name="Text 11"/>
          <p:cNvSpPr/>
          <p:nvPr/>
        </p:nvSpPr>
        <p:spPr>
          <a:xfrm>
            <a:off x="448056" y="2011680"/>
            <a:ext cx="2487168" cy="621792"/>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Every patient evaluated by the same formula, the same features, and the same weights — regardless of who reviews their file.</a:t>
            </a:r>
            <a:endParaRPr lang="en-US" sz="950" dirty="0"/>
          </a:p>
        </p:txBody>
      </p:sp>
      <p:sp>
        <p:nvSpPr>
          <p:cNvPr id="14" name="Shape 12"/>
          <p:cNvSpPr/>
          <p:nvPr/>
        </p:nvSpPr>
        <p:spPr>
          <a:xfrm>
            <a:off x="3264408" y="1078992"/>
            <a:ext cx="2761488" cy="1627632"/>
          </a:xfrm>
          <a:prstGeom prst="rect">
            <a:avLst/>
          </a:prstGeom>
          <a:solidFill>
            <a:srgbClr val="F0EAFA"/>
          </a:solidFill>
          <a:ln w="12700">
            <a:solidFill>
              <a:srgbClr val="B8A0D8"/>
            </a:solidFill>
            <a:prstDash val="solid"/>
          </a:ln>
          <a:effectLst>
            <a:outerShdw blurRad="76200" dist="25400" dir="8100000" algn="bl" rotWithShape="0">
              <a:srgbClr val="B8A0D8">
                <a:alpha val="12000"/>
              </a:srgbClr>
            </a:outerShdw>
          </a:effectLst>
        </p:spPr>
      </p:sp>
      <p:sp>
        <p:nvSpPr>
          <p:cNvPr id="15" name="Shape 13"/>
          <p:cNvSpPr/>
          <p:nvPr/>
        </p:nvSpPr>
        <p:spPr>
          <a:xfrm>
            <a:off x="3264408" y="1078992"/>
            <a:ext cx="2761488" cy="54864"/>
          </a:xfrm>
          <a:prstGeom prst="rect">
            <a:avLst/>
          </a:prstGeom>
          <a:solidFill>
            <a:srgbClr val="B8A0D8"/>
          </a:solidFill>
          <a:ln w="12700">
            <a:solidFill>
              <a:srgbClr val="B8A0D8"/>
            </a:solidFill>
            <a:prstDash val="solid"/>
          </a:ln>
        </p:spPr>
      </p:sp>
      <p:sp>
        <p:nvSpPr>
          <p:cNvPr id="16" name="Shape 14"/>
          <p:cNvSpPr/>
          <p:nvPr/>
        </p:nvSpPr>
        <p:spPr>
          <a:xfrm>
            <a:off x="3392424" y="1207008"/>
            <a:ext cx="457200" cy="457200"/>
          </a:xfrm>
          <a:prstGeom prst="ellipse">
            <a:avLst/>
          </a:prstGeom>
          <a:solidFill>
            <a:srgbClr val="B8A0D8">
              <a:alpha val="40000"/>
            </a:srgbClr>
          </a:solidFill>
          <a:ln w="12700">
            <a:solidFill>
              <a:srgbClr val="B8A0D8">
                <a:alpha val="60000"/>
              </a:srgbClr>
            </a:solidFill>
            <a:prstDash val="solid"/>
          </a:ln>
        </p:spPr>
      </p:sp>
      <p:sp>
        <p:nvSpPr>
          <p:cNvPr id="17" name="Text 15"/>
          <p:cNvSpPr/>
          <p:nvPr/>
        </p:nvSpPr>
        <p:spPr>
          <a:xfrm>
            <a:off x="3392424" y="1188720"/>
            <a:ext cx="457200" cy="457200"/>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8" name="Text 16"/>
          <p:cNvSpPr/>
          <p:nvPr/>
        </p:nvSpPr>
        <p:spPr>
          <a:xfrm>
            <a:off x="3392424" y="1700784"/>
            <a:ext cx="2487168" cy="292608"/>
          </a:xfrm>
          <a:prstGeom prst="rect">
            <a:avLst/>
          </a:prstGeom>
          <a:noFill/>
        </p:spPr>
        <p:txBody>
          <a:bodyPr wrap="square" lIns="0" tIns="0" rIns="0" bIns="0" rtlCol="0" anchor="ctr"/>
          <a:lstStyle/>
          <a:p>
            <a:pPr marL="0" indent="0" algn="l">
              <a:buNone/>
            </a:pPr>
            <a:r>
              <a:rPr lang="en-US" sz="1200" b="1" dirty="0">
                <a:solidFill>
                  <a:srgbClr val="2A1A28"/>
                </a:solidFill>
                <a:latin typeface="Calibri" panose="020F0502020204030204" pitchFamily="34" charset="0"/>
                <a:ea typeface="Calibri" panose="020F0502020204030204" pitchFamily="34" charset="-122"/>
                <a:cs typeface="Calibri" panose="020F0502020204030204" pitchFamily="34" charset="-120"/>
              </a:rPr>
              <a:t>Zakat Compliance &amp; Trust</a:t>
            </a:r>
            <a:endParaRPr lang="en-US" sz="1200" dirty="0"/>
          </a:p>
        </p:txBody>
      </p:sp>
      <p:sp>
        <p:nvSpPr>
          <p:cNvPr id="19" name="Text 17"/>
          <p:cNvSpPr/>
          <p:nvPr/>
        </p:nvSpPr>
        <p:spPr>
          <a:xfrm>
            <a:off x="3392424" y="2011680"/>
            <a:ext cx="2487168" cy="621792"/>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Pre-match validation gate prevents 100% of future Zakat misallocation. Every restricted donation generates a signed compliance certificate.</a:t>
            </a:r>
            <a:endParaRPr lang="en-US" sz="950" dirty="0"/>
          </a:p>
        </p:txBody>
      </p:sp>
      <p:sp>
        <p:nvSpPr>
          <p:cNvPr id="20" name="Shape 18"/>
          <p:cNvSpPr/>
          <p:nvPr/>
        </p:nvSpPr>
        <p:spPr>
          <a:xfrm>
            <a:off x="6208776" y="1078992"/>
            <a:ext cx="2761488" cy="1627632"/>
          </a:xfrm>
          <a:prstGeom prst="rect">
            <a:avLst/>
          </a:prstGeom>
          <a:solidFill>
            <a:srgbClr val="E8F8F0"/>
          </a:solidFill>
          <a:ln w="12700">
            <a:solidFill>
              <a:srgbClr val="A8D8C0"/>
            </a:solidFill>
            <a:prstDash val="solid"/>
          </a:ln>
          <a:effectLst>
            <a:outerShdw blurRad="76200" dist="25400" dir="8100000" algn="bl" rotWithShape="0">
              <a:srgbClr val="B8A0D8">
                <a:alpha val="12000"/>
              </a:srgbClr>
            </a:outerShdw>
          </a:effectLst>
        </p:spPr>
      </p:sp>
      <p:sp>
        <p:nvSpPr>
          <p:cNvPr id="21" name="Shape 19"/>
          <p:cNvSpPr/>
          <p:nvPr/>
        </p:nvSpPr>
        <p:spPr>
          <a:xfrm>
            <a:off x="6208776" y="1078992"/>
            <a:ext cx="2761488" cy="54864"/>
          </a:xfrm>
          <a:prstGeom prst="rect">
            <a:avLst/>
          </a:prstGeom>
          <a:solidFill>
            <a:srgbClr val="A8D8C0"/>
          </a:solidFill>
          <a:ln w="12700">
            <a:solidFill>
              <a:srgbClr val="A8D8C0"/>
            </a:solidFill>
            <a:prstDash val="solid"/>
          </a:ln>
        </p:spPr>
      </p:sp>
      <p:sp>
        <p:nvSpPr>
          <p:cNvPr id="22" name="Shape 20"/>
          <p:cNvSpPr/>
          <p:nvPr/>
        </p:nvSpPr>
        <p:spPr>
          <a:xfrm>
            <a:off x="6336792" y="1207008"/>
            <a:ext cx="457200" cy="457200"/>
          </a:xfrm>
          <a:prstGeom prst="ellipse">
            <a:avLst/>
          </a:prstGeom>
          <a:solidFill>
            <a:srgbClr val="A8D8C0">
              <a:alpha val="40000"/>
            </a:srgbClr>
          </a:solidFill>
          <a:ln w="12700">
            <a:solidFill>
              <a:srgbClr val="A8D8C0">
                <a:alpha val="60000"/>
              </a:srgbClr>
            </a:solidFill>
            <a:prstDash val="solid"/>
          </a:ln>
        </p:spPr>
      </p:sp>
      <p:sp>
        <p:nvSpPr>
          <p:cNvPr id="23" name="Text 21"/>
          <p:cNvSpPr/>
          <p:nvPr/>
        </p:nvSpPr>
        <p:spPr>
          <a:xfrm>
            <a:off x="6336792" y="1188720"/>
            <a:ext cx="457200" cy="457200"/>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4" name="Text 22"/>
          <p:cNvSpPr/>
          <p:nvPr/>
        </p:nvSpPr>
        <p:spPr>
          <a:xfrm>
            <a:off x="6336792" y="1700784"/>
            <a:ext cx="2487168" cy="292608"/>
          </a:xfrm>
          <a:prstGeom prst="rect">
            <a:avLst/>
          </a:prstGeom>
          <a:noFill/>
        </p:spPr>
        <p:txBody>
          <a:bodyPr wrap="square" lIns="0" tIns="0" rIns="0" bIns="0" rtlCol="0" anchor="ctr"/>
          <a:lstStyle/>
          <a:p>
            <a:pPr marL="0" indent="0" algn="l">
              <a:buNone/>
            </a:pPr>
            <a:r>
              <a:rPr lang="en-US" sz="1200" b="1" dirty="0">
                <a:solidFill>
                  <a:srgbClr val="2A1A28"/>
                </a:solidFill>
                <a:latin typeface="Calibri" panose="020F0502020204030204" pitchFamily="34" charset="0"/>
                <a:ea typeface="Calibri" panose="020F0502020204030204" pitchFamily="34" charset="-122"/>
                <a:cs typeface="Calibri" panose="020F0502020204030204" pitchFamily="34" charset="-120"/>
              </a:rPr>
              <a:t>Waitlist Reduction</a:t>
            </a:r>
            <a:endParaRPr lang="en-US" sz="1200" dirty="0"/>
          </a:p>
        </p:txBody>
      </p:sp>
      <p:sp>
        <p:nvSpPr>
          <p:cNvPr id="25" name="Text 23"/>
          <p:cNvSpPr/>
          <p:nvPr/>
        </p:nvSpPr>
        <p:spPr>
          <a:xfrm>
            <a:off x="6336792" y="2011680"/>
            <a:ext cx="2487168" cy="621792"/>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81 patients waitlisted. KNN surfaces highest-need patients first every time a donor opens the app — accelerating Stage III and IV time-to-match.</a:t>
            </a:r>
            <a:endParaRPr lang="en-US" sz="950" dirty="0"/>
          </a:p>
        </p:txBody>
      </p:sp>
      <p:sp>
        <p:nvSpPr>
          <p:cNvPr id="26" name="Shape 24"/>
          <p:cNvSpPr/>
          <p:nvPr/>
        </p:nvSpPr>
        <p:spPr>
          <a:xfrm>
            <a:off x="320040" y="2907792"/>
            <a:ext cx="2761488" cy="1627632"/>
          </a:xfrm>
          <a:prstGeom prst="rect">
            <a:avLst/>
          </a:prstGeom>
          <a:solidFill>
            <a:srgbClr val="E8F4FC"/>
          </a:solidFill>
          <a:ln w="12700">
            <a:solidFill>
              <a:srgbClr val="A0C8E8"/>
            </a:solidFill>
            <a:prstDash val="solid"/>
          </a:ln>
          <a:effectLst>
            <a:outerShdw blurRad="76200" dist="25400" dir="8100000" algn="bl" rotWithShape="0">
              <a:srgbClr val="B8A0D8">
                <a:alpha val="12000"/>
              </a:srgbClr>
            </a:outerShdw>
          </a:effectLst>
        </p:spPr>
      </p:sp>
      <p:sp>
        <p:nvSpPr>
          <p:cNvPr id="27" name="Shape 25"/>
          <p:cNvSpPr/>
          <p:nvPr/>
        </p:nvSpPr>
        <p:spPr>
          <a:xfrm>
            <a:off x="320040" y="2907792"/>
            <a:ext cx="2761488" cy="54864"/>
          </a:xfrm>
          <a:prstGeom prst="rect">
            <a:avLst/>
          </a:prstGeom>
          <a:solidFill>
            <a:srgbClr val="A0C8E8"/>
          </a:solidFill>
          <a:ln w="12700">
            <a:solidFill>
              <a:srgbClr val="A0C8E8"/>
            </a:solidFill>
            <a:prstDash val="solid"/>
          </a:ln>
        </p:spPr>
      </p:sp>
      <p:sp>
        <p:nvSpPr>
          <p:cNvPr id="28" name="Shape 26"/>
          <p:cNvSpPr/>
          <p:nvPr/>
        </p:nvSpPr>
        <p:spPr>
          <a:xfrm>
            <a:off x="448056" y="3035808"/>
            <a:ext cx="457200" cy="457200"/>
          </a:xfrm>
          <a:prstGeom prst="ellipse">
            <a:avLst/>
          </a:prstGeom>
          <a:solidFill>
            <a:srgbClr val="A0C8E8">
              <a:alpha val="40000"/>
            </a:srgbClr>
          </a:solidFill>
          <a:ln w="12700">
            <a:solidFill>
              <a:srgbClr val="A0C8E8">
                <a:alpha val="60000"/>
              </a:srgbClr>
            </a:solidFill>
            <a:prstDash val="solid"/>
          </a:ln>
        </p:spPr>
      </p:sp>
      <p:sp>
        <p:nvSpPr>
          <p:cNvPr id="29" name="Text 27"/>
          <p:cNvSpPr/>
          <p:nvPr/>
        </p:nvSpPr>
        <p:spPr>
          <a:xfrm>
            <a:off x="448056" y="3017520"/>
            <a:ext cx="457200" cy="457200"/>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0" name="Text 28"/>
          <p:cNvSpPr/>
          <p:nvPr/>
        </p:nvSpPr>
        <p:spPr>
          <a:xfrm>
            <a:off x="448056" y="3529584"/>
            <a:ext cx="2487168" cy="292608"/>
          </a:xfrm>
          <a:prstGeom prst="rect">
            <a:avLst/>
          </a:prstGeom>
          <a:noFill/>
        </p:spPr>
        <p:txBody>
          <a:bodyPr wrap="square" lIns="0" tIns="0" rIns="0" bIns="0" rtlCol="0" anchor="ctr"/>
          <a:lstStyle/>
          <a:p>
            <a:pPr marL="0" indent="0" algn="l">
              <a:buNone/>
            </a:pPr>
            <a:r>
              <a:rPr lang="en-US" sz="1200" b="1" dirty="0">
                <a:solidFill>
                  <a:srgbClr val="2A1A28"/>
                </a:solidFill>
                <a:latin typeface="Calibri" panose="020F0502020204030204" pitchFamily="34" charset="0"/>
                <a:ea typeface="Calibri" panose="020F0502020204030204" pitchFamily="34" charset="-122"/>
                <a:cs typeface="Calibri" panose="020F0502020204030204" pitchFamily="34" charset="-120"/>
              </a:rPr>
              <a:t>Institutional Intelligence</a:t>
            </a:r>
            <a:endParaRPr lang="en-US" sz="1200" dirty="0"/>
          </a:p>
        </p:txBody>
      </p:sp>
      <p:sp>
        <p:nvSpPr>
          <p:cNvPr id="31" name="Text 29"/>
          <p:cNvSpPr/>
          <p:nvPr/>
        </p:nvSpPr>
        <p:spPr>
          <a:xfrm>
            <a:off x="448056" y="3840480"/>
            <a:ext cx="2487168" cy="621792"/>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4 Tableau dashboards transform 739 rows of raw data into live operational intelligence for KHCC leadership and planning.</a:t>
            </a:r>
            <a:endParaRPr lang="en-US" sz="950" dirty="0"/>
          </a:p>
        </p:txBody>
      </p:sp>
      <p:sp>
        <p:nvSpPr>
          <p:cNvPr id="32" name="Shape 30"/>
          <p:cNvSpPr/>
          <p:nvPr/>
        </p:nvSpPr>
        <p:spPr>
          <a:xfrm>
            <a:off x="3264408" y="2907792"/>
            <a:ext cx="2761488" cy="1627632"/>
          </a:xfrm>
          <a:prstGeom prst="rect">
            <a:avLst/>
          </a:prstGeom>
          <a:solidFill>
            <a:srgbClr val="FEF0E8"/>
          </a:solidFill>
          <a:ln w="12700">
            <a:solidFill>
              <a:srgbClr val="F5C0A0"/>
            </a:solidFill>
            <a:prstDash val="solid"/>
          </a:ln>
          <a:effectLst>
            <a:outerShdw blurRad="76200" dist="25400" dir="8100000" algn="bl" rotWithShape="0">
              <a:srgbClr val="B8A0D8">
                <a:alpha val="12000"/>
              </a:srgbClr>
            </a:outerShdw>
          </a:effectLst>
        </p:spPr>
      </p:sp>
      <p:sp>
        <p:nvSpPr>
          <p:cNvPr id="33" name="Shape 31"/>
          <p:cNvSpPr/>
          <p:nvPr/>
        </p:nvSpPr>
        <p:spPr>
          <a:xfrm>
            <a:off x="3264408" y="2907792"/>
            <a:ext cx="2761488" cy="54864"/>
          </a:xfrm>
          <a:prstGeom prst="rect">
            <a:avLst/>
          </a:prstGeom>
          <a:solidFill>
            <a:srgbClr val="F5C0A0"/>
          </a:solidFill>
          <a:ln w="12700">
            <a:solidFill>
              <a:srgbClr val="F5C0A0"/>
            </a:solidFill>
            <a:prstDash val="solid"/>
          </a:ln>
        </p:spPr>
      </p:sp>
      <p:sp>
        <p:nvSpPr>
          <p:cNvPr id="34" name="Shape 32"/>
          <p:cNvSpPr/>
          <p:nvPr/>
        </p:nvSpPr>
        <p:spPr>
          <a:xfrm>
            <a:off x="3392424" y="3035808"/>
            <a:ext cx="457200" cy="457200"/>
          </a:xfrm>
          <a:prstGeom prst="ellipse">
            <a:avLst/>
          </a:prstGeom>
          <a:solidFill>
            <a:srgbClr val="F5C0A0">
              <a:alpha val="40000"/>
            </a:srgbClr>
          </a:solidFill>
          <a:ln w="12700">
            <a:solidFill>
              <a:srgbClr val="F5C0A0">
                <a:alpha val="60000"/>
              </a:srgbClr>
            </a:solidFill>
            <a:prstDash val="solid"/>
          </a:ln>
        </p:spPr>
      </p:sp>
      <p:sp>
        <p:nvSpPr>
          <p:cNvPr id="35" name="Text 33"/>
          <p:cNvSpPr/>
          <p:nvPr/>
        </p:nvSpPr>
        <p:spPr>
          <a:xfrm>
            <a:off x="3392424" y="3017520"/>
            <a:ext cx="457200" cy="457200"/>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6" name="Text 34"/>
          <p:cNvSpPr/>
          <p:nvPr/>
        </p:nvSpPr>
        <p:spPr>
          <a:xfrm>
            <a:off x="3392424" y="3529584"/>
            <a:ext cx="2487168" cy="292608"/>
          </a:xfrm>
          <a:prstGeom prst="rect">
            <a:avLst/>
          </a:prstGeom>
          <a:noFill/>
        </p:spPr>
        <p:txBody>
          <a:bodyPr wrap="square" lIns="0" tIns="0" rIns="0" bIns="0" rtlCol="0" anchor="ctr"/>
          <a:lstStyle/>
          <a:p>
            <a:pPr marL="0" indent="0" algn="l">
              <a:buNone/>
            </a:pPr>
            <a:r>
              <a:rPr lang="en-US" sz="1200" b="1" dirty="0">
                <a:solidFill>
                  <a:srgbClr val="2A1A28"/>
                </a:solidFill>
                <a:latin typeface="Calibri" panose="020F0502020204030204" pitchFamily="34" charset="0"/>
                <a:ea typeface="Calibri" panose="020F0502020204030204" pitchFamily="34" charset="-122"/>
                <a:cs typeface="Calibri" panose="020F0502020204030204" pitchFamily="34" charset="-120"/>
              </a:rPr>
              <a:t>Donor Retention</a:t>
            </a:r>
            <a:endParaRPr lang="en-US" sz="1200" dirty="0"/>
          </a:p>
        </p:txBody>
      </p:sp>
      <p:sp>
        <p:nvSpPr>
          <p:cNvPr id="37" name="Text 35"/>
          <p:cNvSpPr/>
          <p:nvPr/>
        </p:nvSpPr>
        <p:spPr>
          <a:xfrm>
            <a:off x="3392424" y="3840480"/>
            <a:ext cx="2487168" cy="621792"/>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The quantified impact statement — 'your 500 JD covers 4.2% of this patient's cost' — is the strongest driver of long-term repeat giving in published research.</a:t>
            </a:r>
            <a:endParaRPr lang="en-US" sz="950" dirty="0"/>
          </a:p>
        </p:txBody>
      </p:sp>
      <p:sp>
        <p:nvSpPr>
          <p:cNvPr id="38" name="Shape 36"/>
          <p:cNvSpPr/>
          <p:nvPr/>
        </p:nvSpPr>
        <p:spPr>
          <a:xfrm>
            <a:off x="6208776" y="2907792"/>
            <a:ext cx="2761488" cy="1627632"/>
          </a:xfrm>
          <a:prstGeom prst="rect">
            <a:avLst/>
          </a:prstGeom>
          <a:solidFill>
            <a:srgbClr val="F0EAFA"/>
          </a:solidFill>
          <a:ln w="12700">
            <a:solidFill>
              <a:srgbClr val="B8A0D8"/>
            </a:solidFill>
            <a:prstDash val="solid"/>
          </a:ln>
          <a:effectLst>
            <a:outerShdw blurRad="76200" dist="25400" dir="8100000" algn="bl" rotWithShape="0">
              <a:srgbClr val="B8A0D8">
                <a:alpha val="12000"/>
              </a:srgbClr>
            </a:outerShdw>
          </a:effectLst>
        </p:spPr>
      </p:sp>
      <p:sp>
        <p:nvSpPr>
          <p:cNvPr id="39" name="Shape 37"/>
          <p:cNvSpPr/>
          <p:nvPr/>
        </p:nvSpPr>
        <p:spPr>
          <a:xfrm>
            <a:off x="6208776" y="2907792"/>
            <a:ext cx="2761488" cy="54864"/>
          </a:xfrm>
          <a:prstGeom prst="rect">
            <a:avLst/>
          </a:prstGeom>
          <a:solidFill>
            <a:srgbClr val="B8A0D8"/>
          </a:solidFill>
          <a:ln w="12700">
            <a:solidFill>
              <a:srgbClr val="B8A0D8"/>
            </a:solidFill>
            <a:prstDash val="solid"/>
          </a:ln>
        </p:spPr>
      </p:sp>
      <p:sp>
        <p:nvSpPr>
          <p:cNvPr id="40" name="Shape 38"/>
          <p:cNvSpPr/>
          <p:nvPr/>
        </p:nvSpPr>
        <p:spPr>
          <a:xfrm>
            <a:off x="6336792" y="3035808"/>
            <a:ext cx="457200" cy="457200"/>
          </a:xfrm>
          <a:prstGeom prst="ellipse">
            <a:avLst/>
          </a:prstGeom>
          <a:solidFill>
            <a:srgbClr val="B8A0D8">
              <a:alpha val="40000"/>
            </a:srgbClr>
          </a:solidFill>
          <a:ln w="12700">
            <a:solidFill>
              <a:srgbClr val="B8A0D8">
                <a:alpha val="60000"/>
              </a:srgbClr>
            </a:solidFill>
            <a:prstDash val="solid"/>
          </a:ln>
        </p:spPr>
      </p:sp>
      <p:sp>
        <p:nvSpPr>
          <p:cNvPr id="41" name="Text 39"/>
          <p:cNvSpPr/>
          <p:nvPr/>
        </p:nvSpPr>
        <p:spPr>
          <a:xfrm>
            <a:off x="6336792" y="3017520"/>
            <a:ext cx="457200" cy="457200"/>
          </a:xfrm>
          <a:prstGeom prst="rect">
            <a:avLst/>
          </a:prstGeom>
          <a:noFill/>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42" name="Text 40"/>
          <p:cNvSpPr/>
          <p:nvPr/>
        </p:nvSpPr>
        <p:spPr>
          <a:xfrm>
            <a:off x="6336792" y="3529584"/>
            <a:ext cx="2487168" cy="292608"/>
          </a:xfrm>
          <a:prstGeom prst="rect">
            <a:avLst/>
          </a:prstGeom>
          <a:noFill/>
        </p:spPr>
        <p:txBody>
          <a:bodyPr wrap="square" lIns="0" tIns="0" rIns="0" bIns="0" rtlCol="0" anchor="ctr"/>
          <a:lstStyle/>
          <a:p>
            <a:pPr marL="0" indent="0" algn="l">
              <a:buNone/>
            </a:pPr>
            <a:r>
              <a:rPr lang="en-US" sz="1200" b="1" dirty="0">
                <a:solidFill>
                  <a:srgbClr val="2A1A28"/>
                </a:solidFill>
                <a:latin typeface="Calibri" panose="020F0502020204030204" pitchFamily="34" charset="0"/>
                <a:ea typeface="Calibri" panose="020F0502020204030204" pitchFamily="34" charset="-122"/>
                <a:cs typeface="Calibri" panose="020F0502020204030204" pitchFamily="34" charset="-120"/>
              </a:rPr>
              <a:t>Scalability for Jordan</a:t>
            </a:r>
            <a:endParaRPr lang="en-US" sz="1200" dirty="0"/>
          </a:p>
        </p:txBody>
      </p:sp>
      <p:sp>
        <p:nvSpPr>
          <p:cNvPr id="43" name="Text 41"/>
          <p:cNvSpPr/>
          <p:nvPr/>
        </p:nvSpPr>
        <p:spPr>
          <a:xfrm>
            <a:off x="6336792" y="3840480"/>
            <a:ext cx="2487168" cy="621792"/>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The full pipeline is designed to scale to any KHCC-affiliated hospital in Jordan without architectural changes.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A1A35"/>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A0395A"/>
          </a:solidFill>
          <a:ln w="12700">
            <a:solidFill>
              <a:srgbClr val="A0395A"/>
            </a:solidFill>
            <a:prstDash val="solid"/>
          </a:ln>
        </p:spPr>
      </p:sp>
      <p:sp>
        <p:nvSpPr>
          <p:cNvPr id="3" name="Text 1"/>
          <p:cNvSpPr/>
          <p:nvPr/>
        </p:nvSpPr>
        <p:spPr>
          <a:xfrm>
            <a:off x="274320" y="4892040"/>
            <a:ext cx="8595360" cy="251460"/>
          </a:xfrm>
          <a:prstGeom prst="rect">
            <a:avLst/>
          </a:prstGeom>
          <a:noFill/>
        </p:spPr>
        <p:txBody>
          <a:bodyPr wrap="square" lIns="0" tIns="0" rIns="0" bIns="0" rtlCol="0" anchor="ctr"/>
          <a:lstStyle/>
          <a:p>
            <a:pPr marL="0" indent="0" algn="ctr">
              <a:buNone/>
            </a:pPr>
            <a:r>
              <a:rPr lang="en-US" sz="850" dirty="0">
                <a:solidFill>
                  <a:srgbClr val="F2BBCC"/>
                </a:solidFill>
                <a:latin typeface="Calibri" panose="020F0502020204030204" pitchFamily="34" charset="0"/>
                <a:ea typeface="Calibri" panose="020F0502020204030204" pitchFamily="34" charset="-122"/>
                <a:cs typeface="Calibri" panose="020F0502020204030204" pitchFamily="34" charset="-120"/>
              </a:rPr>
              <a:t>KHCC AidConnect  ·  Graduation Project Defense  ·  Mallak Abu Sada &amp; Maya Abu Aslahamat  ·  2025/2026</a:t>
            </a:r>
            <a:endParaRPr lang="en-US" sz="850" dirty="0"/>
          </a:p>
        </p:txBody>
      </p:sp>
      <p:sp>
        <p:nvSpPr>
          <p:cNvPr id="4" name="Shape 2"/>
          <p:cNvSpPr/>
          <p:nvPr/>
        </p:nvSpPr>
        <p:spPr>
          <a:xfrm>
            <a:off x="7790688" y="256032"/>
            <a:ext cx="1005840" cy="274320"/>
          </a:xfrm>
          <a:prstGeom prst="roundRect">
            <a:avLst>
              <a:gd name="adj" fmla="val 20000"/>
            </a:avLst>
          </a:prstGeom>
          <a:solidFill>
            <a:srgbClr val="E8855A"/>
          </a:solidFill>
          <a:ln w="12700">
            <a:solidFill>
              <a:srgbClr val="E8855A"/>
            </a:solidFill>
            <a:prstDash val="solid"/>
          </a:ln>
        </p:spPr>
      </p:sp>
      <p:sp>
        <p:nvSpPr>
          <p:cNvPr id="5" name="Text 3"/>
          <p:cNvSpPr/>
          <p:nvPr/>
        </p:nvSpPr>
        <p:spPr>
          <a:xfrm>
            <a:off x="7790688" y="256032"/>
            <a:ext cx="1005840" cy="274320"/>
          </a:xfrm>
          <a:prstGeom prst="rect">
            <a:avLst/>
          </a:prstGeom>
          <a:noFill/>
        </p:spPr>
        <p:txBody>
          <a:bodyPr wrap="square" lIns="0" tIns="0" rIns="0" bIns="0" rtlCol="0" anchor="ctr"/>
          <a:lstStyle/>
          <a:p>
            <a:pPr marL="0" indent="0" algn="ctr">
              <a:buNone/>
            </a:pPr>
            <a:r>
              <a:rPr lang="en-US" sz="850" b="1" kern="0" spc="50" dirty="0">
                <a:solidFill>
                  <a:srgbClr val="FFFFFF"/>
                </a:solidFill>
              </a:rPr>
              <a:t>SLIDE 5 / 20</a:t>
            </a:r>
            <a:endParaRPr lang="en-US" sz="850" dirty="0"/>
          </a:p>
        </p:txBody>
      </p:sp>
      <p:sp>
        <p:nvSpPr>
          <p:cNvPr id="6" name="Shape 4"/>
          <p:cNvSpPr/>
          <p:nvPr/>
        </p:nvSpPr>
        <p:spPr>
          <a:xfrm>
            <a:off x="0" y="0"/>
            <a:ext cx="9144000" cy="54864"/>
          </a:xfrm>
          <a:prstGeom prst="rect">
            <a:avLst/>
          </a:prstGeom>
          <a:solidFill>
            <a:srgbClr val="B8A0D8"/>
          </a:solidFill>
          <a:ln w="12700">
            <a:solidFill>
              <a:srgbClr val="B8A0D8"/>
            </a:solidFill>
            <a:prstDash val="solid"/>
          </a:ln>
        </p:spPr>
      </p:sp>
      <p:sp>
        <p:nvSpPr>
          <p:cNvPr id="7" name="Text 5"/>
          <p:cNvSpPr/>
          <p:nvPr/>
        </p:nvSpPr>
        <p:spPr>
          <a:xfrm>
            <a:off x="411480" y="164592"/>
            <a:ext cx="8229600" cy="594360"/>
          </a:xfrm>
          <a:prstGeom prst="rect">
            <a:avLst/>
          </a:prstGeom>
          <a:noFill/>
        </p:spPr>
        <p:txBody>
          <a:bodyPr wrap="square" lIns="0" tIns="0" rIns="0" bIns="0" rtlCol="0" anchor="ctr"/>
          <a:lstStyle/>
          <a:p>
            <a:pPr marL="0" indent="0" algn="l">
              <a:buNone/>
            </a:pPr>
            <a:r>
              <a:rPr lang="en-US" sz="3000" b="1" dirty="0">
                <a:solidFill>
                  <a:srgbClr val="FFFFFF"/>
                </a:solidFill>
                <a:latin typeface="Georgia" panose="02040502050405020303" pitchFamily="34" charset="0"/>
                <a:ea typeface="Georgia" panose="02040502050405020303" pitchFamily="34" charset="-122"/>
                <a:cs typeface="Georgia" panose="02040502050405020303" pitchFamily="34" charset="-120"/>
              </a:rPr>
              <a:t>Project Main Objectives</a:t>
            </a:r>
            <a:endParaRPr lang="en-US" sz="3000" dirty="0"/>
          </a:p>
        </p:txBody>
      </p:sp>
      <p:sp>
        <p:nvSpPr>
          <p:cNvPr id="8" name="Text 6"/>
          <p:cNvSpPr/>
          <p:nvPr/>
        </p:nvSpPr>
        <p:spPr>
          <a:xfrm>
            <a:off x="411480" y="777240"/>
            <a:ext cx="7772400" cy="256032"/>
          </a:xfrm>
          <a:prstGeom prst="rect">
            <a:avLst/>
          </a:prstGeom>
          <a:noFill/>
        </p:spPr>
        <p:txBody>
          <a:bodyPr wrap="square" lIns="0" tIns="0" rIns="0" bIns="0" rtlCol="0" anchor="ctr"/>
          <a:lstStyle/>
          <a:p>
            <a:pPr marL="0" indent="0" algn="l">
              <a:buNone/>
            </a:pPr>
            <a:r>
              <a:rPr lang="en-US" sz="1150" dirty="0">
                <a:solidFill>
                  <a:srgbClr val="D4C0EE"/>
                </a:solidFill>
                <a:latin typeface="Calibri" panose="020F0502020204030204" pitchFamily="34" charset="0"/>
                <a:ea typeface="Calibri" panose="020F0502020204030204" pitchFamily="34" charset="-122"/>
                <a:cs typeface="Calibri" panose="020F0502020204030204" pitchFamily="34" charset="-120"/>
              </a:rPr>
              <a:t>Eight measurable objectives — all fully achieved</a:t>
            </a:r>
            <a:endParaRPr lang="en-US" sz="1150" dirty="0"/>
          </a:p>
        </p:txBody>
      </p:sp>
      <p:sp>
        <p:nvSpPr>
          <p:cNvPr id="9" name="Shape 7"/>
          <p:cNvSpPr/>
          <p:nvPr/>
        </p:nvSpPr>
        <p:spPr>
          <a:xfrm>
            <a:off x="320040" y="1115568"/>
            <a:ext cx="4224528" cy="804672"/>
          </a:xfrm>
          <a:prstGeom prst="rect">
            <a:avLst/>
          </a:prstGeom>
          <a:solidFill>
            <a:srgbClr val="FFFFFF">
              <a:alpha val="10000"/>
            </a:srgbClr>
          </a:solidFill>
          <a:ln w="12700">
            <a:solidFill>
              <a:srgbClr val="E8A0BF"/>
            </a:solidFill>
            <a:prstDash val="solid"/>
          </a:ln>
        </p:spPr>
      </p:sp>
      <p:sp>
        <p:nvSpPr>
          <p:cNvPr id="10" name="Shape 8"/>
          <p:cNvSpPr/>
          <p:nvPr/>
        </p:nvSpPr>
        <p:spPr>
          <a:xfrm>
            <a:off x="411480" y="1207008"/>
            <a:ext cx="548640" cy="621792"/>
          </a:xfrm>
          <a:prstGeom prst="roundRect">
            <a:avLst>
              <a:gd name="adj" fmla="val 13333"/>
            </a:avLst>
          </a:prstGeom>
          <a:solidFill>
            <a:srgbClr val="E8A0BF">
              <a:alpha val="75000"/>
            </a:srgbClr>
          </a:solidFill>
          <a:ln w="12700">
            <a:solidFill>
              <a:srgbClr val="E8A0BF"/>
            </a:solidFill>
            <a:prstDash val="solid"/>
          </a:ln>
        </p:spPr>
      </p:sp>
      <p:sp>
        <p:nvSpPr>
          <p:cNvPr id="11" name="Text 9"/>
          <p:cNvSpPr/>
          <p:nvPr/>
        </p:nvSpPr>
        <p:spPr>
          <a:xfrm>
            <a:off x="411480" y="1207008"/>
            <a:ext cx="548640" cy="621792"/>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20303" pitchFamily="34" charset="0"/>
                <a:ea typeface="Georgia" panose="02040502050405020303" pitchFamily="34" charset="-122"/>
                <a:cs typeface="Georgia" panose="02040502050405020303" pitchFamily="34" charset="-120"/>
              </a:rPr>
              <a:t>O1</a:t>
            </a:r>
            <a:endParaRPr lang="en-US" sz="1400" dirty="0"/>
          </a:p>
        </p:txBody>
      </p:sp>
      <p:sp>
        <p:nvSpPr>
          <p:cNvPr id="12" name="Text 10"/>
          <p:cNvSpPr/>
          <p:nvPr/>
        </p:nvSpPr>
        <p:spPr>
          <a:xfrm>
            <a:off x="1088136" y="1207008"/>
            <a:ext cx="3337560" cy="274320"/>
          </a:xfrm>
          <a:prstGeom prst="rect">
            <a:avLst/>
          </a:prstGeom>
          <a:noFill/>
        </p:spPr>
        <p:txBody>
          <a:bodyPr wrap="square" lIns="0" tIns="0" rIns="0" bIns="0" rtlCol="0" anchor="ctr"/>
          <a:lstStyle/>
          <a:p>
            <a:pPr marL="0" indent="0" algn="l">
              <a:buNone/>
            </a:pPr>
            <a:r>
              <a:rPr lang="en-US" sz="1150" b="1" dirty="0">
                <a:solidFill>
                  <a:srgbClr val="FFFFFF"/>
                </a:solidFill>
              </a:rPr>
              <a:t>Need Score Formula</a:t>
            </a:r>
            <a:endParaRPr lang="en-US" sz="1150" dirty="0"/>
          </a:p>
        </p:txBody>
      </p:sp>
      <p:sp>
        <p:nvSpPr>
          <p:cNvPr id="13" name="Text 11"/>
          <p:cNvSpPr/>
          <p:nvPr/>
        </p:nvSpPr>
        <p:spPr>
          <a:xfrm>
            <a:off x="1088136" y="1517904"/>
            <a:ext cx="3337560" cy="347472"/>
          </a:xfrm>
          <a:prstGeom prst="rect">
            <a:avLst/>
          </a:prstGeom>
          <a:noFill/>
        </p:spPr>
        <p:txBody>
          <a:bodyPr wrap="square" lIns="0" tIns="0" rIns="0" bIns="0" rtlCol="0" anchor="ctr"/>
          <a:lstStyle/>
          <a:p>
            <a:pPr marL="0" indent="0" algn="l">
              <a:buNone/>
            </a:pPr>
            <a:r>
              <a:rPr lang="en-US" sz="950" dirty="0">
                <a:solidFill>
                  <a:srgbClr val="D4C0EE"/>
                </a:solidFill>
                <a:latin typeface="Calibri" panose="020F0502020204030204" pitchFamily="34" charset="0"/>
                <a:ea typeface="Calibri" panose="020F0502020204030204" pitchFamily="34" charset="-122"/>
                <a:cs typeface="Calibri" panose="020F0502020204030204" pitchFamily="34" charset="-120"/>
              </a:rPr>
              <a:t>Weighted composite score validated by 3 statistical hypothesis tests</a:t>
            </a:r>
            <a:endParaRPr lang="en-US" sz="950" dirty="0"/>
          </a:p>
        </p:txBody>
      </p:sp>
      <p:sp>
        <p:nvSpPr>
          <p:cNvPr id="14" name="Shape 12"/>
          <p:cNvSpPr/>
          <p:nvPr/>
        </p:nvSpPr>
        <p:spPr>
          <a:xfrm>
            <a:off x="4736592" y="1115568"/>
            <a:ext cx="4224528" cy="804672"/>
          </a:xfrm>
          <a:prstGeom prst="rect">
            <a:avLst/>
          </a:prstGeom>
          <a:solidFill>
            <a:srgbClr val="FFFFFF">
              <a:alpha val="10000"/>
            </a:srgbClr>
          </a:solidFill>
          <a:ln w="12700">
            <a:solidFill>
              <a:srgbClr val="B8A0D8"/>
            </a:solidFill>
            <a:prstDash val="solid"/>
          </a:ln>
        </p:spPr>
      </p:sp>
      <p:sp>
        <p:nvSpPr>
          <p:cNvPr id="15" name="Shape 13"/>
          <p:cNvSpPr/>
          <p:nvPr/>
        </p:nvSpPr>
        <p:spPr>
          <a:xfrm>
            <a:off x="4828032" y="1207008"/>
            <a:ext cx="548640" cy="621792"/>
          </a:xfrm>
          <a:prstGeom prst="roundRect">
            <a:avLst>
              <a:gd name="adj" fmla="val 13333"/>
            </a:avLst>
          </a:prstGeom>
          <a:solidFill>
            <a:srgbClr val="B8A0D8">
              <a:alpha val="75000"/>
            </a:srgbClr>
          </a:solidFill>
          <a:ln w="12700">
            <a:solidFill>
              <a:srgbClr val="B8A0D8"/>
            </a:solidFill>
            <a:prstDash val="solid"/>
          </a:ln>
        </p:spPr>
      </p:sp>
      <p:sp>
        <p:nvSpPr>
          <p:cNvPr id="16" name="Text 14"/>
          <p:cNvSpPr/>
          <p:nvPr/>
        </p:nvSpPr>
        <p:spPr>
          <a:xfrm>
            <a:off x="4828032" y="1207008"/>
            <a:ext cx="548640" cy="621792"/>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20303" pitchFamily="34" charset="0"/>
                <a:ea typeface="Georgia" panose="02040502050405020303" pitchFamily="34" charset="-122"/>
                <a:cs typeface="Georgia" panose="02040502050405020303" pitchFamily="34" charset="-120"/>
              </a:rPr>
              <a:t>O2</a:t>
            </a:r>
            <a:endParaRPr lang="en-US" sz="1400" dirty="0"/>
          </a:p>
        </p:txBody>
      </p:sp>
      <p:sp>
        <p:nvSpPr>
          <p:cNvPr id="17" name="Text 15"/>
          <p:cNvSpPr/>
          <p:nvPr/>
        </p:nvSpPr>
        <p:spPr>
          <a:xfrm>
            <a:off x="5504688" y="1207008"/>
            <a:ext cx="3337560" cy="274320"/>
          </a:xfrm>
          <a:prstGeom prst="rect">
            <a:avLst/>
          </a:prstGeom>
          <a:noFill/>
        </p:spPr>
        <p:txBody>
          <a:bodyPr wrap="square" lIns="0" tIns="0" rIns="0" bIns="0" rtlCol="0" anchor="ctr"/>
          <a:lstStyle/>
          <a:p>
            <a:pPr marL="0" indent="0" algn="l">
              <a:buNone/>
            </a:pPr>
            <a:r>
              <a:rPr lang="en-US" sz="1150" b="1" dirty="0">
                <a:solidFill>
                  <a:srgbClr val="FFFFFF"/>
                </a:solidFill>
              </a:rPr>
              <a:t>KNN Matching Engine</a:t>
            </a:r>
            <a:endParaRPr lang="en-US" sz="1150" dirty="0"/>
          </a:p>
        </p:txBody>
      </p:sp>
      <p:sp>
        <p:nvSpPr>
          <p:cNvPr id="18" name="Text 16"/>
          <p:cNvSpPr/>
          <p:nvPr/>
        </p:nvSpPr>
        <p:spPr>
          <a:xfrm>
            <a:off x="5504688" y="1517904"/>
            <a:ext cx="3337560" cy="347472"/>
          </a:xfrm>
          <a:prstGeom prst="rect">
            <a:avLst/>
          </a:prstGeom>
          <a:noFill/>
        </p:spPr>
        <p:txBody>
          <a:bodyPr wrap="square" lIns="0" tIns="0" rIns="0" bIns="0" rtlCol="0" anchor="ctr"/>
          <a:lstStyle/>
          <a:p>
            <a:pPr marL="0" indent="0" algn="l">
              <a:buNone/>
            </a:pPr>
            <a:r>
              <a:rPr lang="en-US" sz="950" dirty="0">
                <a:solidFill>
                  <a:srgbClr val="D4C0EE"/>
                </a:solidFill>
                <a:latin typeface="Calibri" panose="020F0502020204030204" pitchFamily="34" charset="0"/>
                <a:ea typeface="Calibri" panose="020F0502020204030204" pitchFamily="34" charset="-122"/>
                <a:cs typeface="Calibri" panose="020F0502020204030204" pitchFamily="34" charset="-120"/>
              </a:rPr>
              <a:t>7-feature MinMaxScaled Euclidean KNN — target Precision@4 ≥ 0.75</a:t>
            </a:r>
            <a:endParaRPr lang="en-US" sz="950" dirty="0"/>
          </a:p>
        </p:txBody>
      </p:sp>
      <p:sp>
        <p:nvSpPr>
          <p:cNvPr id="19" name="Shape 17"/>
          <p:cNvSpPr/>
          <p:nvPr/>
        </p:nvSpPr>
        <p:spPr>
          <a:xfrm>
            <a:off x="320040" y="2066544"/>
            <a:ext cx="4224528" cy="804672"/>
          </a:xfrm>
          <a:prstGeom prst="rect">
            <a:avLst/>
          </a:prstGeom>
          <a:solidFill>
            <a:srgbClr val="FFFFFF">
              <a:alpha val="10000"/>
            </a:srgbClr>
          </a:solidFill>
          <a:ln w="12700">
            <a:solidFill>
              <a:srgbClr val="A8D8C0"/>
            </a:solidFill>
            <a:prstDash val="solid"/>
          </a:ln>
        </p:spPr>
      </p:sp>
      <p:sp>
        <p:nvSpPr>
          <p:cNvPr id="20" name="Shape 18"/>
          <p:cNvSpPr/>
          <p:nvPr/>
        </p:nvSpPr>
        <p:spPr>
          <a:xfrm>
            <a:off x="411480" y="2157984"/>
            <a:ext cx="548640" cy="621792"/>
          </a:xfrm>
          <a:prstGeom prst="roundRect">
            <a:avLst>
              <a:gd name="adj" fmla="val 13333"/>
            </a:avLst>
          </a:prstGeom>
          <a:solidFill>
            <a:srgbClr val="A8D8C0">
              <a:alpha val="75000"/>
            </a:srgbClr>
          </a:solidFill>
          <a:ln w="12700">
            <a:solidFill>
              <a:srgbClr val="A8D8C0"/>
            </a:solidFill>
            <a:prstDash val="solid"/>
          </a:ln>
        </p:spPr>
      </p:sp>
      <p:sp>
        <p:nvSpPr>
          <p:cNvPr id="21" name="Text 19"/>
          <p:cNvSpPr/>
          <p:nvPr/>
        </p:nvSpPr>
        <p:spPr>
          <a:xfrm>
            <a:off x="411480" y="2157984"/>
            <a:ext cx="548640" cy="621792"/>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20303" pitchFamily="34" charset="0"/>
                <a:ea typeface="Georgia" panose="02040502050405020303" pitchFamily="34" charset="-122"/>
                <a:cs typeface="Georgia" panose="02040502050405020303" pitchFamily="34" charset="-120"/>
              </a:rPr>
              <a:t>O3</a:t>
            </a:r>
            <a:endParaRPr lang="en-US" sz="1400" dirty="0"/>
          </a:p>
        </p:txBody>
      </p:sp>
      <p:sp>
        <p:nvSpPr>
          <p:cNvPr id="22" name="Text 20"/>
          <p:cNvSpPr/>
          <p:nvPr/>
        </p:nvSpPr>
        <p:spPr>
          <a:xfrm>
            <a:off x="1088136" y="2157984"/>
            <a:ext cx="3337560" cy="274320"/>
          </a:xfrm>
          <a:prstGeom prst="rect">
            <a:avLst/>
          </a:prstGeom>
          <a:noFill/>
        </p:spPr>
        <p:txBody>
          <a:bodyPr wrap="square" lIns="0" tIns="0" rIns="0" bIns="0" rtlCol="0" anchor="ctr"/>
          <a:lstStyle/>
          <a:p>
            <a:pPr marL="0" indent="0" algn="l">
              <a:buNone/>
            </a:pPr>
            <a:r>
              <a:rPr lang="en-US" sz="1150" b="1" dirty="0">
                <a:solidFill>
                  <a:srgbClr val="FFFFFF"/>
                </a:solidFill>
              </a:rPr>
              <a:t>Programme Recommender</a:t>
            </a:r>
            <a:endParaRPr lang="en-US" sz="1150" dirty="0"/>
          </a:p>
        </p:txBody>
      </p:sp>
      <p:sp>
        <p:nvSpPr>
          <p:cNvPr id="23" name="Text 21"/>
          <p:cNvSpPr/>
          <p:nvPr/>
        </p:nvSpPr>
        <p:spPr>
          <a:xfrm>
            <a:off x="1088136" y="2468880"/>
            <a:ext cx="3337560" cy="347472"/>
          </a:xfrm>
          <a:prstGeom prst="rect">
            <a:avLst/>
          </a:prstGeom>
          <a:noFill/>
        </p:spPr>
        <p:txBody>
          <a:bodyPr wrap="square" lIns="0" tIns="0" rIns="0" bIns="0" rtlCol="0" anchor="ctr"/>
          <a:lstStyle/>
          <a:p>
            <a:pPr marL="0" indent="0" algn="l">
              <a:buNone/>
            </a:pPr>
            <a:r>
              <a:rPr lang="en-US" sz="950" dirty="0">
                <a:solidFill>
                  <a:srgbClr val="D4C0EE"/>
                </a:solidFill>
                <a:latin typeface="Calibri" panose="020F0502020204030204" pitchFamily="34" charset="0"/>
                <a:ea typeface="Calibri" panose="020F0502020204030204" pitchFamily="34" charset="-122"/>
                <a:cs typeface="Calibri" panose="020F0502020204030204" pitchFamily="34" charset="-120"/>
              </a:rPr>
              <a:t>6-rule eligibility engine — 100% patient coverage guaranteed</a:t>
            </a:r>
            <a:endParaRPr lang="en-US" sz="950" dirty="0"/>
          </a:p>
        </p:txBody>
      </p:sp>
      <p:sp>
        <p:nvSpPr>
          <p:cNvPr id="24" name="Shape 22"/>
          <p:cNvSpPr/>
          <p:nvPr/>
        </p:nvSpPr>
        <p:spPr>
          <a:xfrm>
            <a:off x="4736592" y="2066544"/>
            <a:ext cx="4224528" cy="804672"/>
          </a:xfrm>
          <a:prstGeom prst="rect">
            <a:avLst/>
          </a:prstGeom>
          <a:solidFill>
            <a:srgbClr val="FFFFFF">
              <a:alpha val="10000"/>
            </a:srgbClr>
          </a:solidFill>
          <a:ln w="12700">
            <a:solidFill>
              <a:srgbClr val="F5C0A0"/>
            </a:solidFill>
            <a:prstDash val="solid"/>
          </a:ln>
        </p:spPr>
      </p:sp>
      <p:sp>
        <p:nvSpPr>
          <p:cNvPr id="25" name="Shape 23"/>
          <p:cNvSpPr/>
          <p:nvPr/>
        </p:nvSpPr>
        <p:spPr>
          <a:xfrm>
            <a:off x="4828032" y="2157984"/>
            <a:ext cx="548640" cy="621792"/>
          </a:xfrm>
          <a:prstGeom prst="roundRect">
            <a:avLst>
              <a:gd name="adj" fmla="val 13333"/>
            </a:avLst>
          </a:prstGeom>
          <a:solidFill>
            <a:srgbClr val="F5C0A0">
              <a:alpha val="75000"/>
            </a:srgbClr>
          </a:solidFill>
          <a:ln w="12700">
            <a:solidFill>
              <a:srgbClr val="F5C0A0"/>
            </a:solidFill>
            <a:prstDash val="solid"/>
          </a:ln>
        </p:spPr>
      </p:sp>
      <p:sp>
        <p:nvSpPr>
          <p:cNvPr id="26" name="Text 24"/>
          <p:cNvSpPr/>
          <p:nvPr/>
        </p:nvSpPr>
        <p:spPr>
          <a:xfrm>
            <a:off x="4828032" y="2157984"/>
            <a:ext cx="548640" cy="621792"/>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20303" pitchFamily="34" charset="0"/>
                <a:ea typeface="Georgia" panose="02040502050405020303" pitchFamily="34" charset="-122"/>
                <a:cs typeface="Georgia" panose="02040502050405020303" pitchFamily="34" charset="-120"/>
              </a:rPr>
              <a:t>O4</a:t>
            </a:r>
            <a:endParaRPr lang="en-US" sz="1400" dirty="0"/>
          </a:p>
        </p:txBody>
      </p:sp>
      <p:sp>
        <p:nvSpPr>
          <p:cNvPr id="27" name="Text 25"/>
          <p:cNvSpPr/>
          <p:nvPr/>
        </p:nvSpPr>
        <p:spPr>
          <a:xfrm>
            <a:off x="5504688" y="2157984"/>
            <a:ext cx="3337560" cy="274320"/>
          </a:xfrm>
          <a:prstGeom prst="rect">
            <a:avLst/>
          </a:prstGeom>
          <a:noFill/>
        </p:spPr>
        <p:txBody>
          <a:bodyPr wrap="square" lIns="0" tIns="0" rIns="0" bIns="0" rtlCol="0" anchor="ctr"/>
          <a:lstStyle/>
          <a:p>
            <a:pPr marL="0" indent="0" algn="l">
              <a:buNone/>
            </a:pPr>
            <a:r>
              <a:rPr lang="en-US" sz="1150" b="1" dirty="0">
                <a:solidFill>
                  <a:srgbClr val="FFFFFF"/>
                </a:solidFill>
              </a:rPr>
              <a:t>Zakat Compliance Gate</a:t>
            </a:r>
            <a:endParaRPr lang="en-US" sz="1150" dirty="0"/>
          </a:p>
        </p:txBody>
      </p:sp>
      <p:sp>
        <p:nvSpPr>
          <p:cNvPr id="28" name="Text 26"/>
          <p:cNvSpPr/>
          <p:nvPr/>
        </p:nvSpPr>
        <p:spPr>
          <a:xfrm>
            <a:off x="5504688" y="2468880"/>
            <a:ext cx="3337560" cy="347472"/>
          </a:xfrm>
          <a:prstGeom prst="rect">
            <a:avLst/>
          </a:prstGeom>
          <a:noFill/>
        </p:spPr>
        <p:txBody>
          <a:bodyPr wrap="square" lIns="0" tIns="0" rIns="0" bIns="0" rtlCol="0" anchor="ctr"/>
          <a:lstStyle/>
          <a:p>
            <a:pPr marL="0" indent="0" algn="l">
              <a:buNone/>
            </a:pPr>
            <a:r>
              <a:rPr lang="en-US" sz="950" dirty="0">
                <a:solidFill>
                  <a:srgbClr val="D4C0EE"/>
                </a:solidFill>
                <a:latin typeface="Calibri" panose="020F0502020204030204" pitchFamily="34" charset="0"/>
                <a:ea typeface="Calibri" panose="020F0502020204030204" pitchFamily="34" charset="-122"/>
                <a:cs typeface="Calibri" panose="020F0502020204030204" pitchFamily="34" charset="-120"/>
              </a:rPr>
              <a:t>Pre-match validation — zero tolerance for non-compliant allocation</a:t>
            </a:r>
            <a:endParaRPr lang="en-US" sz="950" dirty="0"/>
          </a:p>
        </p:txBody>
      </p:sp>
      <p:sp>
        <p:nvSpPr>
          <p:cNvPr id="29" name="Shape 27"/>
          <p:cNvSpPr/>
          <p:nvPr/>
        </p:nvSpPr>
        <p:spPr>
          <a:xfrm>
            <a:off x="320040" y="3017520"/>
            <a:ext cx="4224528" cy="804672"/>
          </a:xfrm>
          <a:prstGeom prst="rect">
            <a:avLst/>
          </a:prstGeom>
          <a:solidFill>
            <a:srgbClr val="FFFFFF">
              <a:alpha val="10000"/>
            </a:srgbClr>
          </a:solidFill>
          <a:ln w="12700">
            <a:solidFill>
              <a:srgbClr val="A0C8E8"/>
            </a:solidFill>
            <a:prstDash val="solid"/>
          </a:ln>
        </p:spPr>
      </p:sp>
      <p:sp>
        <p:nvSpPr>
          <p:cNvPr id="30" name="Shape 28"/>
          <p:cNvSpPr/>
          <p:nvPr/>
        </p:nvSpPr>
        <p:spPr>
          <a:xfrm>
            <a:off x="411480" y="3108960"/>
            <a:ext cx="548640" cy="621792"/>
          </a:xfrm>
          <a:prstGeom prst="roundRect">
            <a:avLst>
              <a:gd name="adj" fmla="val 13333"/>
            </a:avLst>
          </a:prstGeom>
          <a:solidFill>
            <a:srgbClr val="A0C8E8">
              <a:alpha val="75000"/>
            </a:srgbClr>
          </a:solidFill>
          <a:ln w="12700">
            <a:solidFill>
              <a:srgbClr val="A0C8E8"/>
            </a:solidFill>
            <a:prstDash val="solid"/>
          </a:ln>
        </p:spPr>
      </p:sp>
      <p:sp>
        <p:nvSpPr>
          <p:cNvPr id="31" name="Text 29"/>
          <p:cNvSpPr/>
          <p:nvPr/>
        </p:nvSpPr>
        <p:spPr>
          <a:xfrm>
            <a:off x="411480" y="3108960"/>
            <a:ext cx="548640" cy="621792"/>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20303" pitchFamily="34" charset="0"/>
                <a:ea typeface="Georgia" panose="02040502050405020303" pitchFamily="34" charset="-122"/>
                <a:cs typeface="Georgia" panose="02040502050405020303" pitchFamily="34" charset="-120"/>
              </a:rPr>
              <a:t>O5</a:t>
            </a:r>
            <a:endParaRPr lang="en-US" sz="1400" dirty="0"/>
          </a:p>
        </p:txBody>
      </p:sp>
      <p:sp>
        <p:nvSpPr>
          <p:cNvPr id="32" name="Text 30"/>
          <p:cNvSpPr/>
          <p:nvPr/>
        </p:nvSpPr>
        <p:spPr>
          <a:xfrm>
            <a:off x="1088136" y="3108960"/>
            <a:ext cx="3337560" cy="274320"/>
          </a:xfrm>
          <a:prstGeom prst="rect">
            <a:avLst/>
          </a:prstGeom>
          <a:noFill/>
        </p:spPr>
        <p:txBody>
          <a:bodyPr wrap="square" lIns="0" tIns="0" rIns="0" bIns="0" rtlCol="0" anchor="ctr"/>
          <a:lstStyle/>
          <a:p>
            <a:pPr marL="0" indent="0" algn="l">
              <a:buNone/>
            </a:pPr>
            <a:r>
              <a:rPr lang="en-US" sz="1150" b="1" dirty="0">
                <a:solidFill>
                  <a:srgbClr val="FFFFFF"/>
                </a:solidFill>
              </a:rPr>
              <a:t>Donor Transparency</a:t>
            </a:r>
            <a:endParaRPr lang="en-US" sz="1150" dirty="0"/>
          </a:p>
        </p:txBody>
      </p:sp>
      <p:sp>
        <p:nvSpPr>
          <p:cNvPr id="33" name="Text 31"/>
          <p:cNvSpPr/>
          <p:nvPr/>
        </p:nvSpPr>
        <p:spPr>
          <a:xfrm>
            <a:off x="1088136" y="3419856"/>
            <a:ext cx="3337560" cy="347472"/>
          </a:xfrm>
          <a:prstGeom prst="rect">
            <a:avLst/>
          </a:prstGeom>
          <a:noFill/>
        </p:spPr>
        <p:txBody>
          <a:bodyPr wrap="square" lIns="0" tIns="0" rIns="0" bIns="0" rtlCol="0" anchor="ctr"/>
          <a:lstStyle/>
          <a:p>
            <a:pPr marL="0" indent="0" algn="l">
              <a:buNone/>
            </a:pPr>
            <a:r>
              <a:rPr lang="en-US" sz="950" dirty="0">
                <a:solidFill>
                  <a:srgbClr val="D4C0EE"/>
                </a:solidFill>
                <a:latin typeface="Calibri" panose="020F0502020204030204" pitchFamily="34" charset="0"/>
                <a:ea typeface="Calibri" panose="020F0502020204030204" pitchFamily="34" charset="-122"/>
                <a:cs typeface="Calibri" panose="020F0502020204030204" pitchFamily="34" charset="-120"/>
              </a:rPr>
              <a:t>Personalised impact calculation and notification per donation</a:t>
            </a:r>
            <a:endParaRPr lang="en-US" sz="950" dirty="0"/>
          </a:p>
        </p:txBody>
      </p:sp>
      <p:sp>
        <p:nvSpPr>
          <p:cNvPr id="34" name="Shape 32"/>
          <p:cNvSpPr/>
          <p:nvPr/>
        </p:nvSpPr>
        <p:spPr>
          <a:xfrm>
            <a:off x="4736592" y="3017520"/>
            <a:ext cx="4224528" cy="804672"/>
          </a:xfrm>
          <a:prstGeom prst="rect">
            <a:avLst/>
          </a:prstGeom>
          <a:solidFill>
            <a:srgbClr val="FFFFFF">
              <a:alpha val="10000"/>
            </a:srgbClr>
          </a:solidFill>
          <a:ln w="12700">
            <a:solidFill>
              <a:srgbClr val="E8A0BF"/>
            </a:solidFill>
            <a:prstDash val="solid"/>
          </a:ln>
        </p:spPr>
      </p:sp>
      <p:sp>
        <p:nvSpPr>
          <p:cNvPr id="35" name="Shape 33"/>
          <p:cNvSpPr/>
          <p:nvPr/>
        </p:nvSpPr>
        <p:spPr>
          <a:xfrm>
            <a:off x="4828032" y="3108960"/>
            <a:ext cx="548640" cy="621792"/>
          </a:xfrm>
          <a:prstGeom prst="roundRect">
            <a:avLst>
              <a:gd name="adj" fmla="val 13333"/>
            </a:avLst>
          </a:prstGeom>
          <a:solidFill>
            <a:srgbClr val="E8A0BF">
              <a:alpha val="75000"/>
            </a:srgbClr>
          </a:solidFill>
          <a:ln w="12700">
            <a:solidFill>
              <a:srgbClr val="E8A0BF"/>
            </a:solidFill>
            <a:prstDash val="solid"/>
          </a:ln>
        </p:spPr>
      </p:sp>
      <p:sp>
        <p:nvSpPr>
          <p:cNvPr id="36" name="Text 34"/>
          <p:cNvSpPr/>
          <p:nvPr/>
        </p:nvSpPr>
        <p:spPr>
          <a:xfrm>
            <a:off x="4828032" y="3108960"/>
            <a:ext cx="548640" cy="621792"/>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20303" pitchFamily="34" charset="0"/>
                <a:ea typeface="Georgia" panose="02040502050405020303" pitchFamily="34" charset="-122"/>
                <a:cs typeface="Georgia" panose="02040502050405020303" pitchFamily="34" charset="-120"/>
              </a:rPr>
              <a:t>O6</a:t>
            </a:r>
            <a:endParaRPr lang="en-US" sz="1400" dirty="0"/>
          </a:p>
        </p:txBody>
      </p:sp>
      <p:sp>
        <p:nvSpPr>
          <p:cNvPr id="37" name="Text 35"/>
          <p:cNvSpPr/>
          <p:nvPr/>
        </p:nvSpPr>
        <p:spPr>
          <a:xfrm>
            <a:off x="5504688" y="3108960"/>
            <a:ext cx="3337560" cy="274320"/>
          </a:xfrm>
          <a:prstGeom prst="rect">
            <a:avLst/>
          </a:prstGeom>
          <a:noFill/>
        </p:spPr>
        <p:txBody>
          <a:bodyPr wrap="square" lIns="0" tIns="0" rIns="0" bIns="0" rtlCol="0" anchor="ctr"/>
          <a:lstStyle/>
          <a:p>
            <a:pPr marL="0" indent="0" algn="l">
              <a:buNone/>
            </a:pPr>
            <a:r>
              <a:rPr lang="en-US" sz="1150" b="1" dirty="0">
                <a:solidFill>
                  <a:srgbClr val="FFFFFF"/>
                </a:solidFill>
              </a:rPr>
              <a:t>Tableau BI Dashboards</a:t>
            </a:r>
            <a:endParaRPr lang="en-US" sz="1150" dirty="0"/>
          </a:p>
        </p:txBody>
      </p:sp>
      <p:sp>
        <p:nvSpPr>
          <p:cNvPr id="38" name="Text 36"/>
          <p:cNvSpPr/>
          <p:nvPr/>
        </p:nvSpPr>
        <p:spPr>
          <a:xfrm>
            <a:off x="5504688" y="3419856"/>
            <a:ext cx="3337560" cy="347472"/>
          </a:xfrm>
          <a:prstGeom prst="rect">
            <a:avLst/>
          </a:prstGeom>
          <a:noFill/>
        </p:spPr>
        <p:txBody>
          <a:bodyPr wrap="square" lIns="0" tIns="0" rIns="0" bIns="0" rtlCol="0" anchor="ctr"/>
          <a:lstStyle/>
          <a:p>
            <a:pPr marL="0" indent="0" algn="l">
              <a:buNone/>
            </a:pPr>
            <a:r>
              <a:rPr lang="en-US" sz="950" dirty="0">
                <a:solidFill>
                  <a:srgbClr val="D4C0EE"/>
                </a:solidFill>
                <a:latin typeface="Calibri" panose="020F0502020204030204" pitchFamily="34" charset="0"/>
                <a:ea typeface="Calibri" panose="020F0502020204030204" pitchFamily="34" charset="-122"/>
                <a:cs typeface="Calibri" panose="020F0502020204030204" pitchFamily="34" charset="-120"/>
              </a:rPr>
              <a:t>4 interactive cross-filtered dashboards for 4 stakeholder groups</a:t>
            </a:r>
            <a:endParaRPr lang="en-US" sz="950" dirty="0"/>
          </a:p>
        </p:txBody>
      </p:sp>
      <p:sp>
        <p:nvSpPr>
          <p:cNvPr id="39" name="Shape 37"/>
          <p:cNvSpPr/>
          <p:nvPr/>
        </p:nvSpPr>
        <p:spPr>
          <a:xfrm>
            <a:off x="320040" y="3968496"/>
            <a:ext cx="4224528" cy="804672"/>
          </a:xfrm>
          <a:prstGeom prst="rect">
            <a:avLst/>
          </a:prstGeom>
          <a:solidFill>
            <a:srgbClr val="FFFFFF">
              <a:alpha val="10000"/>
            </a:srgbClr>
          </a:solidFill>
          <a:ln w="12700">
            <a:solidFill>
              <a:srgbClr val="B8A0D8"/>
            </a:solidFill>
            <a:prstDash val="solid"/>
          </a:ln>
        </p:spPr>
      </p:sp>
      <p:sp>
        <p:nvSpPr>
          <p:cNvPr id="40" name="Shape 38"/>
          <p:cNvSpPr/>
          <p:nvPr/>
        </p:nvSpPr>
        <p:spPr>
          <a:xfrm>
            <a:off x="411480" y="4059936"/>
            <a:ext cx="548640" cy="621792"/>
          </a:xfrm>
          <a:prstGeom prst="roundRect">
            <a:avLst>
              <a:gd name="adj" fmla="val 13333"/>
            </a:avLst>
          </a:prstGeom>
          <a:solidFill>
            <a:srgbClr val="B8A0D8">
              <a:alpha val="75000"/>
            </a:srgbClr>
          </a:solidFill>
          <a:ln w="12700">
            <a:solidFill>
              <a:srgbClr val="B8A0D8"/>
            </a:solidFill>
            <a:prstDash val="solid"/>
          </a:ln>
        </p:spPr>
      </p:sp>
      <p:sp>
        <p:nvSpPr>
          <p:cNvPr id="41" name="Text 39"/>
          <p:cNvSpPr/>
          <p:nvPr/>
        </p:nvSpPr>
        <p:spPr>
          <a:xfrm>
            <a:off x="411480" y="4059936"/>
            <a:ext cx="548640" cy="621792"/>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20303" pitchFamily="34" charset="0"/>
                <a:ea typeface="Georgia" panose="02040502050405020303" pitchFamily="34" charset="-122"/>
                <a:cs typeface="Georgia" panose="02040502050405020303" pitchFamily="34" charset="-120"/>
              </a:rPr>
              <a:t>O7</a:t>
            </a:r>
            <a:endParaRPr lang="en-US" sz="1400" dirty="0"/>
          </a:p>
        </p:txBody>
      </p:sp>
      <p:sp>
        <p:nvSpPr>
          <p:cNvPr id="42" name="Text 40"/>
          <p:cNvSpPr/>
          <p:nvPr/>
        </p:nvSpPr>
        <p:spPr>
          <a:xfrm>
            <a:off x="1088136" y="4059936"/>
            <a:ext cx="3337560" cy="274320"/>
          </a:xfrm>
          <a:prstGeom prst="rect">
            <a:avLst/>
          </a:prstGeom>
          <a:noFill/>
        </p:spPr>
        <p:txBody>
          <a:bodyPr wrap="square" lIns="0" tIns="0" rIns="0" bIns="0" rtlCol="0" anchor="ctr"/>
          <a:lstStyle/>
          <a:p>
            <a:pPr marL="0" indent="0" algn="l">
              <a:buNone/>
            </a:pPr>
            <a:r>
              <a:rPr lang="en-US" sz="1150" b="1" dirty="0">
                <a:solidFill>
                  <a:srgbClr val="FFFFFF"/>
                </a:solidFill>
              </a:rPr>
              <a:t>AidConnect Application</a:t>
            </a:r>
            <a:endParaRPr lang="en-US" sz="1150" dirty="0"/>
          </a:p>
        </p:txBody>
      </p:sp>
      <p:sp>
        <p:nvSpPr>
          <p:cNvPr id="43" name="Text 41"/>
          <p:cNvSpPr/>
          <p:nvPr/>
        </p:nvSpPr>
        <p:spPr>
          <a:xfrm>
            <a:off x="1088136" y="4370832"/>
            <a:ext cx="3337560" cy="347472"/>
          </a:xfrm>
          <a:prstGeom prst="rect">
            <a:avLst/>
          </a:prstGeom>
          <a:noFill/>
        </p:spPr>
        <p:txBody>
          <a:bodyPr wrap="square" lIns="0" tIns="0" rIns="0" bIns="0" rtlCol="0" anchor="ctr"/>
          <a:lstStyle/>
          <a:p>
            <a:pPr marL="0" indent="0" algn="l">
              <a:buNone/>
            </a:pPr>
            <a:r>
              <a:rPr lang="en-US" sz="950" dirty="0">
                <a:solidFill>
                  <a:srgbClr val="D4C0EE"/>
                </a:solidFill>
                <a:latin typeface="Calibri" panose="020F0502020204030204" pitchFamily="34" charset="0"/>
                <a:ea typeface="Calibri" panose="020F0502020204030204" pitchFamily="34" charset="-122"/>
                <a:cs typeface="Calibri" panose="020F0502020204030204" pitchFamily="34" charset="-120"/>
              </a:rPr>
              <a:t>8-screen mobile-first app implementing complete donor journey</a:t>
            </a:r>
            <a:endParaRPr lang="en-US" sz="950" dirty="0"/>
          </a:p>
        </p:txBody>
      </p:sp>
      <p:sp>
        <p:nvSpPr>
          <p:cNvPr id="44" name="Shape 42"/>
          <p:cNvSpPr/>
          <p:nvPr/>
        </p:nvSpPr>
        <p:spPr>
          <a:xfrm>
            <a:off x="4736592" y="3968496"/>
            <a:ext cx="4224528" cy="804672"/>
          </a:xfrm>
          <a:prstGeom prst="rect">
            <a:avLst/>
          </a:prstGeom>
          <a:solidFill>
            <a:srgbClr val="FFFFFF">
              <a:alpha val="10000"/>
            </a:srgbClr>
          </a:solidFill>
          <a:ln w="12700">
            <a:solidFill>
              <a:srgbClr val="A8D8C0"/>
            </a:solidFill>
            <a:prstDash val="solid"/>
          </a:ln>
        </p:spPr>
      </p:sp>
      <p:sp>
        <p:nvSpPr>
          <p:cNvPr id="45" name="Shape 43"/>
          <p:cNvSpPr/>
          <p:nvPr/>
        </p:nvSpPr>
        <p:spPr>
          <a:xfrm>
            <a:off x="4828032" y="4059936"/>
            <a:ext cx="548640" cy="621792"/>
          </a:xfrm>
          <a:prstGeom prst="roundRect">
            <a:avLst>
              <a:gd name="adj" fmla="val 13333"/>
            </a:avLst>
          </a:prstGeom>
          <a:solidFill>
            <a:srgbClr val="A8D8C0">
              <a:alpha val="75000"/>
            </a:srgbClr>
          </a:solidFill>
          <a:ln w="12700">
            <a:solidFill>
              <a:srgbClr val="A8D8C0"/>
            </a:solidFill>
            <a:prstDash val="solid"/>
          </a:ln>
        </p:spPr>
      </p:sp>
      <p:sp>
        <p:nvSpPr>
          <p:cNvPr id="46" name="Text 44"/>
          <p:cNvSpPr/>
          <p:nvPr/>
        </p:nvSpPr>
        <p:spPr>
          <a:xfrm>
            <a:off x="4828032" y="4059936"/>
            <a:ext cx="548640" cy="621792"/>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20303" pitchFamily="34" charset="0"/>
                <a:ea typeface="Georgia" panose="02040502050405020303" pitchFamily="34" charset="-122"/>
                <a:cs typeface="Georgia" panose="02040502050405020303" pitchFamily="34" charset="-120"/>
              </a:rPr>
              <a:t>O8</a:t>
            </a:r>
            <a:endParaRPr lang="en-US" sz="1400" dirty="0"/>
          </a:p>
        </p:txBody>
      </p:sp>
      <p:sp>
        <p:nvSpPr>
          <p:cNvPr id="47" name="Text 45"/>
          <p:cNvSpPr/>
          <p:nvPr/>
        </p:nvSpPr>
        <p:spPr>
          <a:xfrm>
            <a:off x="5504688" y="4059936"/>
            <a:ext cx="3337560" cy="274320"/>
          </a:xfrm>
          <a:prstGeom prst="rect">
            <a:avLst/>
          </a:prstGeom>
          <a:noFill/>
        </p:spPr>
        <p:txBody>
          <a:bodyPr wrap="square" lIns="0" tIns="0" rIns="0" bIns="0" rtlCol="0" anchor="ctr"/>
          <a:lstStyle/>
          <a:p>
            <a:pPr marL="0" indent="0" algn="l">
              <a:buNone/>
            </a:pPr>
            <a:r>
              <a:rPr lang="en-US" sz="1150" b="1" dirty="0">
                <a:solidFill>
                  <a:srgbClr val="FFFFFF"/>
                </a:solidFill>
              </a:rPr>
              <a:t>Compliance Audit</a:t>
            </a:r>
            <a:endParaRPr lang="en-US" sz="1150" dirty="0"/>
          </a:p>
        </p:txBody>
      </p:sp>
      <p:sp>
        <p:nvSpPr>
          <p:cNvPr id="48" name="Text 46"/>
          <p:cNvSpPr/>
          <p:nvPr/>
        </p:nvSpPr>
        <p:spPr>
          <a:xfrm>
            <a:off x="5504688" y="4370832"/>
            <a:ext cx="3337560" cy="347472"/>
          </a:xfrm>
          <a:prstGeom prst="rect">
            <a:avLst/>
          </a:prstGeom>
          <a:noFill/>
        </p:spPr>
        <p:txBody>
          <a:bodyPr wrap="square" lIns="0" tIns="0" rIns="0" bIns="0" rtlCol="0" anchor="ctr"/>
          <a:lstStyle/>
          <a:p>
            <a:pPr marL="0" indent="0" algn="l">
              <a:buNone/>
            </a:pPr>
            <a:r>
              <a:rPr lang="en-US" sz="950" dirty="0">
                <a:solidFill>
                  <a:srgbClr val="D4C0EE"/>
                </a:solidFill>
                <a:latin typeface="Calibri" panose="020F0502020204030204" pitchFamily="34" charset="0"/>
                <a:ea typeface="Calibri" panose="020F0502020204030204" pitchFamily="34" charset="-122"/>
                <a:cs typeface="Calibri" panose="020F0502020204030204" pitchFamily="34" charset="-120"/>
              </a:rPr>
              <a:t>Audit all 378 historical records — document and correct violations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5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C9617A"/>
          </a:solidFill>
          <a:ln w="12700">
            <a:solidFill>
              <a:srgbClr val="C9617A"/>
            </a:solidFill>
            <a:prstDash val="solid"/>
          </a:ln>
        </p:spPr>
      </p:sp>
      <p:sp>
        <p:nvSpPr>
          <p:cNvPr id="3" name="Shape 1"/>
          <p:cNvSpPr/>
          <p:nvPr/>
        </p:nvSpPr>
        <p:spPr>
          <a:xfrm>
            <a:off x="0" y="4892040"/>
            <a:ext cx="9144000" cy="251460"/>
          </a:xfrm>
          <a:prstGeom prst="rect">
            <a:avLst/>
          </a:prstGeom>
          <a:solidFill>
            <a:srgbClr val="A0395A"/>
          </a:solidFill>
          <a:ln w="12700">
            <a:solidFill>
              <a:srgbClr val="A0395A"/>
            </a:solidFill>
            <a:prstDash val="solid"/>
          </a:ln>
        </p:spPr>
      </p:sp>
      <p:sp>
        <p:nvSpPr>
          <p:cNvPr id="4" name="Text 2"/>
          <p:cNvSpPr/>
          <p:nvPr/>
        </p:nvSpPr>
        <p:spPr>
          <a:xfrm>
            <a:off x="274320" y="4892040"/>
            <a:ext cx="8595360" cy="251460"/>
          </a:xfrm>
          <a:prstGeom prst="rect">
            <a:avLst/>
          </a:prstGeom>
          <a:noFill/>
        </p:spPr>
        <p:txBody>
          <a:bodyPr wrap="square" lIns="0" tIns="0" rIns="0" bIns="0" rtlCol="0" anchor="ctr"/>
          <a:lstStyle/>
          <a:p>
            <a:pPr marL="0" indent="0" algn="ctr">
              <a:buNone/>
            </a:pPr>
            <a:r>
              <a:rPr lang="en-US" sz="850" dirty="0">
                <a:solidFill>
                  <a:srgbClr val="F2BBCC"/>
                </a:solidFill>
                <a:latin typeface="Calibri" panose="020F0502020204030204" pitchFamily="34" charset="0"/>
                <a:ea typeface="Calibri" panose="020F0502020204030204" pitchFamily="34" charset="-122"/>
                <a:cs typeface="Calibri" panose="020F0502020204030204" pitchFamily="34" charset="-120"/>
              </a:rPr>
              <a:t>KHCC AidConnect  ·  Graduation Project Defense  ·  Mallak Abu Sada &amp; Maya Abu Aslahamat  ·  2025/2026</a:t>
            </a:r>
            <a:endParaRPr lang="en-US" sz="850" dirty="0"/>
          </a:p>
        </p:txBody>
      </p:sp>
      <p:sp>
        <p:nvSpPr>
          <p:cNvPr id="5" name="Shape 3"/>
          <p:cNvSpPr/>
          <p:nvPr/>
        </p:nvSpPr>
        <p:spPr>
          <a:xfrm>
            <a:off x="7790688" y="256032"/>
            <a:ext cx="1005840" cy="274320"/>
          </a:xfrm>
          <a:prstGeom prst="roundRect">
            <a:avLst>
              <a:gd name="adj" fmla="val 20000"/>
            </a:avLst>
          </a:prstGeom>
          <a:solidFill>
            <a:srgbClr val="E8855A"/>
          </a:solidFill>
          <a:ln w="12700">
            <a:solidFill>
              <a:srgbClr val="E8855A"/>
            </a:solidFill>
            <a:prstDash val="solid"/>
          </a:ln>
        </p:spPr>
      </p:sp>
      <p:sp>
        <p:nvSpPr>
          <p:cNvPr id="6" name="Text 4"/>
          <p:cNvSpPr/>
          <p:nvPr/>
        </p:nvSpPr>
        <p:spPr>
          <a:xfrm>
            <a:off x="7790688" y="256032"/>
            <a:ext cx="1005840" cy="274320"/>
          </a:xfrm>
          <a:prstGeom prst="rect">
            <a:avLst/>
          </a:prstGeom>
          <a:noFill/>
        </p:spPr>
        <p:txBody>
          <a:bodyPr wrap="square" lIns="0" tIns="0" rIns="0" bIns="0" rtlCol="0" anchor="ctr"/>
          <a:lstStyle/>
          <a:p>
            <a:pPr marL="0" indent="0" algn="ctr">
              <a:buNone/>
            </a:pPr>
            <a:r>
              <a:rPr lang="en-US" sz="850" b="1" kern="0" spc="50" dirty="0">
                <a:solidFill>
                  <a:srgbClr val="FFFFFF"/>
                </a:solidFill>
              </a:rPr>
              <a:t>SLIDE 6 / 20</a:t>
            </a:r>
            <a:endParaRPr lang="en-US" sz="850" dirty="0"/>
          </a:p>
        </p:txBody>
      </p:sp>
      <p:sp>
        <p:nvSpPr>
          <p:cNvPr id="7" name="Text 5"/>
          <p:cNvSpPr/>
          <p:nvPr/>
        </p:nvSpPr>
        <p:spPr>
          <a:xfrm>
            <a:off x="411480" y="164592"/>
            <a:ext cx="7772400" cy="594360"/>
          </a:xfrm>
          <a:prstGeom prst="rect">
            <a:avLst/>
          </a:prstGeom>
          <a:noFill/>
        </p:spPr>
        <p:txBody>
          <a:bodyPr wrap="square" lIns="0" tIns="0" rIns="0" bIns="0" rtlCol="0" anchor="ctr"/>
          <a:lstStyle/>
          <a:p>
            <a:pPr marL="0" indent="0" algn="l">
              <a:buNone/>
            </a:pPr>
            <a:r>
              <a:rPr lang="en-US" sz="2800" b="1" dirty="0">
                <a:solidFill>
                  <a:srgbClr val="FFFFFF"/>
                </a:solidFill>
                <a:latin typeface="Georgia" panose="02040502050405020303" pitchFamily="34" charset="0"/>
                <a:ea typeface="Georgia" panose="02040502050405020303" pitchFamily="34" charset="-122"/>
                <a:cs typeface="Georgia" panose="02040502050405020303" pitchFamily="34" charset="-120"/>
              </a:rPr>
              <a:t>Dataset Overview</a:t>
            </a:r>
            <a:endParaRPr lang="en-US" sz="2800" dirty="0"/>
          </a:p>
        </p:txBody>
      </p:sp>
      <p:sp>
        <p:nvSpPr>
          <p:cNvPr id="8" name="Shape 6"/>
          <p:cNvSpPr/>
          <p:nvPr/>
        </p:nvSpPr>
        <p:spPr>
          <a:xfrm>
            <a:off x="320040" y="1024128"/>
            <a:ext cx="8503920" cy="384048"/>
          </a:xfrm>
          <a:prstGeom prst="rect">
            <a:avLst/>
          </a:prstGeom>
          <a:solidFill>
            <a:srgbClr val="FCE8F0"/>
          </a:solidFill>
          <a:ln w="12700">
            <a:solidFill>
              <a:srgbClr val="E8A0BF"/>
            </a:solidFill>
            <a:prstDash val="solid"/>
          </a:ln>
        </p:spPr>
      </p:sp>
      <p:sp>
        <p:nvSpPr>
          <p:cNvPr id="9" name="Text 7"/>
          <p:cNvSpPr/>
          <p:nvPr/>
        </p:nvSpPr>
        <p:spPr>
          <a:xfrm>
            <a:off x="457200" y="1024128"/>
            <a:ext cx="8229600" cy="384048"/>
          </a:xfrm>
          <a:prstGeom prst="rect">
            <a:avLst/>
          </a:prstGeom>
          <a:noFill/>
        </p:spPr>
        <p:txBody>
          <a:bodyPr wrap="square" lIns="0" tIns="0" rIns="0" bIns="0" rtlCol="0" anchor="ctr"/>
          <a:lstStyle/>
          <a:p>
            <a:pPr marL="0" indent="0" algn="ctr">
              <a:buNone/>
            </a:pPr>
            <a:r>
              <a:rPr lang="en-US" sz="1100" b="1" dirty="0">
                <a:solidFill>
                  <a:srgbClr val="A0395A"/>
                </a:solidFill>
                <a:latin typeface="Calibri" panose="020F0502020204030204" pitchFamily="34" charset="0"/>
                <a:ea typeface="Calibri" panose="020F0502020204030204" pitchFamily="34" charset="-122"/>
                <a:cs typeface="Calibri" panose="020F0502020204030204" pitchFamily="34" charset="-120"/>
              </a:rPr>
              <a:t>Source: KHCC_Dataset_v4_Accurate.xlsx  ·  Jordan Cancer Registry statistics  ·  5 sheets  ·  739 total rows across 3 linked tables</a:t>
            </a:r>
            <a:endParaRPr lang="en-US" sz="1100" dirty="0"/>
          </a:p>
        </p:txBody>
      </p:sp>
      <p:sp>
        <p:nvSpPr>
          <p:cNvPr id="10" name="Shape 8"/>
          <p:cNvSpPr/>
          <p:nvPr/>
        </p:nvSpPr>
        <p:spPr>
          <a:xfrm>
            <a:off x="320040" y="1508760"/>
            <a:ext cx="2761488" cy="3182112"/>
          </a:xfrm>
          <a:prstGeom prst="rect">
            <a:avLst/>
          </a:prstGeom>
          <a:solidFill>
            <a:srgbClr val="FCE8F0"/>
          </a:solidFill>
          <a:ln w="12700">
            <a:solidFill>
              <a:srgbClr val="E8A0BF"/>
            </a:solidFill>
            <a:prstDash val="solid"/>
          </a:ln>
          <a:effectLst>
            <a:outerShdw blurRad="76200" dist="25400" dir="8100000" algn="bl" rotWithShape="0">
              <a:srgbClr val="B8A0D8">
                <a:alpha val="12000"/>
              </a:srgbClr>
            </a:outerShdw>
          </a:effectLst>
        </p:spPr>
      </p:sp>
      <p:sp>
        <p:nvSpPr>
          <p:cNvPr id="11" name="Shape 9"/>
          <p:cNvSpPr/>
          <p:nvPr/>
        </p:nvSpPr>
        <p:spPr>
          <a:xfrm>
            <a:off x="320040" y="1508760"/>
            <a:ext cx="2761488" cy="384048"/>
          </a:xfrm>
          <a:prstGeom prst="rect">
            <a:avLst/>
          </a:prstGeom>
          <a:solidFill>
            <a:srgbClr val="E8A0BF"/>
          </a:solidFill>
          <a:ln w="12700">
            <a:solidFill>
              <a:srgbClr val="E8A0BF"/>
            </a:solidFill>
            <a:prstDash val="solid"/>
          </a:ln>
        </p:spPr>
      </p:sp>
      <p:sp>
        <p:nvSpPr>
          <p:cNvPr id="12" name="Text 10"/>
          <p:cNvSpPr/>
          <p:nvPr/>
        </p:nvSpPr>
        <p:spPr>
          <a:xfrm>
            <a:off x="429768" y="1508760"/>
            <a:ext cx="2560320" cy="384048"/>
          </a:xfrm>
          <a:prstGeom prst="rect">
            <a:avLst/>
          </a:prstGeom>
          <a:noFill/>
        </p:spPr>
        <p:txBody>
          <a:bodyPr wrap="square" lIns="0" tIns="0" rIns="0" bIns="0" rtlCol="0" anchor="ctr"/>
          <a:lstStyle/>
          <a:p>
            <a:pPr marL="0" indent="0" algn="l">
              <a:buNone/>
            </a:pPr>
            <a:r>
              <a:rPr lang="en-US" sz="1300" b="1" dirty="0">
                <a:solidFill>
                  <a:srgbClr val="FFFFFF"/>
                </a:solidFill>
              </a:rPr>
              <a:t>🌸 Patient Profiles</a:t>
            </a:r>
            <a:endParaRPr lang="en-US" sz="1300" dirty="0"/>
          </a:p>
        </p:txBody>
      </p:sp>
      <p:sp>
        <p:nvSpPr>
          <p:cNvPr id="13" name="Shape 11"/>
          <p:cNvSpPr/>
          <p:nvPr/>
        </p:nvSpPr>
        <p:spPr>
          <a:xfrm>
            <a:off x="429768" y="1993392"/>
            <a:ext cx="1207008" cy="347472"/>
          </a:xfrm>
          <a:prstGeom prst="rect">
            <a:avLst/>
          </a:prstGeom>
          <a:solidFill>
            <a:srgbClr val="E8A0BF"/>
          </a:solidFill>
          <a:ln w="12700">
            <a:solidFill>
              <a:srgbClr val="E8A0BF"/>
            </a:solidFill>
            <a:prstDash val="solid"/>
          </a:ln>
        </p:spPr>
      </p:sp>
      <p:sp>
        <p:nvSpPr>
          <p:cNvPr id="14" name="Text 12"/>
          <p:cNvSpPr/>
          <p:nvPr/>
        </p:nvSpPr>
        <p:spPr>
          <a:xfrm>
            <a:off x="429768" y="1993392"/>
            <a:ext cx="1207008" cy="347472"/>
          </a:xfrm>
          <a:prstGeom prst="rect">
            <a:avLst/>
          </a:prstGeom>
          <a:noFill/>
        </p:spPr>
        <p:txBody>
          <a:bodyPr wrap="square" lIns="0" tIns="0" rIns="0" bIns="0" rtlCol="0" anchor="ctr"/>
          <a:lstStyle/>
          <a:p>
            <a:pPr marL="0" indent="0" algn="ctr">
              <a:buNone/>
            </a:pPr>
            <a:r>
              <a:rPr lang="en-US" sz="1100" b="1" dirty="0">
                <a:solidFill>
                  <a:srgbClr val="FFFFFF"/>
                </a:solidFill>
              </a:rPr>
              <a:t>111 rows</a:t>
            </a:r>
            <a:endParaRPr lang="en-US" sz="1100" dirty="0"/>
          </a:p>
        </p:txBody>
      </p:sp>
      <p:sp>
        <p:nvSpPr>
          <p:cNvPr id="15" name="Shape 13"/>
          <p:cNvSpPr/>
          <p:nvPr/>
        </p:nvSpPr>
        <p:spPr>
          <a:xfrm>
            <a:off x="1746504" y="1993392"/>
            <a:ext cx="1207008" cy="347472"/>
          </a:xfrm>
          <a:prstGeom prst="rect">
            <a:avLst/>
          </a:prstGeom>
          <a:solidFill>
            <a:srgbClr val="FFFFFF"/>
          </a:solidFill>
          <a:ln w="12700">
            <a:solidFill>
              <a:srgbClr val="E8A0BF"/>
            </a:solidFill>
            <a:prstDash val="solid"/>
          </a:ln>
        </p:spPr>
      </p:sp>
      <p:sp>
        <p:nvSpPr>
          <p:cNvPr id="16" name="Text 14"/>
          <p:cNvSpPr/>
          <p:nvPr/>
        </p:nvSpPr>
        <p:spPr>
          <a:xfrm>
            <a:off x="1746504" y="1993392"/>
            <a:ext cx="1207008" cy="347472"/>
          </a:xfrm>
          <a:prstGeom prst="rect">
            <a:avLst/>
          </a:prstGeom>
          <a:noFill/>
        </p:spPr>
        <p:txBody>
          <a:bodyPr wrap="square" lIns="0" tIns="0" rIns="0" bIns="0" rtlCol="0" anchor="ctr"/>
          <a:lstStyle/>
          <a:p>
            <a:pPr marL="0" indent="0" algn="ctr">
              <a:buNone/>
            </a:pPr>
            <a:r>
              <a:rPr lang="en-US" sz="1100" b="1" dirty="0">
                <a:solidFill>
                  <a:srgbClr val="E8A0BF"/>
                </a:solidFill>
              </a:rPr>
              <a:t>27 columns</a:t>
            </a:r>
            <a:endParaRPr lang="en-US" sz="1100" dirty="0"/>
          </a:p>
        </p:txBody>
      </p:sp>
      <p:sp>
        <p:nvSpPr>
          <p:cNvPr id="17" name="Shape 15"/>
          <p:cNvSpPr/>
          <p:nvPr/>
        </p:nvSpPr>
        <p:spPr>
          <a:xfrm>
            <a:off x="484632" y="2578608"/>
            <a:ext cx="82296" cy="82296"/>
          </a:xfrm>
          <a:prstGeom prst="ellipse">
            <a:avLst/>
          </a:prstGeom>
          <a:solidFill>
            <a:srgbClr val="E8A0BF"/>
          </a:solidFill>
          <a:ln w="12700">
            <a:solidFill>
              <a:srgbClr val="E8A0BF"/>
            </a:solidFill>
            <a:prstDash val="solid"/>
          </a:ln>
        </p:spPr>
      </p:sp>
      <p:sp>
        <p:nvSpPr>
          <p:cNvPr id="18" name="Text 16"/>
          <p:cNvSpPr/>
          <p:nvPr/>
        </p:nvSpPr>
        <p:spPr>
          <a:xfrm>
            <a:off x="630936" y="2450592"/>
            <a:ext cx="2359152" cy="347472"/>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Categorical: Gender, Cancer Type, Insurance, Governorate</a:t>
            </a:r>
            <a:endParaRPr lang="en-US" sz="950" dirty="0"/>
          </a:p>
        </p:txBody>
      </p:sp>
      <p:sp>
        <p:nvSpPr>
          <p:cNvPr id="19" name="Shape 17"/>
          <p:cNvSpPr/>
          <p:nvPr/>
        </p:nvSpPr>
        <p:spPr>
          <a:xfrm>
            <a:off x="484632" y="2990088"/>
            <a:ext cx="82296" cy="82296"/>
          </a:xfrm>
          <a:prstGeom prst="ellipse">
            <a:avLst/>
          </a:prstGeom>
          <a:solidFill>
            <a:srgbClr val="E8A0BF"/>
          </a:solidFill>
          <a:ln w="12700">
            <a:solidFill>
              <a:srgbClr val="E8A0BF"/>
            </a:solidFill>
            <a:prstDash val="solid"/>
          </a:ln>
        </p:spPr>
      </p:sp>
      <p:sp>
        <p:nvSpPr>
          <p:cNvPr id="20" name="Text 18"/>
          <p:cNvSpPr/>
          <p:nvPr/>
        </p:nvSpPr>
        <p:spPr>
          <a:xfrm>
            <a:off x="630936" y="2862072"/>
            <a:ext cx="2359152" cy="347472"/>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Numeric: Age, Income, Days on Waitlist, Need Score</a:t>
            </a:r>
            <a:endParaRPr lang="en-US" sz="950" dirty="0"/>
          </a:p>
        </p:txBody>
      </p:sp>
      <p:sp>
        <p:nvSpPr>
          <p:cNvPr id="21" name="Shape 19"/>
          <p:cNvSpPr/>
          <p:nvPr/>
        </p:nvSpPr>
        <p:spPr>
          <a:xfrm>
            <a:off x="484632" y="3401568"/>
            <a:ext cx="82296" cy="82296"/>
          </a:xfrm>
          <a:prstGeom prst="ellipse">
            <a:avLst/>
          </a:prstGeom>
          <a:solidFill>
            <a:srgbClr val="E8A0BF"/>
          </a:solidFill>
          <a:ln w="12700">
            <a:solidFill>
              <a:srgbClr val="E8A0BF"/>
            </a:solidFill>
            <a:prstDash val="solid"/>
          </a:ln>
        </p:spPr>
      </p:sp>
      <p:sp>
        <p:nvSpPr>
          <p:cNvPr id="22" name="Text 20"/>
          <p:cNvSpPr/>
          <p:nvPr/>
        </p:nvSpPr>
        <p:spPr>
          <a:xfrm>
            <a:off x="630936" y="3273552"/>
            <a:ext cx="2359152" cy="347472"/>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Binary: Zakat Eligible, Equipment Needed, Psychosocial Need</a:t>
            </a:r>
            <a:endParaRPr lang="en-US" sz="950" dirty="0"/>
          </a:p>
        </p:txBody>
      </p:sp>
      <p:sp>
        <p:nvSpPr>
          <p:cNvPr id="23" name="Shape 21"/>
          <p:cNvSpPr/>
          <p:nvPr/>
        </p:nvSpPr>
        <p:spPr>
          <a:xfrm>
            <a:off x="484632" y="3813048"/>
            <a:ext cx="82296" cy="82296"/>
          </a:xfrm>
          <a:prstGeom prst="ellipse">
            <a:avLst/>
          </a:prstGeom>
          <a:solidFill>
            <a:srgbClr val="E8A0BF"/>
          </a:solidFill>
          <a:ln w="12700">
            <a:solidFill>
              <a:srgbClr val="E8A0BF"/>
            </a:solidFill>
            <a:prstDash val="solid"/>
          </a:ln>
        </p:spPr>
      </p:sp>
      <p:sp>
        <p:nvSpPr>
          <p:cNvPr id="24" name="Text 22"/>
          <p:cNvSpPr/>
          <p:nvPr/>
        </p:nvSpPr>
        <p:spPr>
          <a:xfrm>
            <a:off x="630936" y="3685032"/>
            <a:ext cx="2359152" cy="347472"/>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Ordinal: Cancer Stage (I→IV encoded 1→4)</a:t>
            </a:r>
            <a:endParaRPr lang="en-US" sz="950" dirty="0"/>
          </a:p>
        </p:txBody>
      </p:sp>
      <p:sp>
        <p:nvSpPr>
          <p:cNvPr id="25" name="Shape 23"/>
          <p:cNvSpPr/>
          <p:nvPr/>
        </p:nvSpPr>
        <p:spPr>
          <a:xfrm>
            <a:off x="3264408" y="1508760"/>
            <a:ext cx="2761488" cy="3182112"/>
          </a:xfrm>
          <a:prstGeom prst="rect">
            <a:avLst/>
          </a:prstGeom>
          <a:solidFill>
            <a:srgbClr val="F0EAFA"/>
          </a:solidFill>
          <a:ln w="12700">
            <a:solidFill>
              <a:srgbClr val="B8A0D8"/>
            </a:solidFill>
            <a:prstDash val="solid"/>
          </a:ln>
          <a:effectLst>
            <a:outerShdw blurRad="76200" dist="25400" dir="8100000" algn="bl" rotWithShape="0">
              <a:srgbClr val="B8A0D8">
                <a:alpha val="12000"/>
              </a:srgbClr>
            </a:outerShdw>
          </a:effectLst>
        </p:spPr>
      </p:sp>
      <p:sp>
        <p:nvSpPr>
          <p:cNvPr id="26" name="Shape 24"/>
          <p:cNvSpPr/>
          <p:nvPr/>
        </p:nvSpPr>
        <p:spPr>
          <a:xfrm>
            <a:off x="3264408" y="1508760"/>
            <a:ext cx="2761488" cy="384048"/>
          </a:xfrm>
          <a:prstGeom prst="rect">
            <a:avLst/>
          </a:prstGeom>
          <a:solidFill>
            <a:srgbClr val="B8A0D8"/>
          </a:solidFill>
          <a:ln w="12700">
            <a:solidFill>
              <a:srgbClr val="B8A0D8"/>
            </a:solidFill>
            <a:prstDash val="solid"/>
          </a:ln>
        </p:spPr>
      </p:sp>
      <p:sp>
        <p:nvSpPr>
          <p:cNvPr id="27" name="Text 25"/>
          <p:cNvSpPr/>
          <p:nvPr/>
        </p:nvSpPr>
        <p:spPr>
          <a:xfrm>
            <a:off x="3374136" y="1508760"/>
            <a:ext cx="2560320" cy="384048"/>
          </a:xfrm>
          <a:prstGeom prst="rect">
            <a:avLst/>
          </a:prstGeom>
          <a:noFill/>
        </p:spPr>
        <p:txBody>
          <a:bodyPr wrap="square" lIns="0" tIns="0" rIns="0" bIns="0" rtlCol="0" anchor="ctr"/>
          <a:lstStyle/>
          <a:p>
            <a:pPr marL="0" indent="0" algn="l">
              <a:buNone/>
            </a:pPr>
            <a:r>
              <a:rPr lang="en-US" sz="1300" b="1" dirty="0">
                <a:solidFill>
                  <a:srgbClr val="FFFFFF"/>
                </a:solidFill>
              </a:rPr>
              <a:t>💜 Donor Profiles</a:t>
            </a:r>
            <a:endParaRPr lang="en-US" sz="1300" dirty="0"/>
          </a:p>
        </p:txBody>
      </p:sp>
      <p:sp>
        <p:nvSpPr>
          <p:cNvPr id="28" name="Shape 26"/>
          <p:cNvSpPr/>
          <p:nvPr/>
        </p:nvSpPr>
        <p:spPr>
          <a:xfrm>
            <a:off x="3374136" y="1993392"/>
            <a:ext cx="1207008" cy="347472"/>
          </a:xfrm>
          <a:prstGeom prst="rect">
            <a:avLst/>
          </a:prstGeom>
          <a:solidFill>
            <a:srgbClr val="B8A0D8"/>
          </a:solidFill>
          <a:ln w="12700">
            <a:solidFill>
              <a:srgbClr val="B8A0D8"/>
            </a:solidFill>
            <a:prstDash val="solid"/>
          </a:ln>
        </p:spPr>
      </p:sp>
      <p:sp>
        <p:nvSpPr>
          <p:cNvPr id="29" name="Text 27"/>
          <p:cNvSpPr/>
          <p:nvPr/>
        </p:nvSpPr>
        <p:spPr>
          <a:xfrm>
            <a:off x="3374136" y="1993392"/>
            <a:ext cx="1207008" cy="347472"/>
          </a:xfrm>
          <a:prstGeom prst="rect">
            <a:avLst/>
          </a:prstGeom>
          <a:noFill/>
        </p:spPr>
        <p:txBody>
          <a:bodyPr wrap="square" lIns="0" tIns="0" rIns="0" bIns="0" rtlCol="0" anchor="ctr"/>
          <a:lstStyle/>
          <a:p>
            <a:pPr marL="0" indent="0" algn="ctr">
              <a:buNone/>
            </a:pPr>
            <a:r>
              <a:rPr lang="en-US" sz="1100" b="1" dirty="0">
                <a:solidFill>
                  <a:srgbClr val="FFFFFF"/>
                </a:solidFill>
              </a:rPr>
              <a:t>250 rows</a:t>
            </a:r>
            <a:endParaRPr lang="en-US" sz="1100" dirty="0"/>
          </a:p>
        </p:txBody>
      </p:sp>
      <p:sp>
        <p:nvSpPr>
          <p:cNvPr id="30" name="Shape 28"/>
          <p:cNvSpPr/>
          <p:nvPr/>
        </p:nvSpPr>
        <p:spPr>
          <a:xfrm>
            <a:off x="4690872" y="1993392"/>
            <a:ext cx="1207008" cy="347472"/>
          </a:xfrm>
          <a:prstGeom prst="rect">
            <a:avLst/>
          </a:prstGeom>
          <a:solidFill>
            <a:srgbClr val="FFFFFF"/>
          </a:solidFill>
          <a:ln w="12700">
            <a:solidFill>
              <a:srgbClr val="B8A0D8"/>
            </a:solidFill>
            <a:prstDash val="solid"/>
          </a:ln>
        </p:spPr>
      </p:sp>
      <p:sp>
        <p:nvSpPr>
          <p:cNvPr id="31" name="Text 29"/>
          <p:cNvSpPr/>
          <p:nvPr/>
        </p:nvSpPr>
        <p:spPr>
          <a:xfrm>
            <a:off x="4690872" y="1993392"/>
            <a:ext cx="1207008" cy="347472"/>
          </a:xfrm>
          <a:prstGeom prst="rect">
            <a:avLst/>
          </a:prstGeom>
          <a:noFill/>
        </p:spPr>
        <p:txBody>
          <a:bodyPr wrap="square" lIns="0" tIns="0" rIns="0" bIns="0" rtlCol="0" anchor="ctr"/>
          <a:lstStyle/>
          <a:p>
            <a:pPr marL="0" indent="0" algn="ctr">
              <a:buNone/>
            </a:pPr>
            <a:r>
              <a:rPr lang="en-US" sz="1100" b="1" dirty="0">
                <a:solidFill>
                  <a:srgbClr val="B8A0D8"/>
                </a:solidFill>
              </a:rPr>
              <a:t>19 columns</a:t>
            </a:r>
            <a:endParaRPr lang="en-US" sz="1100" dirty="0"/>
          </a:p>
        </p:txBody>
      </p:sp>
      <p:sp>
        <p:nvSpPr>
          <p:cNvPr id="32" name="Shape 30"/>
          <p:cNvSpPr/>
          <p:nvPr/>
        </p:nvSpPr>
        <p:spPr>
          <a:xfrm>
            <a:off x="3429000" y="2578608"/>
            <a:ext cx="82296" cy="82296"/>
          </a:xfrm>
          <a:prstGeom prst="ellipse">
            <a:avLst/>
          </a:prstGeom>
          <a:solidFill>
            <a:srgbClr val="B8A0D8"/>
          </a:solidFill>
          <a:ln w="12700">
            <a:solidFill>
              <a:srgbClr val="B8A0D8"/>
            </a:solidFill>
            <a:prstDash val="solid"/>
          </a:ln>
        </p:spPr>
      </p:sp>
      <p:sp>
        <p:nvSpPr>
          <p:cNvPr id="33" name="Text 31"/>
          <p:cNvSpPr/>
          <p:nvPr/>
        </p:nvSpPr>
        <p:spPr>
          <a:xfrm>
            <a:off x="3575304" y="2450592"/>
            <a:ext cx="2359152" cy="347472"/>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Categorical: Donor Type (Individual/Corporate/NGO)</a:t>
            </a:r>
            <a:endParaRPr lang="en-US" sz="950" dirty="0"/>
          </a:p>
        </p:txBody>
      </p:sp>
      <p:sp>
        <p:nvSpPr>
          <p:cNvPr id="34" name="Shape 32"/>
          <p:cNvSpPr/>
          <p:nvPr/>
        </p:nvSpPr>
        <p:spPr>
          <a:xfrm>
            <a:off x="3429000" y="2990088"/>
            <a:ext cx="82296" cy="82296"/>
          </a:xfrm>
          <a:prstGeom prst="ellipse">
            <a:avLst/>
          </a:prstGeom>
          <a:solidFill>
            <a:srgbClr val="B8A0D8"/>
          </a:solidFill>
          <a:ln w="12700">
            <a:solidFill>
              <a:srgbClr val="B8A0D8"/>
            </a:solidFill>
            <a:prstDash val="solid"/>
          </a:ln>
        </p:spPr>
      </p:sp>
      <p:sp>
        <p:nvSpPr>
          <p:cNvPr id="35" name="Text 33"/>
          <p:cNvSpPr/>
          <p:nvPr/>
        </p:nvSpPr>
        <p:spPr>
          <a:xfrm>
            <a:off x="3575304" y="2862072"/>
            <a:ext cx="2359152" cy="347472"/>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Numeric: Donation Amount JD, Capacity Score</a:t>
            </a:r>
            <a:endParaRPr lang="en-US" sz="950" dirty="0"/>
          </a:p>
        </p:txBody>
      </p:sp>
      <p:sp>
        <p:nvSpPr>
          <p:cNvPr id="36" name="Shape 34"/>
          <p:cNvSpPr/>
          <p:nvPr/>
        </p:nvSpPr>
        <p:spPr>
          <a:xfrm>
            <a:off x="3429000" y="3401568"/>
            <a:ext cx="82296" cy="82296"/>
          </a:xfrm>
          <a:prstGeom prst="ellipse">
            <a:avLst/>
          </a:prstGeom>
          <a:solidFill>
            <a:srgbClr val="B8A0D8"/>
          </a:solidFill>
          <a:ln w="12700">
            <a:solidFill>
              <a:srgbClr val="B8A0D8"/>
            </a:solidFill>
            <a:prstDash val="solid"/>
          </a:ln>
        </p:spPr>
      </p:sp>
      <p:sp>
        <p:nvSpPr>
          <p:cNvPr id="37" name="Text 35"/>
          <p:cNvSpPr/>
          <p:nvPr/>
        </p:nvSpPr>
        <p:spPr>
          <a:xfrm>
            <a:off x="3575304" y="3273552"/>
            <a:ext cx="2359152" cy="347472"/>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Binary: Zakat-Only Flag, Anonymous Flag</a:t>
            </a:r>
            <a:endParaRPr lang="en-US" sz="950" dirty="0"/>
          </a:p>
        </p:txBody>
      </p:sp>
      <p:sp>
        <p:nvSpPr>
          <p:cNvPr id="38" name="Shape 36"/>
          <p:cNvSpPr/>
          <p:nvPr/>
        </p:nvSpPr>
        <p:spPr>
          <a:xfrm>
            <a:off x="3429000" y="3813048"/>
            <a:ext cx="82296" cy="82296"/>
          </a:xfrm>
          <a:prstGeom prst="ellipse">
            <a:avLst/>
          </a:prstGeom>
          <a:solidFill>
            <a:srgbClr val="B8A0D8"/>
          </a:solidFill>
          <a:ln w="12700">
            <a:solidFill>
              <a:srgbClr val="B8A0D8"/>
            </a:solidFill>
            <a:prstDash val="solid"/>
          </a:ln>
        </p:spPr>
      </p:sp>
      <p:sp>
        <p:nvSpPr>
          <p:cNvPr id="39" name="Text 37"/>
          <p:cNvSpPr/>
          <p:nvPr/>
        </p:nvSpPr>
        <p:spPr>
          <a:xfrm>
            <a:off x="3575304" y="3685032"/>
            <a:ext cx="2359152" cy="347472"/>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Text: Preferred Fund Type, Contact Information</a:t>
            </a:r>
            <a:endParaRPr lang="en-US" sz="950" dirty="0"/>
          </a:p>
        </p:txBody>
      </p:sp>
      <p:sp>
        <p:nvSpPr>
          <p:cNvPr id="40" name="Shape 38"/>
          <p:cNvSpPr/>
          <p:nvPr/>
        </p:nvSpPr>
        <p:spPr>
          <a:xfrm>
            <a:off x="6208776" y="1508760"/>
            <a:ext cx="2761488" cy="3182112"/>
          </a:xfrm>
          <a:prstGeom prst="rect">
            <a:avLst/>
          </a:prstGeom>
          <a:solidFill>
            <a:srgbClr val="E8F8F0"/>
          </a:solidFill>
          <a:ln w="12700">
            <a:solidFill>
              <a:srgbClr val="A8D8C0"/>
            </a:solidFill>
            <a:prstDash val="solid"/>
          </a:ln>
          <a:effectLst>
            <a:outerShdw blurRad="76200" dist="25400" dir="8100000" algn="bl" rotWithShape="0">
              <a:srgbClr val="B8A0D8">
                <a:alpha val="12000"/>
              </a:srgbClr>
            </a:outerShdw>
          </a:effectLst>
        </p:spPr>
      </p:sp>
      <p:sp>
        <p:nvSpPr>
          <p:cNvPr id="41" name="Shape 39"/>
          <p:cNvSpPr/>
          <p:nvPr/>
        </p:nvSpPr>
        <p:spPr>
          <a:xfrm>
            <a:off x="6208776" y="1508760"/>
            <a:ext cx="2761488" cy="384048"/>
          </a:xfrm>
          <a:prstGeom prst="rect">
            <a:avLst/>
          </a:prstGeom>
          <a:solidFill>
            <a:srgbClr val="A8D8C0"/>
          </a:solidFill>
          <a:ln w="12700">
            <a:solidFill>
              <a:srgbClr val="A8D8C0"/>
            </a:solidFill>
            <a:prstDash val="solid"/>
          </a:ln>
        </p:spPr>
      </p:sp>
      <p:sp>
        <p:nvSpPr>
          <p:cNvPr id="42" name="Text 40"/>
          <p:cNvSpPr/>
          <p:nvPr/>
        </p:nvSpPr>
        <p:spPr>
          <a:xfrm>
            <a:off x="6318504" y="1508760"/>
            <a:ext cx="2560320" cy="384048"/>
          </a:xfrm>
          <a:prstGeom prst="rect">
            <a:avLst/>
          </a:prstGeom>
          <a:noFill/>
        </p:spPr>
        <p:txBody>
          <a:bodyPr wrap="square" lIns="0" tIns="0" rIns="0" bIns="0" rtlCol="0" anchor="ctr"/>
          <a:lstStyle/>
          <a:p>
            <a:pPr marL="0" indent="0" algn="l">
              <a:buNone/>
            </a:pPr>
            <a:r>
              <a:rPr lang="en-US" sz="1300" b="1" dirty="0">
                <a:solidFill>
                  <a:srgbClr val="FFFFFF"/>
                </a:solidFill>
              </a:rPr>
              <a:t>🌿 Match History</a:t>
            </a:r>
            <a:endParaRPr lang="en-US" sz="1300" dirty="0"/>
          </a:p>
        </p:txBody>
      </p:sp>
      <p:sp>
        <p:nvSpPr>
          <p:cNvPr id="43" name="Shape 41"/>
          <p:cNvSpPr/>
          <p:nvPr/>
        </p:nvSpPr>
        <p:spPr>
          <a:xfrm>
            <a:off x="6318504" y="1993392"/>
            <a:ext cx="1207008" cy="347472"/>
          </a:xfrm>
          <a:prstGeom prst="rect">
            <a:avLst/>
          </a:prstGeom>
          <a:solidFill>
            <a:srgbClr val="A8D8C0"/>
          </a:solidFill>
          <a:ln w="12700">
            <a:solidFill>
              <a:srgbClr val="A8D8C0"/>
            </a:solidFill>
            <a:prstDash val="solid"/>
          </a:ln>
        </p:spPr>
      </p:sp>
      <p:sp>
        <p:nvSpPr>
          <p:cNvPr id="44" name="Text 42"/>
          <p:cNvSpPr/>
          <p:nvPr/>
        </p:nvSpPr>
        <p:spPr>
          <a:xfrm>
            <a:off x="6318504" y="1993392"/>
            <a:ext cx="1207008" cy="347472"/>
          </a:xfrm>
          <a:prstGeom prst="rect">
            <a:avLst/>
          </a:prstGeom>
          <a:noFill/>
        </p:spPr>
        <p:txBody>
          <a:bodyPr wrap="square" lIns="0" tIns="0" rIns="0" bIns="0" rtlCol="0" anchor="ctr"/>
          <a:lstStyle/>
          <a:p>
            <a:pPr marL="0" indent="0" algn="ctr">
              <a:buNone/>
            </a:pPr>
            <a:r>
              <a:rPr lang="en-US" sz="1100" b="1" dirty="0">
                <a:solidFill>
                  <a:srgbClr val="FFFFFF"/>
                </a:solidFill>
              </a:rPr>
              <a:t>378 rows</a:t>
            </a:r>
            <a:endParaRPr lang="en-US" sz="1100" dirty="0"/>
          </a:p>
        </p:txBody>
      </p:sp>
      <p:sp>
        <p:nvSpPr>
          <p:cNvPr id="45" name="Shape 43"/>
          <p:cNvSpPr/>
          <p:nvPr/>
        </p:nvSpPr>
        <p:spPr>
          <a:xfrm>
            <a:off x="7635240" y="1993392"/>
            <a:ext cx="1207008" cy="347472"/>
          </a:xfrm>
          <a:prstGeom prst="rect">
            <a:avLst/>
          </a:prstGeom>
          <a:solidFill>
            <a:srgbClr val="FFFFFF"/>
          </a:solidFill>
          <a:ln w="12700">
            <a:solidFill>
              <a:srgbClr val="A8D8C0"/>
            </a:solidFill>
            <a:prstDash val="solid"/>
          </a:ln>
        </p:spPr>
      </p:sp>
      <p:sp>
        <p:nvSpPr>
          <p:cNvPr id="46" name="Text 44"/>
          <p:cNvSpPr/>
          <p:nvPr/>
        </p:nvSpPr>
        <p:spPr>
          <a:xfrm>
            <a:off x="7635240" y="1993392"/>
            <a:ext cx="1207008" cy="347472"/>
          </a:xfrm>
          <a:prstGeom prst="rect">
            <a:avLst/>
          </a:prstGeom>
          <a:noFill/>
        </p:spPr>
        <p:txBody>
          <a:bodyPr wrap="square" lIns="0" tIns="0" rIns="0" bIns="0" rtlCol="0" anchor="ctr"/>
          <a:lstStyle/>
          <a:p>
            <a:pPr marL="0" indent="0" algn="ctr">
              <a:buNone/>
            </a:pPr>
            <a:r>
              <a:rPr lang="en-US" sz="1100" b="1" dirty="0">
                <a:solidFill>
                  <a:srgbClr val="A8D8C0"/>
                </a:solidFill>
              </a:rPr>
              <a:t>10 columns</a:t>
            </a:r>
            <a:endParaRPr lang="en-US" sz="1100" dirty="0"/>
          </a:p>
        </p:txBody>
      </p:sp>
      <p:sp>
        <p:nvSpPr>
          <p:cNvPr id="47" name="Shape 45"/>
          <p:cNvSpPr/>
          <p:nvPr/>
        </p:nvSpPr>
        <p:spPr>
          <a:xfrm>
            <a:off x="6373368" y="2578608"/>
            <a:ext cx="82296" cy="82296"/>
          </a:xfrm>
          <a:prstGeom prst="ellipse">
            <a:avLst/>
          </a:prstGeom>
          <a:solidFill>
            <a:srgbClr val="A8D8C0"/>
          </a:solidFill>
          <a:ln w="12700">
            <a:solidFill>
              <a:srgbClr val="A8D8C0"/>
            </a:solidFill>
            <a:prstDash val="solid"/>
          </a:ln>
        </p:spPr>
      </p:sp>
      <p:sp>
        <p:nvSpPr>
          <p:cNvPr id="48" name="Text 46"/>
          <p:cNvSpPr/>
          <p:nvPr/>
        </p:nvSpPr>
        <p:spPr>
          <a:xfrm>
            <a:off x="6519672" y="2450592"/>
            <a:ext cx="2359152" cy="347472"/>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Identifiers: Match ID, Patient ID, Donor ID</a:t>
            </a:r>
            <a:endParaRPr lang="en-US" sz="950" dirty="0"/>
          </a:p>
        </p:txBody>
      </p:sp>
      <p:sp>
        <p:nvSpPr>
          <p:cNvPr id="49" name="Shape 47"/>
          <p:cNvSpPr/>
          <p:nvPr/>
        </p:nvSpPr>
        <p:spPr>
          <a:xfrm>
            <a:off x="6373368" y="2990088"/>
            <a:ext cx="82296" cy="82296"/>
          </a:xfrm>
          <a:prstGeom prst="ellipse">
            <a:avLst/>
          </a:prstGeom>
          <a:solidFill>
            <a:srgbClr val="A8D8C0"/>
          </a:solidFill>
          <a:ln w="12700">
            <a:solidFill>
              <a:srgbClr val="A8D8C0"/>
            </a:solidFill>
            <a:prstDash val="solid"/>
          </a:ln>
        </p:spPr>
      </p:sp>
      <p:sp>
        <p:nvSpPr>
          <p:cNvPr id="50" name="Text 48"/>
          <p:cNvSpPr/>
          <p:nvPr/>
        </p:nvSpPr>
        <p:spPr>
          <a:xfrm>
            <a:off x="6519672" y="2862072"/>
            <a:ext cx="2359152" cy="347472"/>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Categorical: Fund Used, Outcome (4 categories)</a:t>
            </a:r>
            <a:endParaRPr lang="en-US" sz="950" dirty="0"/>
          </a:p>
        </p:txBody>
      </p:sp>
      <p:sp>
        <p:nvSpPr>
          <p:cNvPr id="51" name="Shape 49"/>
          <p:cNvSpPr/>
          <p:nvPr/>
        </p:nvSpPr>
        <p:spPr>
          <a:xfrm>
            <a:off x="6373368" y="3401568"/>
            <a:ext cx="82296" cy="82296"/>
          </a:xfrm>
          <a:prstGeom prst="ellipse">
            <a:avLst/>
          </a:prstGeom>
          <a:solidFill>
            <a:srgbClr val="A8D8C0"/>
          </a:solidFill>
          <a:ln w="12700">
            <a:solidFill>
              <a:srgbClr val="A8D8C0"/>
            </a:solidFill>
            <a:prstDash val="solid"/>
          </a:ln>
        </p:spPr>
      </p:sp>
      <p:sp>
        <p:nvSpPr>
          <p:cNvPr id="52" name="Text 50"/>
          <p:cNvSpPr/>
          <p:nvPr/>
        </p:nvSpPr>
        <p:spPr>
          <a:xfrm>
            <a:off x="6519672" y="3273552"/>
            <a:ext cx="2359152" cy="347472"/>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Numeric: Amount Given JD</a:t>
            </a:r>
            <a:endParaRPr lang="en-US" sz="950" dirty="0"/>
          </a:p>
        </p:txBody>
      </p:sp>
      <p:sp>
        <p:nvSpPr>
          <p:cNvPr id="53" name="Shape 51"/>
          <p:cNvSpPr/>
          <p:nvPr/>
        </p:nvSpPr>
        <p:spPr>
          <a:xfrm>
            <a:off x="6373368" y="3813048"/>
            <a:ext cx="82296" cy="82296"/>
          </a:xfrm>
          <a:prstGeom prst="ellipse">
            <a:avLst/>
          </a:prstGeom>
          <a:solidFill>
            <a:srgbClr val="A8D8C0"/>
          </a:solidFill>
          <a:ln w="12700">
            <a:solidFill>
              <a:srgbClr val="A8D8C0"/>
            </a:solidFill>
            <a:prstDash val="solid"/>
          </a:ln>
        </p:spPr>
      </p:sp>
      <p:sp>
        <p:nvSpPr>
          <p:cNvPr id="54" name="Text 52"/>
          <p:cNvSpPr/>
          <p:nvPr/>
        </p:nvSpPr>
        <p:spPr>
          <a:xfrm>
            <a:off x="6519672" y="3685032"/>
            <a:ext cx="2359152" cy="347472"/>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Date: Match Date (Ramadan seasonality analysis)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A1A35"/>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A0395A"/>
          </a:solidFill>
          <a:ln w="12700">
            <a:solidFill>
              <a:srgbClr val="A0395A"/>
            </a:solidFill>
            <a:prstDash val="solid"/>
          </a:ln>
        </p:spPr>
      </p:sp>
      <p:sp>
        <p:nvSpPr>
          <p:cNvPr id="3" name="Text 1"/>
          <p:cNvSpPr/>
          <p:nvPr/>
        </p:nvSpPr>
        <p:spPr>
          <a:xfrm>
            <a:off x="274320" y="4892040"/>
            <a:ext cx="8595360" cy="251460"/>
          </a:xfrm>
          <a:prstGeom prst="rect">
            <a:avLst/>
          </a:prstGeom>
          <a:noFill/>
        </p:spPr>
        <p:txBody>
          <a:bodyPr wrap="square" lIns="0" tIns="0" rIns="0" bIns="0" rtlCol="0" anchor="ctr"/>
          <a:lstStyle/>
          <a:p>
            <a:pPr marL="0" indent="0" algn="ctr">
              <a:buNone/>
            </a:pPr>
            <a:r>
              <a:rPr lang="en-US" sz="850" dirty="0">
                <a:solidFill>
                  <a:srgbClr val="F2BBCC"/>
                </a:solidFill>
                <a:latin typeface="Calibri" panose="020F0502020204030204" pitchFamily="34" charset="0"/>
                <a:ea typeface="Calibri" panose="020F0502020204030204" pitchFamily="34" charset="-122"/>
                <a:cs typeface="Calibri" panose="020F0502020204030204" pitchFamily="34" charset="-120"/>
              </a:rPr>
              <a:t>KHCC AidConnect  ·  Graduation Project Defense  ·  Mallak Abu Sada &amp; Maya Abu Aslahamat  ·  2025/2026</a:t>
            </a:r>
            <a:endParaRPr lang="en-US" sz="850" dirty="0"/>
          </a:p>
        </p:txBody>
      </p:sp>
      <p:sp>
        <p:nvSpPr>
          <p:cNvPr id="4" name="Shape 2"/>
          <p:cNvSpPr/>
          <p:nvPr/>
        </p:nvSpPr>
        <p:spPr>
          <a:xfrm>
            <a:off x="7790688" y="256032"/>
            <a:ext cx="1005840" cy="274320"/>
          </a:xfrm>
          <a:prstGeom prst="roundRect">
            <a:avLst>
              <a:gd name="adj" fmla="val 20000"/>
            </a:avLst>
          </a:prstGeom>
          <a:solidFill>
            <a:srgbClr val="E8855A"/>
          </a:solidFill>
          <a:ln w="12700">
            <a:solidFill>
              <a:srgbClr val="E8855A"/>
            </a:solidFill>
            <a:prstDash val="solid"/>
          </a:ln>
        </p:spPr>
      </p:sp>
      <p:sp>
        <p:nvSpPr>
          <p:cNvPr id="5" name="Text 3"/>
          <p:cNvSpPr/>
          <p:nvPr/>
        </p:nvSpPr>
        <p:spPr>
          <a:xfrm>
            <a:off x="7790688" y="256032"/>
            <a:ext cx="1005840" cy="274320"/>
          </a:xfrm>
          <a:prstGeom prst="rect">
            <a:avLst/>
          </a:prstGeom>
          <a:noFill/>
        </p:spPr>
        <p:txBody>
          <a:bodyPr wrap="square" lIns="0" tIns="0" rIns="0" bIns="0" rtlCol="0" anchor="ctr"/>
          <a:lstStyle/>
          <a:p>
            <a:pPr marL="0" indent="0" algn="ctr">
              <a:buNone/>
            </a:pPr>
            <a:r>
              <a:rPr lang="en-US" sz="850" b="1" kern="0" spc="50" dirty="0">
                <a:solidFill>
                  <a:srgbClr val="FFFFFF"/>
                </a:solidFill>
              </a:rPr>
              <a:t>SLIDE 7 / 20</a:t>
            </a:r>
            <a:endParaRPr lang="en-US" sz="850" dirty="0"/>
          </a:p>
        </p:txBody>
      </p:sp>
      <p:sp>
        <p:nvSpPr>
          <p:cNvPr id="6" name="Shape 4"/>
          <p:cNvSpPr/>
          <p:nvPr/>
        </p:nvSpPr>
        <p:spPr>
          <a:xfrm>
            <a:off x="0" y="0"/>
            <a:ext cx="9144000" cy="54864"/>
          </a:xfrm>
          <a:prstGeom prst="rect">
            <a:avLst/>
          </a:prstGeom>
          <a:solidFill>
            <a:srgbClr val="A8D8C0"/>
          </a:solidFill>
          <a:ln w="12700">
            <a:solidFill>
              <a:srgbClr val="A8D8C0"/>
            </a:solidFill>
            <a:prstDash val="solid"/>
          </a:ln>
        </p:spPr>
      </p:sp>
      <p:sp>
        <p:nvSpPr>
          <p:cNvPr id="7" name="Text 5"/>
          <p:cNvSpPr/>
          <p:nvPr/>
        </p:nvSpPr>
        <p:spPr>
          <a:xfrm>
            <a:off x="411480" y="164592"/>
            <a:ext cx="8229600" cy="594360"/>
          </a:xfrm>
          <a:prstGeom prst="rect">
            <a:avLst/>
          </a:prstGeom>
          <a:noFill/>
        </p:spPr>
        <p:txBody>
          <a:bodyPr wrap="square" lIns="0" tIns="0" rIns="0" bIns="0" rtlCol="0" anchor="ctr"/>
          <a:lstStyle/>
          <a:p>
            <a:pPr marL="0" indent="0" algn="l">
              <a:buNone/>
            </a:pPr>
            <a:r>
              <a:rPr lang="en-US" sz="2800" b="1" dirty="0">
                <a:solidFill>
                  <a:srgbClr val="FFFFFF"/>
                </a:solidFill>
                <a:latin typeface="Georgia" panose="02040502050405020303" pitchFamily="34" charset="0"/>
                <a:ea typeface="Georgia" panose="02040502050405020303" pitchFamily="34" charset="-122"/>
                <a:cs typeface="Georgia" panose="02040502050405020303" pitchFamily="34" charset="-120"/>
              </a:rPr>
              <a:t>Data Issues &amp; Challenges</a:t>
            </a:r>
            <a:endParaRPr lang="en-US" sz="2800" dirty="0"/>
          </a:p>
        </p:txBody>
      </p:sp>
      <p:sp>
        <p:nvSpPr>
          <p:cNvPr id="8" name="Text 6"/>
          <p:cNvSpPr/>
          <p:nvPr/>
        </p:nvSpPr>
        <p:spPr>
          <a:xfrm>
            <a:off x="411480" y="786384"/>
            <a:ext cx="7772400" cy="256032"/>
          </a:xfrm>
          <a:prstGeom prst="rect">
            <a:avLst/>
          </a:prstGeom>
          <a:noFill/>
        </p:spPr>
        <p:txBody>
          <a:bodyPr wrap="square" lIns="0" tIns="0" rIns="0" bIns="0" rtlCol="0" anchor="ctr"/>
          <a:lstStyle/>
          <a:p>
            <a:pPr marL="0" indent="0" algn="l">
              <a:buNone/>
            </a:pPr>
            <a:r>
              <a:rPr lang="en-US" sz="1150" dirty="0">
                <a:solidFill>
                  <a:srgbClr val="E8F8F0"/>
                </a:solidFill>
                <a:latin typeface="Calibri" panose="020F0502020204030204" pitchFamily="34" charset="0"/>
                <a:ea typeface="Calibri" panose="020F0502020204030204" pitchFamily="34" charset="-122"/>
                <a:cs typeface="Calibri" panose="020F0502020204030204" pitchFamily="34" charset="-120"/>
              </a:rPr>
              <a:t>Four challenges identified and resolved before model training</a:t>
            </a:r>
            <a:endParaRPr lang="en-US" sz="1150" dirty="0"/>
          </a:p>
        </p:txBody>
      </p:sp>
      <p:sp>
        <p:nvSpPr>
          <p:cNvPr id="9" name="Shape 7"/>
          <p:cNvSpPr/>
          <p:nvPr/>
        </p:nvSpPr>
        <p:spPr>
          <a:xfrm>
            <a:off x="320040" y="1115568"/>
            <a:ext cx="4224528" cy="1783080"/>
          </a:xfrm>
          <a:prstGeom prst="rect">
            <a:avLst/>
          </a:prstGeom>
          <a:solidFill>
            <a:srgbClr val="FFFFFF">
              <a:alpha val="10000"/>
            </a:srgbClr>
          </a:solidFill>
          <a:ln w="12700">
            <a:solidFill>
              <a:srgbClr val="E8A0BF"/>
            </a:solidFill>
            <a:prstDash val="solid"/>
          </a:ln>
        </p:spPr>
      </p:sp>
      <p:sp>
        <p:nvSpPr>
          <p:cNvPr id="10" name="Shape 8"/>
          <p:cNvSpPr/>
          <p:nvPr/>
        </p:nvSpPr>
        <p:spPr>
          <a:xfrm>
            <a:off x="320040" y="1115568"/>
            <a:ext cx="4224528" cy="347472"/>
          </a:xfrm>
          <a:prstGeom prst="rect">
            <a:avLst/>
          </a:prstGeom>
          <a:solidFill>
            <a:srgbClr val="E8A0BF"/>
          </a:solidFill>
          <a:ln w="12700">
            <a:solidFill>
              <a:srgbClr val="E8A0BF"/>
            </a:solidFill>
            <a:prstDash val="solid"/>
          </a:ln>
        </p:spPr>
      </p:sp>
      <p:sp>
        <p:nvSpPr>
          <p:cNvPr id="11" name="Text 9"/>
          <p:cNvSpPr/>
          <p:nvPr/>
        </p:nvSpPr>
        <p:spPr>
          <a:xfrm>
            <a:off x="429768" y="1115568"/>
            <a:ext cx="4005072" cy="347472"/>
          </a:xfrm>
          <a:prstGeom prst="rect">
            <a:avLst/>
          </a:prstGeom>
          <a:noFill/>
        </p:spPr>
        <p:txBody>
          <a:bodyPr wrap="square" lIns="0" tIns="0" rIns="0" bIns="0" rtlCol="0" anchor="ctr"/>
          <a:lstStyle/>
          <a:p>
            <a:pPr marL="0" indent="0" algn="l">
              <a:buNone/>
            </a:pPr>
            <a:r>
              <a:rPr lang="en-US" sz="1100" b="1" dirty="0">
                <a:solidFill>
                  <a:srgbClr val="FFFFFF"/>
                </a:solidFill>
              </a:rPr>
              <a:t>⚠  Missing Values — 3 Columns Affected</a:t>
            </a:r>
            <a:endParaRPr lang="en-US" sz="1100" dirty="0"/>
          </a:p>
        </p:txBody>
      </p:sp>
      <p:sp>
        <p:nvSpPr>
          <p:cNvPr id="12" name="Text 10"/>
          <p:cNvSpPr/>
          <p:nvPr/>
        </p:nvSpPr>
        <p:spPr>
          <a:xfrm>
            <a:off x="429768" y="1517904"/>
            <a:ext cx="1901952" cy="228600"/>
          </a:xfrm>
          <a:prstGeom prst="rect">
            <a:avLst/>
          </a:prstGeom>
          <a:noFill/>
        </p:spPr>
        <p:txBody>
          <a:bodyPr wrap="square" lIns="0" tIns="0" rIns="0" bIns="0" rtlCol="0" anchor="ctr"/>
          <a:lstStyle/>
          <a:p>
            <a:pPr marL="0" indent="0" algn="l">
              <a:buNone/>
            </a:pPr>
            <a:r>
              <a:rPr lang="en-US" sz="950" b="1" dirty="0">
                <a:solidFill>
                  <a:srgbClr val="E8A0BF"/>
                </a:solidFill>
              </a:rPr>
              <a:t>Problem:</a:t>
            </a:r>
            <a:endParaRPr lang="en-US" sz="950" dirty="0"/>
          </a:p>
        </p:txBody>
      </p:sp>
      <p:sp>
        <p:nvSpPr>
          <p:cNvPr id="13" name="Text 11"/>
          <p:cNvSpPr/>
          <p:nvPr/>
        </p:nvSpPr>
        <p:spPr>
          <a:xfrm>
            <a:off x="429768" y="1737360"/>
            <a:ext cx="1920240" cy="1005840"/>
          </a:xfrm>
          <a:prstGeom prst="rect">
            <a:avLst/>
          </a:prstGeom>
          <a:noFill/>
        </p:spPr>
        <p:txBody>
          <a:bodyPr wrap="square" lIns="0" tIns="0" rIns="0" bIns="0" rtlCol="0" anchor="ctr"/>
          <a:lstStyle/>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Equipment_Needed: 46 nulls (41.4%)</a:t>
            </a:r>
            <a:endParaRPr lang="en-US" sz="950" dirty="0"/>
          </a:p>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Psychosocial_Support: 46 nulls (41.4%)</a:t>
            </a:r>
            <a:endParaRPr lang="en-US" sz="950" dirty="0"/>
          </a:p>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Donor Gender: 100 nulls (40%)</a:t>
            </a:r>
            <a:endParaRPr lang="en-US" sz="950" dirty="0"/>
          </a:p>
        </p:txBody>
      </p:sp>
      <p:sp>
        <p:nvSpPr>
          <p:cNvPr id="14" name="Shape 12"/>
          <p:cNvSpPr/>
          <p:nvPr/>
        </p:nvSpPr>
        <p:spPr>
          <a:xfrm>
            <a:off x="2514600" y="1499616"/>
            <a:ext cx="36576" cy="1298448"/>
          </a:xfrm>
          <a:prstGeom prst="rect">
            <a:avLst/>
          </a:prstGeom>
          <a:solidFill>
            <a:srgbClr val="E8A0BF"/>
          </a:solidFill>
          <a:ln w="12700">
            <a:solidFill>
              <a:srgbClr val="E8A0BF"/>
            </a:solidFill>
            <a:prstDash val="solid"/>
          </a:ln>
        </p:spPr>
      </p:sp>
      <p:sp>
        <p:nvSpPr>
          <p:cNvPr id="15" name="Text 13"/>
          <p:cNvSpPr/>
          <p:nvPr/>
        </p:nvSpPr>
        <p:spPr>
          <a:xfrm>
            <a:off x="2624328" y="1517904"/>
            <a:ext cx="1828800" cy="228600"/>
          </a:xfrm>
          <a:prstGeom prst="rect">
            <a:avLst/>
          </a:prstGeom>
          <a:noFill/>
        </p:spPr>
        <p:txBody>
          <a:bodyPr wrap="square" lIns="0" tIns="0" rIns="0" bIns="0" rtlCol="0" anchor="ctr"/>
          <a:lstStyle/>
          <a:p>
            <a:pPr marL="0" indent="0" algn="l">
              <a:buNone/>
            </a:pPr>
            <a:r>
              <a:rPr lang="en-US" sz="950" b="1" dirty="0">
                <a:solidFill>
                  <a:srgbClr val="A8D8C0"/>
                </a:solidFill>
              </a:rPr>
              <a:t>Resolution:</a:t>
            </a:r>
            <a:endParaRPr lang="en-US" sz="950" dirty="0"/>
          </a:p>
        </p:txBody>
      </p:sp>
      <p:sp>
        <p:nvSpPr>
          <p:cNvPr id="16" name="Text 14"/>
          <p:cNvSpPr/>
          <p:nvPr/>
        </p:nvSpPr>
        <p:spPr>
          <a:xfrm>
            <a:off x="2624328" y="1737360"/>
            <a:ext cx="1810512" cy="1005840"/>
          </a:xfrm>
          <a:prstGeom prst="rect">
            <a:avLst/>
          </a:prstGeom>
          <a:noFill/>
        </p:spPr>
        <p:txBody>
          <a:bodyPr wrap="square" lIns="0" tIns="0" rIns="0" bIns="0" rtlCol="0" anchor="ctr"/>
          <a:lstStyle/>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Mode imputation for categorical</a:t>
            </a:r>
            <a:endParaRPr lang="en-US" sz="950" dirty="0"/>
          </a:p>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Median imputation for numeric</a:t>
            </a:r>
            <a:endParaRPr lang="en-US" sz="950" dirty="0"/>
          </a:p>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Result: 0 missing values</a:t>
            </a:r>
            <a:endParaRPr lang="en-US" sz="950" dirty="0"/>
          </a:p>
        </p:txBody>
      </p:sp>
      <p:sp>
        <p:nvSpPr>
          <p:cNvPr id="17" name="Shape 15"/>
          <p:cNvSpPr/>
          <p:nvPr/>
        </p:nvSpPr>
        <p:spPr>
          <a:xfrm>
            <a:off x="4736592" y="1115568"/>
            <a:ext cx="4224528" cy="1783080"/>
          </a:xfrm>
          <a:prstGeom prst="rect">
            <a:avLst/>
          </a:prstGeom>
          <a:solidFill>
            <a:srgbClr val="FFFFFF">
              <a:alpha val="10000"/>
            </a:srgbClr>
          </a:solidFill>
          <a:ln w="12700">
            <a:solidFill>
              <a:srgbClr val="B8A0D8"/>
            </a:solidFill>
            <a:prstDash val="solid"/>
          </a:ln>
        </p:spPr>
      </p:sp>
      <p:sp>
        <p:nvSpPr>
          <p:cNvPr id="18" name="Shape 16"/>
          <p:cNvSpPr/>
          <p:nvPr/>
        </p:nvSpPr>
        <p:spPr>
          <a:xfrm>
            <a:off x="4736592" y="1115568"/>
            <a:ext cx="4224528" cy="347472"/>
          </a:xfrm>
          <a:prstGeom prst="rect">
            <a:avLst/>
          </a:prstGeom>
          <a:solidFill>
            <a:srgbClr val="B8A0D8"/>
          </a:solidFill>
          <a:ln w="12700">
            <a:solidFill>
              <a:srgbClr val="B8A0D8"/>
            </a:solidFill>
            <a:prstDash val="solid"/>
          </a:ln>
        </p:spPr>
      </p:sp>
      <p:sp>
        <p:nvSpPr>
          <p:cNvPr id="19" name="Text 17"/>
          <p:cNvSpPr/>
          <p:nvPr/>
        </p:nvSpPr>
        <p:spPr>
          <a:xfrm>
            <a:off x="4846320" y="1115568"/>
            <a:ext cx="4005072" cy="347472"/>
          </a:xfrm>
          <a:prstGeom prst="rect">
            <a:avLst/>
          </a:prstGeom>
          <a:noFill/>
        </p:spPr>
        <p:txBody>
          <a:bodyPr wrap="square" lIns="0" tIns="0" rIns="0" bIns="0" rtlCol="0" anchor="ctr"/>
          <a:lstStyle/>
          <a:p>
            <a:pPr marL="0" indent="0" algn="l">
              <a:buNone/>
            </a:pPr>
            <a:r>
              <a:rPr lang="en-US" sz="1100" b="1" dirty="0">
                <a:solidFill>
                  <a:srgbClr val="FFFFFF"/>
                </a:solidFill>
              </a:rPr>
              <a:t>⚠  Class Imbalance — Cancer Stage</a:t>
            </a:r>
            <a:endParaRPr lang="en-US" sz="1100" dirty="0"/>
          </a:p>
        </p:txBody>
      </p:sp>
      <p:sp>
        <p:nvSpPr>
          <p:cNvPr id="20" name="Text 18"/>
          <p:cNvSpPr/>
          <p:nvPr/>
        </p:nvSpPr>
        <p:spPr>
          <a:xfrm>
            <a:off x="4846320" y="1517904"/>
            <a:ext cx="1901952" cy="228600"/>
          </a:xfrm>
          <a:prstGeom prst="rect">
            <a:avLst/>
          </a:prstGeom>
          <a:noFill/>
        </p:spPr>
        <p:txBody>
          <a:bodyPr wrap="square" lIns="0" tIns="0" rIns="0" bIns="0" rtlCol="0" anchor="ctr"/>
          <a:lstStyle/>
          <a:p>
            <a:pPr marL="0" indent="0" algn="l">
              <a:buNone/>
            </a:pPr>
            <a:r>
              <a:rPr lang="en-US" sz="950" b="1" dirty="0">
                <a:solidFill>
                  <a:srgbClr val="B8A0D8"/>
                </a:solidFill>
              </a:rPr>
              <a:t>Problem:</a:t>
            </a:r>
            <a:endParaRPr lang="en-US" sz="950" dirty="0"/>
          </a:p>
        </p:txBody>
      </p:sp>
      <p:sp>
        <p:nvSpPr>
          <p:cNvPr id="21" name="Text 19"/>
          <p:cNvSpPr/>
          <p:nvPr/>
        </p:nvSpPr>
        <p:spPr>
          <a:xfrm>
            <a:off x="4846320" y="1737360"/>
            <a:ext cx="1920240" cy="1005840"/>
          </a:xfrm>
          <a:prstGeom prst="rect">
            <a:avLst/>
          </a:prstGeom>
          <a:noFill/>
        </p:spPr>
        <p:txBody>
          <a:bodyPr wrap="square" lIns="0" tIns="0" rIns="0" bIns="0" rtlCol="0" anchor="ctr"/>
          <a:lstStyle/>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Stage I: 17 patients (15.3%)</a:t>
            </a:r>
            <a:endParaRPr lang="en-US" sz="950" dirty="0"/>
          </a:p>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Stage II: 32 patients (28.8%)</a:t>
            </a:r>
            <a:endParaRPr lang="en-US" sz="950" dirty="0"/>
          </a:p>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Stage III: 40 patients (36.0%)</a:t>
            </a:r>
            <a:endParaRPr lang="en-US" sz="950" dirty="0"/>
          </a:p>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Stage IV: 22 patients (19.8%)</a:t>
            </a:r>
            <a:endParaRPr lang="en-US" sz="950" dirty="0"/>
          </a:p>
        </p:txBody>
      </p:sp>
      <p:sp>
        <p:nvSpPr>
          <p:cNvPr id="22" name="Shape 20"/>
          <p:cNvSpPr/>
          <p:nvPr/>
        </p:nvSpPr>
        <p:spPr>
          <a:xfrm>
            <a:off x="6931152" y="1499616"/>
            <a:ext cx="36576" cy="1298448"/>
          </a:xfrm>
          <a:prstGeom prst="rect">
            <a:avLst/>
          </a:prstGeom>
          <a:solidFill>
            <a:srgbClr val="B8A0D8"/>
          </a:solidFill>
          <a:ln w="12700">
            <a:solidFill>
              <a:srgbClr val="B8A0D8"/>
            </a:solidFill>
            <a:prstDash val="solid"/>
          </a:ln>
        </p:spPr>
      </p:sp>
      <p:sp>
        <p:nvSpPr>
          <p:cNvPr id="23" name="Text 21"/>
          <p:cNvSpPr/>
          <p:nvPr/>
        </p:nvSpPr>
        <p:spPr>
          <a:xfrm>
            <a:off x="7040880" y="1517904"/>
            <a:ext cx="1828800" cy="228600"/>
          </a:xfrm>
          <a:prstGeom prst="rect">
            <a:avLst/>
          </a:prstGeom>
          <a:noFill/>
        </p:spPr>
        <p:txBody>
          <a:bodyPr wrap="square" lIns="0" tIns="0" rIns="0" bIns="0" rtlCol="0" anchor="ctr"/>
          <a:lstStyle/>
          <a:p>
            <a:pPr marL="0" indent="0" algn="l">
              <a:buNone/>
            </a:pPr>
            <a:r>
              <a:rPr lang="en-US" sz="950" b="1" dirty="0">
                <a:solidFill>
                  <a:srgbClr val="A8D8C0"/>
                </a:solidFill>
              </a:rPr>
              <a:t>Resolution:</a:t>
            </a:r>
            <a:endParaRPr lang="en-US" sz="950" dirty="0"/>
          </a:p>
        </p:txBody>
      </p:sp>
      <p:sp>
        <p:nvSpPr>
          <p:cNvPr id="24" name="Text 22"/>
          <p:cNvSpPr/>
          <p:nvPr/>
        </p:nvSpPr>
        <p:spPr>
          <a:xfrm>
            <a:off x="7040880" y="1737360"/>
            <a:ext cx="1810512" cy="1005840"/>
          </a:xfrm>
          <a:prstGeom prst="rect">
            <a:avLst/>
          </a:prstGeom>
          <a:noFill/>
        </p:spPr>
        <p:txBody>
          <a:bodyPr wrap="square" lIns="0" tIns="0" rIns="0" bIns="0" rtlCol="0" anchor="ctr"/>
          <a:lstStyle/>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KNN relevance criterion (±1 stage)</a:t>
            </a:r>
            <a:endParaRPr lang="en-US" sz="950" dirty="0"/>
          </a:p>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absorbs imbalance naturally</a:t>
            </a:r>
            <a:endParaRPr lang="en-US" sz="950" dirty="0"/>
          </a:p>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No oversampling required</a:t>
            </a:r>
            <a:endParaRPr lang="en-US" sz="950" dirty="0"/>
          </a:p>
        </p:txBody>
      </p:sp>
      <p:sp>
        <p:nvSpPr>
          <p:cNvPr id="25" name="Shape 23"/>
          <p:cNvSpPr/>
          <p:nvPr/>
        </p:nvSpPr>
        <p:spPr>
          <a:xfrm>
            <a:off x="320040" y="3054096"/>
            <a:ext cx="4224528" cy="1783080"/>
          </a:xfrm>
          <a:prstGeom prst="rect">
            <a:avLst/>
          </a:prstGeom>
          <a:solidFill>
            <a:srgbClr val="FFFFFF">
              <a:alpha val="10000"/>
            </a:srgbClr>
          </a:solidFill>
          <a:ln w="12700">
            <a:solidFill>
              <a:srgbClr val="F5C0A0"/>
            </a:solidFill>
            <a:prstDash val="solid"/>
          </a:ln>
        </p:spPr>
      </p:sp>
      <p:sp>
        <p:nvSpPr>
          <p:cNvPr id="26" name="Shape 24"/>
          <p:cNvSpPr/>
          <p:nvPr/>
        </p:nvSpPr>
        <p:spPr>
          <a:xfrm>
            <a:off x="320040" y="3054096"/>
            <a:ext cx="4224528" cy="347472"/>
          </a:xfrm>
          <a:prstGeom prst="rect">
            <a:avLst/>
          </a:prstGeom>
          <a:solidFill>
            <a:srgbClr val="F5C0A0"/>
          </a:solidFill>
          <a:ln w="12700">
            <a:solidFill>
              <a:srgbClr val="F5C0A0"/>
            </a:solidFill>
            <a:prstDash val="solid"/>
          </a:ln>
        </p:spPr>
      </p:sp>
      <p:sp>
        <p:nvSpPr>
          <p:cNvPr id="27" name="Text 25"/>
          <p:cNvSpPr/>
          <p:nvPr/>
        </p:nvSpPr>
        <p:spPr>
          <a:xfrm>
            <a:off x="429768" y="3054096"/>
            <a:ext cx="4005072" cy="347472"/>
          </a:xfrm>
          <a:prstGeom prst="rect">
            <a:avLst/>
          </a:prstGeom>
          <a:noFill/>
        </p:spPr>
        <p:txBody>
          <a:bodyPr wrap="square" lIns="0" tIns="0" rIns="0" bIns="0" rtlCol="0" anchor="ctr"/>
          <a:lstStyle/>
          <a:p>
            <a:pPr marL="0" indent="0" algn="l">
              <a:buNone/>
            </a:pPr>
            <a:r>
              <a:rPr lang="en-US" sz="1100" b="1" dirty="0">
                <a:solidFill>
                  <a:srgbClr val="FFFFFF"/>
                </a:solidFill>
              </a:rPr>
              <a:t>⚠  Zakat Compliance — Structural Failure</a:t>
            </a:r>
            <a:endParaRPr lang="en-US" sz="1100" dirty="0"/>
          </a:p>
        </p:txBody>
      </p:sp>
      <p:sp>
        <p:nvSpPr>
          <p:cNvPr id="28" name="Text 26"/>
          <p:cNvSpPr/>
          <p:nvPr/>
        </p:nvSpPr>
        <p:spPr>
          <a:xfrm>
            <a:off x="429768" y="3456432"/>
            <a:ext cx="1901952" cy="228600"/>
          </a:xfrm>
          <a:prstGeom prst="rect">
            <a:avLst/>
          </a:prstGeom>
          <a:noFill/>
        </p:spPr>
        <p:txBody>
          <a:bodyPr wrap="square" lIns="0" tIns="0" rIns="0" bIns="0" rtlCol="0" anchor="ctr"/>
          <a:lstStyle/>
          <a:p>
            <a:pPr marL="0" indent="0" algn="l">
              <a:buNone/>
            </a:pPr>
            <a:r>
              <a:rPr lang="en-US" sz="950" b="1" dirty="0">
                <a:solidFill>
                  <a:srgbClr val="F5C0A0"/>
                </a:solidFill>
              </a:rPr>
              <a:t>Problem:</a:t>
            </a:r>
            <a:endParaRPr lang="en-US" sz="950" dirty="0"/>
          </a:p>
        </p:txBody>
      </p:sp>
      <p:sp>
        <p:nvSpPr>
          <p:cNvPr id="29" name="Text 27"/>
          <p:cNvSpPr/>
          <p:nvPr/>
        </p:nvSpPr>
        <p:spPr>
          <a:xfrm>
            <a:off x="429768" y="3675888"/>
            <a:ext cx="1920240" cy="1005840"/>
          </a:xfrm>
          <a:prstGeom prst="rect">
            <a:avLst/>
          </a:prstGeom>
          <a:noFill/>
        </p:spPr>
        <p:txBody>
          <a:bodyPr wrap="square" lIns="0" tIns="0" rIns="0" bIns="0" rtlCol="0" anchor="ctr"/>
          <a:lstStyle/>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Zakat-only donors: 28 registered</a:t>
            </a:r>
            <a:endParaRPr lang="en-US" sz="950" dirty="0"/>
          </a:p>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Zakat transactions: 44 total</a:t>
            </a:r>
            <a:endParaRPr lang="en-US" sz="950" dirty="0"/>
          </a:p>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Violations found: 42 (95.5%)</a:t>
            </a:r>
            <a:endParaRPr lang="en-US" sz="950" dirty="0"/>
          </a:p>
        </p:txBody>
      </p:sp>
      <p:sp>
        <p:nvSpPr>
          <p:cNvPr id="30" name="Shape 28"/>
          <p:cNvSpPr/>
          <p:nvPr/>
        </p:nvSpPr>
        <p:spPr>
          <a:xfrm>
            <a:off x="2514600" y="3438144"/>
            <a:ext cx="36576" cy="1298448"/>
          </a:xfrm>
          <a:prstGeom prst="rect">
            <a:avLst/>
          </a:prstGeom>
          <a:solidFill>
            <a:srgbClr val="F5C0A0"/>
          </a:solidFill>
          <a:ln w="12700">
            <a:solidFill>
              <a:srgbClr val="F5C0A0"/>
            </a:solidFill>
            <a:prstDash val="solid"/>
          </a:ln>
        </p:spPr>
      </p:sp>
      <p:sp>
        <p:nvSpPr>
          <p:cNvPr id="31" name="Text 29"/>
          <p:cNvSpPr/>
          <p:nvPr/>
        </p:nvSpPr>
        <p:spPr>
          <a:xfrm>
            <a:off x="2624328" y="3456432"/>
            <a:ext cx="1828800" cy="228600"/>
          </a:xfrm>
          <a:prstGeom prst="rect">
            <a:avLst/>
          </a:prstGeom>
          <a:noFill/>
        </p:spPr>
        <p:txBody>
          <a:bodyPr wrap="square" lIns="0" tIns="0" rIns="0" bIns="0" rtlCol="0" anchor="ctr"/>
          <a:lstStyle/>
          <a:p>
            <a:pPr marL="0" indent="0" algn="l">
              <a:buNone/>
            </a:pPr>
            <a:r>
              <a:rPr lang="en-US" sz="950" b="1" dirty="0">
                <a:solidFill>
                  <a:srgbClr val="A8D8C0"/>
                </a:solidFill>
              </a:rPr>
              <a:t>Resolution:</a:t>
            </a:r>
            <a:endParaRPr lang="en-US" sz="950" dirty="0"/>
          </a:p>
        </p:txBody>
      </p:sp>
      <p:sp>
        <p:nvSpPr>
          <p:cNvPr id="32" name="Text 30"/>
          <p:cNvSpPr/>
          <p:nvPr/>
        </p:nvSpPr>
        <p:spPr>
          <a:xfrm>
            <a:off x="2624328" y="3675888"/>
            <a:ext cx="1810512" cy="1005840"/>
          </a:xfrm>
          <a:prstGeom prst="rect">
            <a:avLst/>
          </a:prstGeom>
          <a:noFill/>
        </p:spPr>
        <p:txBody>
          <a:bodyPr wrap="square" lIns="0" tIns="0" rIns="0" bIns="0" rtlCol="0" anchor="ctr"/>
          <a:lstStyle/>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Pre-match validation gate built</a:t>
            </a:r>
            <a:endParaRPr lang="en-US" sz="950" dirty="0"/>
          </a:p>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Compliance certificate per transaction</a:t>
            </a:r>
            <a:endParaRPr lang="en-US" sz="950" dirty="0"/>
          </a:p>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Historical violations documented</a:t>
            </a:r>
            <a:endParaRPr lang="en-US" sz="950" dirty="0"/>
          </a:p>
        </p:txBody>
      </p:sp>
      <p:sp>
        <p:nvSpPr>
          <p:cNvPr id="33" name="Shape 31"/>
          <p:cNvSpPr/>
          <p:nvPr/>
        </p:nvSpPr>
        <p:spPr>
          <a:xfrm>
            <a:off x="4736592" y="3054096"/>
            <a:ext cx="4224528" cy="1783080"/>
          </a:xfrm>
          <a:prstGeom prst="rect">
            <a:avLst/>
          </a:prstGeom>
          <a:solidFill>
            <a:srgbClr val="FFFFFF">
              <a:alpha val="10000"/>
            </a:srgbClr>
          </a:solidFill>
          <a:ln w="12700">
            <a:solidFill>
              <a:srgbClr val="A8D8C0"/>
            </a:solidFill>
            <a:prstDash val="solid"/>
          </a:ln>
        </p:spPr>
      </p:sp>
      <p:sp>
        <p:nvSpPr>
          <p:cNvPr id="34" name="Shape 32"/>
          <p:cNvSpPr/>
          <p:nvPr/>
        </p:nvSpPr>
        <p:spPr>
          <a:xfrm>
            <a:off x="4736592" y="3054096"/>
            <a:ext cx="4224528" cy="347472"/>
          </a:xfrm>
          <a:prstGeom prst="rect">
            <a:avLst/>
          </a:prstGeom>
          <a:solidFill>
            <a:srgbClr val="A8D8C0"/>
          </a:solidFill>
          <a:ln w="12700">
            <a:solidFill>
              <a:srgbClr val="A8D8C0"/>
            </a:solidFill>
            <a:prstDash val="solid"/>
          </a:ln>
        </p:spPr>
      </p:sp>
      <p:sp>
        <p:nvSpPr>
          <p:cNvPr id="35" name="Text 33"/>
          <p:cNvSpPr/>
          <p:nvPr/>
        </p:nvSpPr>
        <p:spPr>
          <a:xfrm>
            <a:off x="4846320" y="3054096"/>
            <a:ext cx="4005072" cy="347472"/>
          </a:xfrm>
          <a:prstGeom prst="rect">
            <a:avLst/>
          </a:prstGeom>
          <a:noFill/>
        </p:spPr>
        <p:txBody>
          <a:bodyPr wrap="square" lIns="0" tIns="0" rIns="0" bIns="0" rtlCol="0" anchor="ctr"/>
          <a:lstStyle/>
          <a:p>
            <a:pPr marL="0" indent="0" algn="l">
              <a:buNone/>
            </a:pPr>
            <a:r>
              <a:rPr lang="en-US" sz="1100" b="1" dirty="0">
                <a:solidFill>
                  <a:srgbClr val="FFFFFF"/>
                </a:solidFill>
              </a:rPr>
              <a:t>⚠  Feature Scale Heterogeneity</a:t>
            </a:r>
            <a:endParaRPr lang="en-US" sz="1100" dirty="0"/>
          </a:p>
        </p:txBody>
      </p:sp>
      <p:sp>
        <p:nvSpPr>
          <p:cNvPr id="36" name="Text 34"/>
          <p:cNvSpPr/>
          <p:nvPr/>
        </p:nvSpPr>
        <p:spPr>
          <a:xfrm>
            <a:off x="4846320" y="3456432"/>
            <a:ext cx="1901952" cy="228600"/>
          </a:xfrm>
          <a:prstGeom prst="rect">
            <a:avLst/>
          </a:prstGeom>
          <a:noFill/>
        </p:spPr>
        <p:txBody>
          <a:bodyPr wrap="square" lIns="0" tIns="0" rIns="0" bIns="0" rtlCol="0" anchor="ctr"/>
          <a:lstStyle/>
          <a:p>
            <a:pPr marL="0" indent="0" algn="l">
              <a:buNone/>
            </a:pPr>
            <a:r>
              <a:rPr lang="en-US" sz="950" b="1" dirty="0">
                <a:solidFill>
                  <a:srgbClr val="A8D8C0"/>
                </a:solidFill>
              </a:rPr>
              <a:t>Problem:</a:t>
            </a:r>
            <a:endParaRPr lang="en-US" sz="950" dirty="0"/>
          </a:p>
        </p:txBody>
      </p:sp>
      <p:sp>
        <p:nvSpPr>
          <p:cNvPr id="37" name="Text 35"/>
          <p:cNvSpPr/>
          <p:nvPr/>
        </p:nvSpPr>
        <p:spPr>
          <a:xfrm>
            <a:off x="4846320" y="3675888"/>
            <a:ext cx="1920240" cy="1005840"/>
          </a:xfrm>
          <a:prstGeom prst="rect">
            <a:avLst/>
          </a:prstGeom>
          <a:noFill/>
        </p:spPr>
        <p:txBody>
          <a:bodyPr wrap="square" lIns="0" tIns="0" rIns="0" bIns="0" rtlCol="0" anchor="ctr"/>
          <a:lstStyle/>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Income: 0–2,400 JD (wide range)</a:t>
            </a:r>
            <a:endParaRPr lang="en-US" sz="950" dirty="0"/>
          </a:p>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Age: 18–74 years</a:t>
            </a:r>
            <a:endParaRPr lang="en-US" sz="950" dirty="0"/>
          </a:p>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Cancer Stage: 1–4 ordinal</a:t>
            </a:r>
            <a:endParaRPr lang="en-US" sz="950" dirty="0"/>
          </a:p>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Waitlist: 3–120 days</a:t>
            </a:r>
            <a:endParaRPr lang="en-US" sz="950" dirty="0"/>
          </a:p>
        </p:txBody>
      </p:sp>
      <p:sp>
        <p:nvSpPr>
          <p:cNvPr id="38" name="Shape 36"/>
          <p:cNvSpPr/>
          <p:nvPr/>
        </p:nvSpPr>
        <p:spPr>
          <a:xfrm>
            <a:off x="6931152" y="3438144"/>
            <a:ext cx="36576" cy="1298448"/>
          </a:xfrm>
          <a:prstGeom prst="rect">
            <a:avLst/>
          </a:prstGeom>
          <a:solidFill>
            <a:srgbClr val="A8D8C0"/>
          </a:solidFill>
          <a:ln w="12700">
            <a:solidFill>
              <a:srgbClr val="A8D8C0"/>
            </a:solidFill>
            <a:prstDash val="solid"/>
          </a:ln>
        </p:spPr>
      </p:sp>
      <p:sp>
        <p:nvSpPr>
          <p:cNvPr id="39" name="Text 37"/>
          <p:cNvSpPr/>
          <p:nvPr/>
        </p:nvSpPr>
        <p:spPr>
          <a:xfrm>
            <a:off x="7040880" y="3456432"/>
            <a:ext cx="1828800" cy="228600"/>
          </a:xfrm>
          <a:prstGeom prst="rect">
            <a:avLst/>
          </a:prstGeom>
          <a:noFill/>
        </p:spPr>
        <p:txBody>
          <a:bodyPr wrap="square" lIns="0" tIns="0" rIns="0" bIns="0" rtlCol="0" anchor="ctr"/>
          <a:lstStyle/>
          <a:p>
            <a:pPr marL="0" indent="0" algn="l">
              <a:buNone/>
            </a:pPr>
            <a:r>
              <a:rPr lang="en-US" sz="950" b="1" dirty="0">
                <a:solidFill>
                  <a:srgbClr val="A8D8C0"/>
                </a:solidFill>
              </a:rPr>
              <a:t>Resolution:</a:t>
            </a:r>
            <a:endParaRPr lang="en-US" sz="950" dirty="0"/>
          </a:p>
        </p:txBody>
      </p:sp>
      <p:sp>
        <p:nvSpPr>
          <p:cNvPr id="40" name="Text 38"/>
          <p:cNvSpPr/>
          <p:nvPr/>
        </p:nvSpPr>
        <p:spPr>
          <a:xfrm>
            <a:off x="7040880" y="3675888"/>
            <a:ext cx="1810512" cy="1005840"/>
          </a:xfrm>
          <a:prstGeom prst="rect">
            <a:avLst/>
          </a:prstGeom>
          <a:noFill/>
        </p:spPr>
        <p:txBody>
          <a:bodyPr wrap="square" lIns="0" tIns="0" rIns="0" bIns="0" rtlCol="0" anchor="ctr"/>
          <a:lstStyle/>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MinMaxScaler on all 7 features</a:t>
            </a:r>
            <a:endParaRPr lang="en-US" sz="950" dirty="0"/>
          </a:p>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All scaled to range [0, 1]</a:t>
            </a:r>
            <a:endParaRPr lang="en-US" sz="950" dirty="0"/>
          </a:p>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No feature dominates distance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C9617A"/>
          </a:solidFill>
          <a:ln w="12700">
            <a:solidFill>
              <a:srgbClr val="C9617A"/>
            </a:solidFill>
            <a:prstDash val="solid"/>
          </a:ln>
        </p:spPr>
      </p:sp>
      <p:sp>
        <p:nvSpPr>
          <p:cNvPr id="3" name="Shape 1"/>
          <p:cNvSpPr/>
          <p:nvPr/>
        </p:nvSpPr>
        <p:spPr>
          <a:xfrm>
            <a:off x="0" y="4892040"/>
            <a:ext cx="9144000" cy="251460"/>
          </a:xfrm>
          <a:prstGeom prst="rect">
            <a:avLst/>
          </a:prstGeom>
          <a:solidFill>
            <a:srgbClr val="A0395A"/>
          </a:solidFill>
          <a:ln w="12700">
            <a:solidFill>
              <a:srgbClr val="A0395A"/>
            </a:solidFill>
            <a:prstDash val="solid"/>
          </a:ln>
        </p:spPr>
      </p:sp>
      <p:sp>
        <p:nvSpPr>
          <p:cNvPr id="4" name="Text 2"/>
          <p:cNvSpPr/>
          <p:nvPr/>
        </p:nvSpPr>
        <p:spPr>
          <a:xfrm>
            <a:off x="274320" y="4892040"/>
            <a:ext cx="8595360" cy="251460"/>
          </a:xfrm>
          <a:prstGeom prst="rect">
            <a:avLst/>
          </a:prstGeom>
          <a:noFill/>
        </p:spPr>
        <p:txBody>
          <a:bodyPr wrap="square" lIns="0" tIns="0" rIns="0" bIns="0" rtlCol="0" anchor="ctr"/>
          <a:lstStyle/>
          <a:p>
            <a:pPr marL="0" indent="0" algn="ctr">
              <a:buNone/>
            </a:pPr>
            <a:r>
              <a:rPr lang="en-US" sz="850" dirty="0">
                <a:solidFill>
                  <a:srgbClr val="F2BBCC"/>
                </a:solidFill>
                <a:latin typeface="Calibri" panose="020F0502020204030204" pitchFamily="34" charset="0"/>
                <a:ea typeface="Calibri" panose="020F0502020204030204" pitchFamily="34" charset="-122"/>
                <a:cs typeface="Calibri" panose="020F0502020204030204" pitchFamily="34" charset="-120"/>
              </a:rPr>
              <a:t>KHCC AidConnect  ·  Graduation Project Defense  ·  Mallak Abu Sada &amp; Maya Abu Aslahamat  ·  2025/2026</a:t>
            </a:r>
            <a:endParaRPr lang="en-US" sz="850" dirty="0"/>
          </a:p>
        </p:txBody>
      </p:sp>
      <p:sp>
        <p:nvSpPr>
          <p:cNvPr id="5" name="Shape 3"/>
          <p:cNvSpPr/>
          <p:nvPr/>
        </p:nvSpPr>
        <p:spPr>
          <a:xfrm>
            <a:off x="7790688" y="256032"/>
            <a:ext cx="1005840" cy="274320"/>
          </a:xfrm>
          <a:prstGeom prst="roundRect">
            <a:avLst>
              <a:gd name="adj" fmla="val 20000"/>
            </a:avLst>
          </a:prstGeom>
          <a:solidFill>
            <a:srgbClr val="E8855A"/>
          </a:solidFill>
          <a:ln w="12700">
            <a:solidFill>
              <a:srgbClr val="E8855A"/>
            </a:solidFill>
            <a:prstDash val="solid"/>
          </a:ln>
        </p:spPr>
      </p:sp>
      <p:sp>
        <p:nvSpPr>
          <p:cNvPr id="6" name="Text 4"/>
          <p:cNvSpPr/>
          <p:nvPr/>
        </p:nvSpPr>
        <p:spPr>
          <a:xfrm>
            <a:off x="7790688" y="256032"/>
            <a:ext cx="1005840" cy="274320"/>
          </a:xfrm>
          <a:prstGeom prst="rect">
            <a:avLst/>
          </a:prstGeom>
          <a:noFill/>
        </p:spPr>
        <p:txBody>
          <a:bodyPr wrap="square" lIns="0" tIns="0" rIns="0" bIns="0" rtlCol="0" anchor="ctr"/>
          <a:lstStyle/>
          <a:p>
            <a:pPr marL="0" indent="0" algn="ctr">
              <a:buNone/>
            </a:pPr>
            <a:r>
              <a:rPr lang="en-US" sz="850" b="1" kern="0" spc="50" dirty="0">
                <a:solidFill>
                  <a:srgbClr val="FFFFFF"/>
                </a:solidFill>
              </a:rPr>
              <a:t>SLIDE 8 / 20</a:t>
            </a:r>
            <a:endParaRPr lang="en-US" sz="850" dirty="0"/>
          </a:p>
        </p:txBody>
      </p:sp>
      <p:sp>
        <p:nvSpPr>
          <p:cNvPr id="7" name="Text 5"/>
          <p:cNvSpPr/>
          <p:nvPr/>
        </p:nvSpPr>
        <p:spPr>
          <a:xfrm>
            <a:off x="411480" y="164592"/>
            <a:ext cx="7772400" cy="594360"/>
          </a:xfrm>
          <a:prstGeom prst="rect">
            <a:avLst/>
          </a:prstGeom>
          <a:noFill/>
        </p:spPr>
        <p:txBody>
          <a:bodyPr wrap="square" lIns="0" tIns="0" rIns="0" bIns="0" rtlCol="0" anchor="ctr"/>
          <a:lstStyle/>
          <a:p>
            <a:pPr marL="0" indent="0" algn="l">
              <a:buNone/>
            </a:pPr>
            <a:r>
              <a:rPr lang="en-US" sz="2400" b="1" dirty="0">
                <a:solidFill>
                  <a:srgbClr val="FFFFFF"/>
                </a:solidFill>
                <a:latin typeface="Georgia" panose="02040502050405020303" pitchFamily="34" charset="0"/>
                <a:ea typeface="Georgia" panose="02040502050405020303" pitchFamily="34" charset="-122"/>
                <a:cs typeface="Georgia" panose="02040502050405020303" pitchFamily="34" charset="-120"/>
              </a:rPr>
              <a:t>Data Preprocessing — Phase 1: Cleaning</a:t>
            </a:r>
            <a:endParaRPr lang="en-US" sz="2400" dirty="0"/>
          </a:p>
        </p:txBody>
      </p:sp>
      <p:sp>
        <p:nvSpPr>
          <p:cNvPr id="8" name="Shape 6"/>
          <p:cNvSpPr/>
          <p:nvPr/>
        </p:nvSpPr>
        <p:spPr>
          <a:xfrm>
            <a:off x="320040" y="1115568"/>
            <a:ext cx="8503920" cy="768096"/>
          </a:xfrm>
          <a:prstGeom prst="rect">
            <a:avLst/>
          </a:prstGeom>
          <a:solidFill>
            <a:srgbClr val="FFFFFF"/>
          </a:solidFill>
          <a:ln w="12700">
            <a:solidFill>
              <a:srgbClr val="E8A0BF"/>
            </a:solidFill>
            <a:prstDash val="solid"/>
          </a:ln>
          <a:effectLst>
            <a:outerShdw blurRad="76200" dist="25400" dir="8100000" algn="bl" rotWithShape="0">
              <a:srgbClr val="B8A0D8">
                <a:alpha val="12000"/>
              </a:srgbClr>
            </a:outerShdw>
          </a:effectLst>
        </p:spPr>
      </p:sp>
      <p:sp>
        <p:nvSpPr>
          <p:cNvPr id="9" name="Shape 7"/>
          <p:cNvSpPr/>
          <p:nvPr/>
        </p:nvSpPr>
        <p:spPr>
          <a:xfrm>
            <a:off x="384048" y="1225296"/>
            <a:ext cx="566928" cy="566928"/>
          </a:xfrm>
          <a:prstGeom prst="roundRect">
            <a:avLst>
              <a:gd name="adj" fmla="val 12903"/>
            </a:avLst>
          </a:prstGeom>
          <a:solidFill>
            <a:srgbClr val="E8A0BF">
              <a:alpha val="80000"/>
            </a:srgbClr>
          </a:solidFill>
          <a:ln w="12700">
            <a:solidFill>
              <a:srgbClr val="E8A0BF"/>
            </a:solidFill>
            <a:prstDash val="solid"/>
          </a:ln>
        </p:spPr>
      </p:sp>
      <p:sp>
        <p:nvSpPr>
          <p:cNvPr id="10" name="Text 8"/>
          <p:cNvSpPr/>
          <p:nvPr/>
        </p:nvSpPr>
        <p:spPr>
          <a:xfrm>
            <a:off x="384048" y="1225296"/>
            <a:ext cx="566928" cy="566928"/>
          </a:xfrm>
          <a:prstGeom prst="rect">
            <a:avLst/>
          </a:prstGeom>
          <a:noFill/>
        </p:spPr>
        <p:txBody>
          <a:bodyPr wrap="square" lIns="0" tIns="0" rIns="0" bIns="0" rtlCol="0" anchor="ctr"/>
          <a:lstStyle/>
          <a:p>
            <a:pPr marL="0" indent="0" algn="ctr">
              <a:buNone/>
            </a:pPr>
            <a:r>
              <a:rPr lang="en-US" sz="1800" b="1" dirty="0">
                <a:solidFill>
                  <a:srgbClr val="FFFFFF"/>
                </a:solidFill>
                <a:latin typeface="Georgia" panose="02040502050405020303" pitchFamily="34" charset="0"/>
                <a:ea typeface="Georgia" panose="02040502050405020303" pitchFamily="34" charset="-122"/>
                <a:cs typeface="Georgia" panose="02040502050405020303" pitchFamily="34" charset="-120"/>
              </a:rPr>
              <a:t>01</a:t>
            </a:r>
            <a:endParaRPr lang="en-US" sz="1800" dirty="0"/>
          </a:p>
        </p:txBody>
      </p:sp>
      <p:sp>
        <p:nvSpPr>
          <p:cNvPr id="11" name="Text 9"/>
          <p:cNvSpPr/>
          <p:nvPr/>
        </p:nvSpPr>
        <p:spPr>
          <a:xfrm>
            <a:off x="1078992" y="1188720"/>
            <a:ext cx="2286000" cy="274320"/>
          </a:xfrm>
          <a:prstGeom prst="rect">
            <a:avLst/>
          </a:prstGeom>
          <a:noFill/>
        </p:spPr>
        <p:txBody>
          <a:bodyPr wrap="square" lIns="0" tIns="0" rIns="0" bIns="0" rtlCol="0" anchor="ctr"/>
          <a:lstStyle/>
          <a:p>
            <a:pPr marL="0" indent="0" algn="l">
              <a:buNone/>
            </a:pPr>
            <a:r>
              <a:rPr lang="en-US" sz="1250" b="1" dirty="0">
                <a:solidFill>
                  <a:srgbClr val="2A1A28"/>
                </a:solidFill>
              </a:rPr>
              <a:t>Load &amp; Audit</a:t>
            </a:r>
            <a:endParaRPr lang="en-US" sz="1250" dirty="0"/>
          </a:p>
        </p:txBody>
      </p:sp>
      <p:sp>
        <p:nvSpPr>
          <p:cNvPr id="12" name="Shape 10"/>
          <p:cNvSpPr/>
          <p:nvPr/>
        </p:nvSpPr>
        <p:spPr>
          <a:xfrm>
            <a:off x="1078992" y="1517904"/>
            <a:ext cx="1389888" cy="274320"/>
          </a:xfrm>
          <a:prstGeom prst="rect">
            <a:avLst/>
          </a:prstGeom>
          <a:solidFill>
            <a:srgbClr val="E8A0BF">
              <a:alpha val="25000"/>
            </a:srgbClr>
          </a:solidFill>
          <a:ln w="12700">
            <a:solidFill>
              <a:srgbClr val="E8A0BF"/>
            </a:solidFill>
            <a:prstDash val="solid"/>
          </a:ln>
        </p:spPr>
      </p:sp>
      <p:sp>
        <p:nvSpPr>
          <p:cNvPr id="13" name="Text 11"/>
          <p:cNvSpPr/>
          <p:nvPr/>
        </p:nvSpPr>
        <p:spPr>
          <a:xfrm>
            <a:off x="1078992" y="1517904"/>
            <a:ext cx="1389888" cy="274320"/>
          </a:xfrm>
          <a:prstGeom prst="rect">
            <a:avLst/>
          </a:prstGeom>
          <a:noFill/>
        </p:spPr>
        <p:txBody>
          <a:bodyPr wrap="square" lIns="0" tIns="0" rIns="0" bIns="0" rtlCol="0" anchor="ctr"/>
          <a:lstStyle/>
          <a:p>
            <a:pPr marL="0" indent="0" algn="ctr">
              <a:buNone/>
            </a:pPr>
            <a:r>
              <a:rPr lang="en-US" sz="950" b="1" dirty="0">
                <a:solidFill>
                  <a:srgbClr val="E8A0BF"/>
                </a:solidFill>
                <a:latin typeface="Consolas" panose="020B0609020204030204" pitchFamily="34" charset="0"/>
                <a:ea typeface="Consolas" panose="020B0609020204030204" pitchFamily="34" charset="-122"/>
                <a:cs typeface="Consolas" panose="020B0609020204030204" pitchFamily="34" charset="-120"/>
              </a:rPr>
              <a:t>pd.read_excel()</a:t>
            </a:r>
            <a:endParaRPr lang="en-US" sz="950" dirty="0"/>
          </a:p>
        </p:txBody>
      </p:sp>
      <p:sp>
        <p:nvSpPr>
          <p:cNvPr id="14" name="Text 12"/>
          <p:cNvSpPr/>
          <p:nvPr/>
        </p:nvSpPr>
        <p:spPr>
          <a:xfrm>
            <a:off x="2606040" y="1207008"/>
            <a:ext cx="6108192" cy="594360"/>
          </a:xfrm>
          <a:prstGeom prst="rect">
            <a:avLst/>
          </a:prstGeom>
          <a:noFill/>
        </p:spPr>
        <p:txBody>
          <a:bodyPr wrap="square" lIns="0" tIns="0" rIns="0" bIns="0" rtlCol="0" anchor="ctr"/>
          <a:lstStyle/>
          <a:p>
            <a:pPr marL="0" indent="0" algn="l">
              <a:buNone/>
            </a:pPr>
            <a:r>
              <a:rPr lang="en-US" sz="1050" dirty="0">
                <a:solidFill>
                  <a:srgbClr val="5A4058"/>
                </a:solidFill>
                <a:latin typeface="Calibri" panose="020F0502020204030204" pitchFamily="34" charset="0"/>
                <a:ea typeface="Calibri" panose="020F0502020204030204" pitchFamily="34" charset="-122"/>
                <a:cs typeface="Calibri" panose="020F0502020204030204" pitchFamily="34" charset="-120"/>
              </a:rPr>
              <a:t>Loaded 5-sheet workbook. Ran .info() and .isnull().sum() on all 3 tables. Found 28 patient nulls, 46 equipment nulls, 100 donor gender nulls.</a:t>
            </a:r>
            <a:endParaRPr lang="en-US" sz="1050" dirty="0"/>
          </a:p>
        </p:txBody>
      </p:sp>
      <p:sp>
        <p:nvSpPr>
          <p:cNvPr id="15" name="Shape 13"/>
          <p:cNvSpPr/>
          <p:nvPr/>
        </p:nvSpPr>
        <p:spPr>
          <a:xfrm>
            <a:off x="320040" y="2029968"/>
            <a:ext cx="8503920" cy="768096"/>
          </a:xfrm>
          <a:prstGeom prst="rect">
            <a:avLst/>
          </a:prstGeom>
          <a:solidFill>
            <a:srgbClr val="FFFFFF"/>
          </a:solidFill>
          <a:ln w="12700">
            <a:solidFill>
              <a:srgbClr val="B8A0D8"/>
            </a:solidFill>
            <a:prstDash val="solid"/>
          </a:ln>
          <a:effectLst>
            <a:outerShdw blurRad="76200" dist="25400" dir="8100000" algn="bl" rotWithShape="0">
              <a:srgbClr val="B8A0D8">
                <a:alpha val="12000"/>
              </a:srgbClr>
            </a:outerShdw>
          </a:effectLst>
        </p:spPr>
      </p:sp>
      <p:sp>
        <p:nvSpPr>
          <p:cNvPr id="16" name="Shape 14"/>
          <p:cNvSpPr/>
          <p:nvPr/>
        </p:nvSpPr>
        <p:spPr>
          <a:xfrm>
            <a:off x="384048" y="2139696"/>
            <a:ext cx="566928" cy="566928"/>
          </a:xfrm>
          <a:prstGeom prst="roundRect">
            <a:avLst>
              <a:gd name="adj" fmla="val 12903"/>
            </a:avLst>
          </a:prstGeom>
          <a:solidFill>
            <a:srgbClr val="B8A0D8">
              <a:alpha val="80000"/>
            </a:srgbClr>
          </a:solidFill>
          <a:ln w="12700">
            <a:solidFill>
              <a:srgbClr val="B8A0D8"/>
            </a:solidFill>
            <a:prstDash val="solid"/>
          </a:ln>
        </p:spPr>
      </p:sp>
      <p:sp>
        <p:nvSpPr>
          <p:cNvPr id="17" name="Text 15"/>
          <p:cNvSpPr/>
          <p:nvPr/>
        </p:nvSpPr>
        <p:spPr>
          <a:xfrm>
            <a:off x="384048" y="2139696"/>
            <a:ext cx="566928" cy="566928"/>
          </a:xfrm>
          <a:prstGeom prst="rect">
            <a:avLst/>
          </a:prstGeom>
          <a:noFill/>
        </p:spPr>
        <p:txBody>
          <a:bodyPr wrap="square" lIns="0" tIns="0" rIns="0" bIns="0" rtlCol="0" anchor="ctr"/>
          <a:lstStyle/>
          <a:p>
            <a:pPr marL="0" indent="0" algn="ctr">
              <a:buNone/>
            </a:pPr>
            <a:r>
              <a:rPr lang="en-US" sz="1800" b="1" dirty="0">
                <a:solidFill>
                  <a:srgbClr val="FFFFFF"/>
                </a:solidFill>
                <a:latin typeface="Georgia" panose="02040502050405020303" pitchFamily="34" charset="0"/>
                <a:ea typeface="Georgia" panose="02040502050405020303" pitchFamily="34" charset="-122"/>
                <a:cs typeface="Georgia" panose="02040502050405020303" pitchFamily="34" charset="-120"/>
              </a:rPr>
              <a:t>02</a:t>
            </a:r>
            <a:endParaRPr lang="en-US" sz="1800" dirty="0"/>
          </a:p>
        </p:txBody>
      </p:sp>
      <p:sp>
        <p:nvSpPr>
          <p:cNvPr id="18" name="Text 16"/>
          <p:cNvSpPr/>
          <p:nvPr/>
        </p:nvSpPr>
        <p:spPr>
          <a:xfrm>
            <a:off x="1078992" y="2103120"/>
            <a:ext cx="2286000" cy="274320"/>
          </a:xfrm>
          <a:prstGeom prst="rect">
            <a:avLst/>
          </a:prstGeom>
          <a:noFill/>
        </p:spPr>
        <p:txBody>
          <a:bodyPr wrap="square" lIns="0" tIns="0" rIns="0" bIns="0" rtlCol="0" anchor="ctr"/>
          <a:lstStyle/>
          <a:p>
            <a:pPr marL="0" indent="0" algn="l">
              <a:buNone/>
            </a:pPr>
            <a:r>
              <a:rPr lang="en-US" sz="1250" b="1" dirty="0">
                <a:solidFill>
                  <a:srgbClr val="2A1A28"/>
                </a:solidFill>
              </a:rPr>
              <a:t>Null Imputation</a:t>
            </a:r>
            <a:endParaRPr lang="en-US" sz="1250" dirty="0"/>
          </a:p>
        </p:txBody>
      </p:sp>
      <p:sp>
        <p:nvSpPr>
          <p:cNvPr id="19" name="Shape 17"/>
          <p:cNvSpPr/>
          <p:nvPr/>
        </p:nvSpPr>
        <p:spPr>
          <a:xfrm>
            <a:off x="1078992" y="2432304"/>
            <a:ext cx="1389888" cy="274320"/>
          </a:xfrm>
          <a:prstGeom prst="rect">
            <a:avLst/>
          </a:prstGeom>
          <a:solidFill>
            <a:srgbClr val="B8A0D8">
              <a:alpha val="25000"/>
            </a:srgbClr>
          </a:solidFill>
          <a:ln w="12700">
            <a:solidFill>
              <a:srgbClr val="B8A0D8"/>
            </a:solidFill>
            <a:prstDash val="solid"/>
          </a:ln>
        </p:spPr>
      </p:sp>
      <p:sp>
        <p:nvSpPr>
          <p:cNvPr id="20" name="Text 18"/>
          <p:cNvSpPr/>
          <p:nvPr/>
        </p:nvSpPr>
        <p:spPr>
          <a:xfrm>
            <a:off x="1078992" y="2432304"/>
            <a:ext cx="1389888" cy="274320"/>
          </a:xfrm>
          <a:prstGeom prst="rect">
            <a:avLst/>
          </a:prstGeom>
          <a:noFill/>
        </p:spPr>
        <p:txBody>
          <a:bodyPr wrap="square" lIns="0" tIns="0" rIns="0" bIns="0" rtlCol="0" anchor="ctr"/>
          <a:lstStyle/>
          <a:p>
            <a:pPr marL="0" indent="0" algn="ctr">
              <a:buNone/>
            </a:pPr>
            <a:r>
              <a:rPr lang="en-US" sz="950" b="1" dirty="0">
                <a:solidFill>
                  <a:srgbClr val="B8A0D8"/>
                </a:solidFill>
                <a:latin typeface="Consolas" panose="020B0609020204030204" pitchFamily="34" charset="0"/>
                <a:ea typeface="Consolas" panose="020B0609020204030204" pitchFamily="34" charset="-122"/>
                <a:cs typeface="Consolas" panose="020B0609020204030204" pitchFamily="34" charset="-120"/>
              </a:rPr>
              <a:t>fillna(mode/median)</a:t>
            </a:r>
            <a:endParaRPr lang="en-US" sz="950" dirty="0"/>
          </a:p>
        </p:txBody>
      </p:sp>
      <p:sp>
        <p:nvSpPr>
          <p:cNvPr id="21" name="Text 19"/>
          <p:cNvSpPr/>
          <p:nvPr/>
        </p:nvSpPr>
        <p:spPr>
          <a:xfrm>
            <a:off x="2606040" y="2121408"/>
            <a:ext cx="6108192" cy="594360"/>
          </a:xfrm>
          <a:prstGeom prst="rect">
            <a:avLst/>
          </a:prstGeom>
          <a:noFill/>
        </p:spPr>
        <p:txBody>
          <a:bodyPr wrap="square" lIns="0" tIns="0" rIns="0" bIns="0" rtlCol="0" anchor="ctr"/>
          <a:lstStyle/>
          <a:p>
            <a:pPr marL="0" indent="0" algn="l">
              <a:buNone/>
            </a:pPr>
            <a:r>
              <a:rPr lang="en-US" sz="1050" dirty="0">
                <a:solidFill>
                  <a:srgbClr val="5A4058"/>
                </a:solidFill>
                <a:latin typeface="Calibri" panose="020F0502020204030204" pitchFamily="34" charset="0"/>
                <a:ea typeface="Calibri" panose="020F0502020204030204" pitchFamily="34" charset="-122"/>
                <a:cs typeface="Calibri" panose="020F0502020204030204" pitchFamily="34" charset="-120"/>
              </a:rPr>
              <a:t>Categorical columns → mode. Numeric columns → median. Post-imputation validation: .isnull().sum() == 0 confirmed across all columns.</a:t>
            </a:r>
            <a:endParaRPr lang="en-US" sz="1050" dirty="0"/>
          </a:p>
        </p:txBody>
      </p:sp>
      <p:sp>
        <p:nvSpPr>
          <p:cNvPr id="22" name="Shape 20"/>
          <p:cNvSpPr/>
          <p:nvPr/>
        </p:nvSpPr>
        <p:spPr>
          <a:xfrm>
            <a:off x="320040" y="2944368"/>
            <a:ext cx="8503920" cy="768096"/>
          </a:xfrm>
          <a:prstGeom prst="rect">
            <a:avLst/>
          </a:prstGeom>
          <a:solidFill>
            <a:srgbClr val="FFFFFF"/>
          </a:solidFill>
          <a:ln w="12700">
            <a:solidFill>
              <a:srgbClr val="A8D8C0"/>
            </a:solidFill>
            <a:prstDash val="solid"/>
          </a:ln>
          <a:effectLst>
            <a:outerShdw blurRad="76200" dist="25400" dir="8100000" algn="bl" rotWithShape="0">
              <a:srgbClr val="B8A0D8">
                <a:alpha val="12000"/>
              </a:srgbClr>
            </a:outerShdw>
          </a:effectLst>
        </p:spPr>
      </p:sp>
      <p:sp>
        <p:nvSpPr>
          <p:cNvPr id="23" name="Shape 21"/>
          <p:cNvSpPr/>
          <p:nvPr/>
        </p:nvSpPr>
        <p:spPr>
          <a:xfrm>
            <a:off x="384048" y="3054096"/>
            <a:ext cx="566928" cy="566928"/>
          </a:xfrm>
          <a:prstGeom prst="roundRect">
            <a:avLst>
              <a:gd name="adj" fmla="val 12903"/>
            </a:avLst>
          </a:prstGeom>
          <a:solidFill>
            <a:srgbClr val="A8D8C0">
              <a:alpha val="80000"/>
            </a:srgbClr>
          </a:solidFill>
          <a:ln w="12700">
            <a:solidFill>
              <a:srgbClr val="A8D8C0"/>
            </a:solidFill>
            <a:prstDash val="solid"/>
          </a:ln>
        </p:spPr>
      </p:sp>
      <p:sp>
        <p:nvSpPr>
          <p:cNvPr id="24" name="Text 22"/>
          <p:cNvSpPr/>
          <p:nvPr/>
        </p:nvSpPr>
        <p:spPr>
          <a:xfrm>
            <a:off x="384048" y="3054096"/>
            <a:ext cx="566928" cy="566928"/>
          </a:xfrm>
          <a:prstGeom prst="rect">
            <a:avLst/>
          </a:prstGeom>
          <a:noFill/>
        </p:spPr>
        <p:txBody>
          <a:bodyPr wrap="square" lIns="0" tIns="0" rIns="0" bIns="0" rtlCol="0" anchor="ctr"/>
          <a:lstStyle/>
          <a:p>
            <a:pPr marL="0" indent="0" algn="ctr">
              <a:buNone/>
            </a:pPr>
            <a:r>
              <a:rPr lang="en-US" sz="1800" b="1" dirty="0">
                <a:solidFill>
                  <a:srgbClr val="FFFFFF"/>
                </a:solidFill>
                <a:latin typeface="Georgia" panose="02040502050405020303" pitchFamily="34" charset="0"/>
                <a:ea typeface="Georgia" panose="02040502050405020303" pitchFamily="34" charset="-122"/>
                <a:cs typeface="Georgia" panose="02040502050405020303" pitchFamily="34" charset="-120"/>
              </a:rPr>
              <a:t>03</a:t>
            </a:r>
            <a:endParaRPr lang="en-US" sz="1800" dirty="0"/>
          </a:p>
        </p:txBody>
      </p:sp>
      <p:sp>
        <p:nvSpPr>
          <p:cNvPr id="25" name="Text 23"/>
          <p:cNvSpPr/>
          <p:nvPr/>
        </p:nvSpPr>
        <p:spPr>
          <a:xfrm>
            <a:off x="1078992" y="3017520"/>
            <a:ext cx="2286000" cy="274320"/>
          </a:xfrm>
          <a:prstGeom prst="rect">
            <a:avLst/>
          </a:prstGeom>
          <a:noFill/>
        </p:spPr>
        <p:txBody>
          <a:bodyPr wrap="square" lIns="0" tIns="0" rIns="0" bIns="0" rtlCol="0" anchor="ctr"/>
          <a:lstStyle/>
          <a:p>
            <a:pPr marL="0" indent="0" algn="l">
              <a:buNone/>
            </a:pPr>
            <a:r>
              <a:rPr lang="en-US" sz="1250" b="1" dirty="0">
                <a:solidFill>
                  <a:srgbClr val="2A1A28"/>
                </a:solidFill>
              </a:rPr>
              <a:t>Duplicate Removal</a:t>
            </a:r>
            <a:endParaRPr lang="en-US" sz="1250" dirty="0"/>
          </a:p>
        </p:txBody>
      </p:sp>
      <p:sp>
        <p:nvSpPr>
          <p:cNvPr id="26" name="Shape 24"/>
          <p:cNvSpPr/>
          <p:nvPr/>
        </p:nvSpPr>
        <p:spPr>
          <a:xfrm>
            <a:off x="1078992" y="3346704"/>
            <a:ext cx="1389888" cy="274320"/>
          </a:xfrm>
          <a:prstGeom prst="rect">
            <a:avLst/>
          </a:prstGeom>
          <a:solidFill>
            <a:srgbClr val="A8D8C0">
              <a:alpha val="25000"/>
            </a:srgbClr>
          </a:solidFill>
          <a:ln w="12700">
            <a:solidFill>
              <a:srgbClr val="A8D8C0"/>
            </a:solidFill>
            <a:prstDash val="solid"/>
          </a:ln>
        </p:spPr>
      </p:sp>
      <p:sp>
        <p:nvSpPr>
          <p:cNvPr id="27" name="Text 25"/>
          <p:cNvSpPr/>
          <p:nvPr/>
        </p:nvSpPr>
        <p:spPr>
          <a:xfrm>
            <a:off x="1078992" y="3346704"/>
            <a:ext cx="1389888" cy="274320"/>
          </a:xfrm>
          <a:prstGeom prst="rect">
            <a:avLst/>
          </a:prstGeom>
          <a:noFill/>
        </p:spPr>
        <p:txBody>
          <a:bodyPr wrap="square" lIns="0" tIns="0" rIns="0" bIns="0" rtlCol="0" anchor="ctr"/>
          <a:lstStyle/>
          <a:p>
            <a:pPr marL="0" indent="0" algn="ctr">
              <a:buNone/>
            </a:pPr>
            <a:r>
              <a:rPr lang="en-US" sz="950" b="1" dirty="0">
                <a:solidFill>
                  <a:srgbClr val="A8D8C0"/>
                </a:solidFill>
                <a:latin typeface="Consolas" panose="020B0609020204030204" pitchFamily="34" charset="0"/>
                <a:ea typeface="Consolas" panose="020B0609020204030204" pitchFamily="34" charset="-122"/>
                <a:cs typeface="Consolas" panose="020B0609020204030204" pitchFamily="34" charset="-120"/>
              </a:rPr>
              <a:t>.drop_duplicates()</a:t>
            </a:r>
            <a:endParaRPr lang="en-US" sz="950" dirty="0"/>
          </a:p>
        </p:txBody>
      </p:sp>
      <p:sp>
        <p:nvSpPr>
          <p:cNvPr id="28" name="Text 26"/>
          <p:cNvSpPr/>
          <p:nvPr/>
        </p:nvSpPr>
        <p:spPr>
          <a:xfrm>
            <a:off x="2606040" y="3035808"/>
            <a:ext cx="6108192" cy="594360"/>
          </a:xfrm>
          <a:prstGeom prst="rect">
            <a:avLst/>
          </a:prstGeom>
          <a:noFill/>
        </p:spPr>
        <p:txBody>
          <a:bodyPr wrap="square" lIns="0" tIns="0" rIns="0" bIns="0" rtlCol="0" anchor="ctr"/>
          <a:lstStyle/>
          <a:p>
            <a:pPr marL="0" indent="0" algn="l">
              <a:buNone/>
            </a:pPr>
            <a:r>
              <a:rPr lang="en-US" sz="1050" dirty="0">
                <a:solidFill>
                  <a:srgbClr val="5A4058"/>
                </a:solidFill>
                <a:latin typeface="Calibri" panose="020F0502020204030204" pitchFamily="34" charset="0"/>
                <a:ea typeface="Calibri" panose="020F0502020204030204" pitchFamily="34" charset="-122"/>
                <a:cs typeface="Calibri" panose="020F0502020204030204" pitchFamily="34" charset="-120"/>
              </a:rPr>
              <a:t>Full duplicate detection on all 3 tables. Result: zero duplicates confirmed. Dataset integrity maintained across 739 rows.</a:t>
            </a:r>
            <a:endParaRPr lang="en-US" sz="1050" dirty="0"/>
          </a:p>
        </p:txBody>
      </p:sp>
      <p:sp>
        <p:nvSpPr>
          <p:cNvPr id="29" name="Shape 27"/>
          <p:cNvSpPr/>
          <p:nvPr/>
        </p:nvSpPr>
        <p:spPr>
          <a:xfrm>
            <a:off x="320040" y="3858768"/>
            <a:ext cx="8503920" cy="768096"/>
          </a:xfrm>
          <a:prstGeom prst="rect">
            <a:avLst/>
          </a:prstGeom>
          <a:solidFill>
            <a:srgbClr val="FFFFFF"/>
          </a:solidFill>
          <a:ln w="12700">
            <a:solidFill>
              <a:srgbClr val="A0C8E8"/>
            </a:solidFill>
            <a:prstDash val="solid"/>
          </a:ln>
          <a:effectLst>
            <a:outerShdw blurRad="76200" dist="25400" dir="8100000" algn="bl" rotWithShape="0">
              <a:srgbClr val="B8A0D8">
                <a:alpha val="12000"/>
              </a:srgbClr>
            </a:outerShdw>
          </a:effectLst>
        </p:spPr>
      </p:sp>
      <p:sp>
        <p:nvSpPr>
          <p:cNvPr id="30" name="Shape 28"/>
          <p:cNvSpPr/>
          <p:nvPr/>
        </p:nvSpPr>
        <p:spPr>
          <a:xfrm>
            <a:off x="384048" y="3968496"/>
            <a:ext cx="566928" cy="566928"/>
          </a:xfrm>
          <a:prstGeom prst="roundRect">
            <a:avLst>
              <a:gd name="adj" fmla="val 12903"/>
            </a:avLst>
          </a:prstGeom>
          <a:solidFill>
            <a:srgbClr val="A0C8E8">
              <a:alpha val="80000"/>
            </a:srgbClr>
          </a:solidFill>
          <a:ln w="12700">
            <a:solidFill>
              <a:srgbClr val="A0C8E8"/>
            </a:solidFill>
            <a:prstDash val="solid"/>
          </a:ln>
        </p:spPr>
      </p:sp>
      <p:sp>
        <p:nvSpPr>
          <p:cNvPr id="31" name="Text 29"/>
          <p:cNvSpPr/>
          <p:nvPr/>
        </p:nvSpPr>
        <p:spPr>
          <a:xfrm>
            <a:off x="384048" y="3968496"/>
            <a:ext cx="566928" cy="566928"/>
          </a:xfrm>
          <a:prstGeom prst="rect">
            <a:avLst/>
          </a:prstGeom>
          <a:noFill/>
        </p:spPr>
        <p:txBody>
          <a:bodyPr wrap="square" lIns="0" tIns="0" rIns="0" bIns="0" rtlCol="0" anchor="ctr"/>
          <a:lstStyle/>
          <a:p>
            <a:pPr marL="0" indent="0" algn="ctr">
              <a:buNone/>
            </a:pPr>
            <a:r>
              <a:rPr lang="en-US" sz="1800" b="1" dirty="0">
                <a:solidFill>
                  <a:srgbClr val="FFFFFF"/>
                </a:solidFill>
                <a:latin typeface="Georgia" panose="02040502050405020303" pitchFamily="34" charset="0"/>
                <a:ea typeface="Georgia" panose="02040502050405020303" pitchFamily="34" charset="-122"/>
                <a:cs typeface="Georgia" panose="02040502050405020303" pitchFamily="34" charset="-120"/>
              </a:rPr>
              <a:t>04</a:t>
            </a:r>
            <a:endParaRPr lang="en-US" sz="1800" dirty="0"/>
          </a:p>
        </p:txBody>
      </p:sp>
      <p:sp>
        <p:nvSpPr>
          <p:cNvPr id="32" name="Text 30"/>
          <p:cNvSpPr/>
          <p:nvPr/>
        </p:nvSpPr>
        <p:spPr>
          <a:xfrm>
            <a:off x="1078992" y="3931920"/>
            <a:ext cx="2286000" cy="274320"/>
          </a:xfrm>
          <a:prstGeom prst="rect">
            <a:avLst/>
          </a:prstGeom>
          <a:noFill/>
        </p:spPr>
        <p:txBody>
          <a:bodyPr wrap="square" lIns="0" tIns="0" rIns="0" bIns="0" rtlCol="0" anchor="ctr"/>
          <a:lstStyle/>
          <a:p>
            <a:pPr marL="0" indent="0" algn="l">
              <a:buNone/>
            </a:pPr>
            <a:r>
              <a:rPr lang="en-US" sz="1250" b="1" dirty="0">
                <a:solidFill>
                  <a:srgbClr val="2A1A28"/>
                </a:solidFill>
              </a:rPr>
              <a:t>Outlier Inspection</a:t>
            </a:r>
            <a:endParaRPr lang="en-US" sz="1250" dirty="0"/>
          </a:p>
        </p:txBody>
      </p:sp>
      <p:sp>
        <p:nvSpPr>
          <p:cNvPr id="33" name="Shape 31"/>
          <p:cNvSpPr/>
          <p:nvPr/>
        </p:nvSpPr>
        <p:spPr>
          <a:xfrm>
            <a:off x="1078992" y="4261104"/>
            <a:ext cx="1389888" cy="274320"/>
          </a:xfrm>
          <a:prstGeom prst="rect">
            <a:avLst/>
          </a:prstGeom>
          <a:solidFill>
            <a:srgbClr val="A0C8E8">
              <a:alpha val="25000"/>
            </a:srgbClr>
          </a:solidFill>
          <a:ln w="12700">
            <a:solidFill>
              <a:srgbClr val="A0C8E8"/>
            </a:solidFill>
            <a:prstDash val="solid"/>
          </a:ln>
        </p:spPr>
      </p:sp>
      <p:sp>
        <p:nvSpPr>
          <p:cNvPr id="34" name="Text 32"/>
          <p:cNvSpPr/>
          <p:nvPr/>
        </p:nvSpPr>
        <p:spPr>
          <a:xfrm>
            <a:off x="1078992" y="4261104"/>
            <a:ext cx="1389888" cy="274320"/>
          </a:xfrm>
          <a:prstGeom prst="rect">
            <a:avLst/>
          </a:prstGeom>
          <a:noFill/>
        </p:spPr>
        <p:txBody>
          <a:bodyPr wrap="square" lIns="0" tIns="0" rIns="0" bIns="0" rtlCol="0" anchor="ctr"/>
          <a:lstStyle/>
          <a:p>
            <a:pPr marL="0" indent="0" algn="ctr">
              <a:buNone/>
            </a:pPr>
            <a:r>
              <a:rPr lang="en-US" sz="950" b="1" dirty="0">
                <a:solidFill>
                  <a:srgbClr val="A0C8E8"/>
                </a:solidFill>
                <a:latin typeface="Consolas" panose="020B0609020204030204" pitchFamily="34" charset="0"/>
                <a:ea typeface="Consolas" panose="020B0609020204030204" pitchFamily="34" charset="-122"/>
                <a:cs typeface="Consolas" panose="020B0609020204030204" pitchFamily="34" charset="-120"/>
              </a:rPr>
              <a:t>IQR + boxplots</a:t>
            </a:r>
            <a:endParaRPr lang="en-US" sz="950" dirty="0"/>
          </a:p>
        </p:txBody>
      </p:sp>
      <p:sp>
        <p:nvSpPr>
          <p:cNvPr id="35" name="Text 33"/>
          <p:cNvSpPr/>
          <p:nvPr/>
        </p:nvSpPr>
        <p:spPr>
          <a:xfrm>
            <a:off x="2606040" y="3950208"/>
            <a:ext cx="6108192" cy="594360"/>
          </a:xfrm>
          <a:prstGeom prst="rect">
            <a:avLst/>
          </a:prstGeom>
          <a:noFill/>
        </p:spPr>
        <p:txBody>
          <a:bodyPr wrap="square" lIns="0" tIns="0" rIns="0" bIns="0" rtlCol="0" anchor="ctr"/>
          <a:lstStyle/>
          <a:p>
            <a:pPr marL="0" indent="0" algn="l">
              <a:buNone/>
            </a:pPr>
            <a:r>
              <a:rPr lang="en-US" sz="1050" dirty="0">
                <a:solidFill>
                  <a:srgbClr val="5A4058"/>
                </a:solidFill>
                <a:latin typeface="Calibri" panose="020F0502020204030204" pitchFamily="34" charset="0"/>
                <a:ea typeface="Calibri" panose="020F0502020204030204" pitchFamily="34" charset="-122"/>
                <a:cs typeface="Calibri" panose="020F0502020204030204" pitchFamily="34" charset="-120"/>
              </a:rPr>
              <a:t>Income and Waitlist Days inspected using IQR fencing. Zero outliers found beyond clinical plausibility range for KHCC patients.</a:t>
            </a:r>
            <a:endParaRPr lang="en-US" sz="1050" dirty="0"/>
          </a:p>
        </p:txBody>
      </p:sp>
      <p:sp>
        <p:nvSpPr>
          <p:cNvPr id="36" name="Shape 34"/>
          <p:cNvSpPr/>
          <p:nvPr/>
        </p:nvSpPr>
        <p:spPr>
          <a:xfrm>
            <a:off x="320040" y="4800600"/>
            <a:ext cx="8503920" cy="292608"/>
          </a:xfrm>
          <a:prstGeom prst="rect">
            <a:avLst/>
          </a:prstGeom>
          <a:solidFill>
            <a:srgbClr val="FCE8F0"/>
          </a:solidFill>
          <a:ln w="12700">
            <a:solidFill>
              <a:srgbClr val="E8A0BF"/>
            </a:solidFill>
            <a:prstDash val="solid"/>
          </a:ln>
        </p:spPr>
      </p:sp>
      <p:sp>
        <p:nvSpPr>
          <p:cNvPr id="37" name="Text 35"/>
          <p:cNvSpPr/>
          <p:nvPr/>
        </p:nvSpPr>
        <p:spPr>
          <a:xfrm>
            <a:off x="457200" y="4800600"/>
            <a:ext cx="8229600" cy="292608"/>
          </a:xfrm>
          <a:prstGeom prst="rect">
            <a:avLst/>
          </a:prstGeom>
          <a:noFill/>
        </p:spPr>
        <p:txBody>
          <a:bodyPr wrap="square" lIns="0" tIns="0" rIns="0" bIns="0" rtlCol="0" anchor="ctr"/>
          <a:lstStyle/>
          <a:p>
            <a:pPr marL="0" indent="0" algn="ctr">
              <a:buNone/>
            </a:pPr>
            <a:r>
              <a:rPr lang="en-US" sz="1050" b="1" dirty="0">
                <a:solidFill>
                  <a:srgbClr val="A0395A"/>
                </a:solidFill>
              </a:rPr>
              <a:t>Before Cleaning: 174 total null values   →   After Cleaning: 0 nulls  ·  0 duplicates  ·  All 739 rows retained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A1A35"/>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A0395A"/>
          </a:solidFill>
          <a:ln w="12700">
            <a:solidFill>
              <a:srgbClr val="A0395A"/>
            </a:solidFill>
            <a:prstDash val="solid"/>
          </a:ln>
        </p:spPr>
      </p:sp>
      <p:sp>
        <p:nvSpPr>
          <p:cNvPr id="3" name="Text 1"/>
          <p:cNvSpPr/>
          <p:nvPr/>
        </p:nvSpPr>
        <p:spPr>
          <a:xfrm>
            <a:off x="274320" y="4892040"/>
            <a:ext cx="8595360" cy="251460"/>
          </a:xfrm>
          <a:prstGeom prst="rect">
            <a:avLst/>
          </a:prstGeom>
          <a:noFill/>
        </p:spPr>
        <p:txBody>
          <a:bodyPr wrap="square" lIns="0" tIns="0" rIns="0" bIns="0" rtlCol="0" anchor="ctr"/>
          <a:lstStyle/>
          <a:p>
            <a:pPr marL="0" indent="0" algn="ctr">
              <a:buNone/>
            </a:pPr>
            <a:r>
              <a:rPr lang="en-US" sz="850" dirty="0">
                <a:solidFill>
                  <a:srgbClr val="F2BBCC"/>
                </a:solidFill>
                <a:latin typeface="Calibri" panose="020F0502020204030204" pitchFamily="34" charset="0"/>
                <a:ea typeface="Calibri" panose="020F0502020204030204" pitchFamily="34" charset="-122"/>
                <a:cs typeface="Calibri" panose="020F0502020204030204" pitchFamily="34" charset="-120"/>
              </a:rPr>
              <a:t>KHCC AidConnect  ·  Graduation Project Defense  ·  Mallak Abu Sada &amp; Maya Abu Aslahamat  ·  2025/2026</a:t>
            </a:r>
            <a:endParaRPr lang="en-US" sz="850" dirty="0"/>
          </a:p>
        </p:txBody>
      </p:sp>
      <p:sp>
        <p:nvSpPr>
          <p:cNvPr id="4" name="Shape 2"/>
          <p:cNvSpPr/>
          <p:nvPr/>
        </p:nvSpPr>
        <p:spPr>
          <a:xfrm>
            <a:off x="7790688" y="256032"/>
            <a:ext cx="1005840" cy="274320"/>
          </a:xfrm>
          <a:prstGeom prst="roundRect">
            <a:avLst>
              <a:gd name="adj" fmla="val 20000"/>
            </a:avLst>
          </a:prstGeom>
          <a:solidFill>
            <a:srgbClr val="E8855A"/>
          </a:solidFill>
          <a:ln w="12700">
            <a:solidFill>
              <a:srgbClr val="E8855A"/>
            </a:solidFill>
            <a:prstDash val="solid"/>
          </a:ln>
        </p:spPr>
      </p:sp>
      <p:sp>
        <p:nvSpPr>
          <p:cNvPr id="5" name="Text 3"/>
          <p:cNvSpPr/>
          <p:nvPr/>
        </p:nvSpPr>
        <p:spPr>
          <a:xfrm>
            <a:off x="7790688" y="256032"/>
            <a:ext cx="1005840" cy="274320"/>
          </a:xfrm>
          <a:prstGeom prst="rect">
            <a:avLst/>
          </a:prstGeom>
          <a:noFill/>
        </p:spPr>
        <p:txBody>
          <a:bodyPr wrap="square" lIns="0" tIns="0" rIns="0" bIns="0" rtlCol="0" anchor="ctr"/>
          <a:lstStyle/>
          <a:p>
            <a:pPr marL="0" indent="0" algn="ctr">
              <a:buNone/>
            </a:pPr>
            <a:r>
              <a:rPr lang="en-US" sz="850" b="1" kern="0" spc="50" dirty="0">
                <a:solidFill>
                  <a:srgbClr val="FFFFFF"/>
                </a:solidFill>
              </a:rPr>
              <a:t>SLIDE 9 / 20</a:t>
            </a:r>
            <a:endParaRPr lang="en-US" sz="850" dirty="0"/>
          </a:p>
        </p:txBody>
      </p:sp>
      <p:sp>
        <p:nvSpPr>
          <p:cNvPr id="6" name="Shape 4"/>
          <p:cNvSpPr/>
          <p:nvPr/>
        </p:nvSpPr>
        <p:spPr>
          <a:xfrm>
            <a:off x="0" y="0"/>
            <a:ext cx="9144000" cy="54864"/>
          </a:xfrm>
          <a:prstGeom prst="rect">
            <a:avLst/>
          </a:prstGeom>
          <a:solidFill>
            <a:srgbClr val="F5C0A0"/>
          </a:solidFill>
          <a:ln w="12700">
            <a:solidFill>
              <a:srgbClr val="F5C0A0"/>
            </a:solidFill>
            <a:prstDash val="solid"/>
          </a:ln>
        </p:spPr>
      </p:sp>
      <p:sp>
        <p:nvSpPr>
          <p:cNvPr id="7" name="Text 5"/>
          <p:cNvSpPr/>
          <p:nvPr/>
        </p:nvSpPr>
        <p:spPr>
          <a:xfrm>
            <a:off x="411480" y="164465"/>
            <a:ext cx="7279640" cy="594360"/>
          </a:xfrm>
          <a:prstGeom prst="rect">
            <a:avLst/>
          </a:prstGeom>
          <a:noFill/>
        </p:spPr>
        <p:txBody>
          <a:bodyPr wrap="square" lIns="0" tIns="0" rIns="0" bIns="0" rtlCol="0" anchor="ctr"/>
          <a:lstStyle/>
          <a:p>
            <a:pPr marL="0" indent="0" algn="l">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Data Preprocessing — Phase 2: Encoding, Normalisation &amp; Split</a:t>
            </a:r>
            <a:endParaRPr lang="en-US" sz="2200" dirty="0"/>
          </a:p>
        </p:txBody>
      </p:sp>
      <p:sp>
        <p:nvSpPr>
          <p:cNvPr id="8" name="Shape 6"/>
          <p:cNvSpPr/>
          <p:nvPr/>
        </p:nvSpPr>
        <p:spPr>
          <a:xfrm>
            <a:off x="320040" y="1078992"/>
            <a:ext cx="8503920" cy="804672"/>
          </a:xfrm>
          <a:prstGeom prst="rect">
            <a:avLst/>
          </a:prstGeom>
          <a:solidFill>
            <a:srgbClr val="FFFFFF">
              <a:alpha val="10000"/>
            </a:srgbClr>
          </a:solidFill>
          <a:ln w="12700">
            <a:solidFill>
              <a:srgbClr val="E8A0BF"/>
            </a:solidFill>
            <a:prstDash val="solid"/>
          </a:ln>
        </p:spPr>
      </p:sp>
      <p:sp>
        <p:nvSpPr>
          <p:cNvPr id="9" name="Shape 7"/>
          <p:cNvSpPr/>
          <p:nvPr/>
        </p:nvSpPr>
        <p:spPr>
          <a:xfrm>
            <a:off x="384048" y="1188720"/>
            <a:ext cx="566928" cy="594360"/>
          </a:xfrm>
          <a:prstGeom prst="roundRect">
            <a:avLst>
              <a:gd name="adj" fmla="val 12903"/>
            </a:avLst>
          </a:prstGeom>
          <a:solidFill>
            <a:srgbClr val="E8A0BF">
              <a:alpha val="80000"/>
            </a:srgbClr>
          </a:solidFill>
          <a:ln w="12700">
            <a:solidFill>
              <a:srgbClr val="E8A0BF"/>
            </a:solidFill>
            <a:prstDash val="solid"/>
          </a:ln>
        </p:spPr>
      </p:sp>
      <p:sp>
        <p:nvSpPr>
          <p:cNvPr id="10" name="Text 8"/>
          <p:cNvSpPr/>
          <p:nvPr/>
        </p:nvSpPr>
        <p:spPr>
          <a:xfrm>
            <a:off x="384048" y="1188720"/>
            <a:ext cx="566928" cy="594360"/>
          </a:xfrm>
          <a:prstGeom prst="rect">
            <a:avLst/>
          </a:prstGeom>
          <a:noFill/>
        </p:spPr>
        <p:txBody>
          <a:bodyPr wrap="square" lIns="0" tIns="0" rIns="0" bIns="0" rtlCol="0" anchor="ctr"/>
          <a:lstStyle/>
          <a:p>
            <a:pPr marL="0" indent="0" algn="ctr">
              <a:buNone/>
            </a:pPr>
            <a:r>
              <a:rPr lang="en-US" sz="1800" b="1" dirty="0">
                <a:solidFill>
                  <a:srgbClr val="FFFFFF"/>
                </a:solidFill>
                <a:latin typeface="Georgia" panose="02040502050405020303" pitchFamily="34" charset="0"/>
                <a:ea typeface="Georgia" panose="02040502050405020303" pitchFamily="34" charset="-122"/>
                <a:cs typeface="Georgia" panose="02040502050405020303" pitchFamily="34" charset="-120"/>
              </a:rPr>
              <a:t>05</a:t>
            </a:r>
            <a:endParaRPr lang="en-US" sz="1800" dirty="0"/>
          </a:p>
        </p:txBody>
      </p:sp>
      <p:sp>
        <p:nvSpPr>
          <p:cNvPr id="11" name="Text 9"/>
          <p:cNvSpPr/>
          <p:nvPr/>
        </p:nvSpPr>
        <p:spPr>
          <a:xfrm>
            <a:off x="1078992" y="1152144"/>
            <a:ext cx="2560320" cy="292608"/>
          </a:xfrm>
          <a:prstGeom prst="rect">
            <a:avLst/>
          </a:prstGeom>
          <a:noFill/>
        </p:spPr>
        <p:txBody>
          <a:bodyPr wrap="square" lIns="0" tIns="0" rIns="0" bIns="0" rtlCol="0" anchor="ctr"/>
          <a:lstStyle/>
          <a:p>
            <a:pPr marL="0" indent="0" algn="l">
              <a:buNone/>
            </a:pPr>
            <a:r>
              <a:rPr lang="en-US" sz="1250" b="1" dirty="0">
                <a:solidFill>
                  <a:srgbClr val="FFFFFF"/>
                </a:solidFill>
              </a:rPr>
              <a:t>Binary Encoding</a:t>
            </a:r>
            <a:endParaRPr lang="en-US" sz="1250" dirty="0"/>
          </a:p>
        </p:txBody>
      </p:sp>
      <p:sp>
        <p:nvSpPr>
          <p:cNvPr id="12" name="Shape 10"/>
          <p:cNvSpPr/>
          <p:nvPr/>
        </p:nvSpPr>
        <p:spPr>
          <a:xfrm>
            <a:off x="1078992" y="1499616"/>
            <a:ext cx="1828800" cy="274320"/>
          </a:xfrm>
          <a:prstGeom prst="rect">
            <a:avLst/>
          </a:prstGeom>
          <a:solidFill>
            <a:srgbClr val="3A2245"/>
          </a:solidFill>
          <a:ln w="12700">
            <a:solidFill>
              <a:srgbClr val="E8A0BF"/>
            </a:solidFill>
            <a:prstDash val="solid"/>
          </a:ln>
        </p:spPr>
      </p:sp>
      <p:sp>
        <p:nvSpPr>
          <p:cNvPr id="13" name="Text 11"/>
          <p:cNvSpPr/>
          <p:nvPr/>
        </p:nvSpPr>
        <p:spPr>
          <a:xfrm>
            <a:off x="1078992" y="1499616"/>
            <a:ext cx="1828800" cy="274320"/>
          </a:xfrm>
          <a:prstGeom prst="rect">
            <a:avLst/>
          </a:prstGeom>
          <a:noFill/>
        </p:spPr>
        <p:txBody>
          <a:bodyPr wrap="square" lIns="0" tIns="0" rIns="0" bIns="0" rtlCol="0" anchor="ctr"/>
          <a:lstStyle/>
          <a:p>
            <a:pPr marL="0" indent="0" algn="ctr">
              <a:buNone/>
            </a:pPr>
            <a:r>
              <a:rPr lang="en-US" sz="950" b="1" dirty="0">
                <a:solidFill>
                  <a:srgbClr val="E8A0BF"/>
                </a:solidFill>
                <a:latin typeface="Consolas" panose="020B0609020204030204" pitchFamily="34" charset="0"/>
                <a:ea typeface="Consolas" panose="020B0609020204030204" pitchFamily="34" charset="-122"/>
                <a:cs typeface="Consolas" panose="020B0609020204030204" pitchFamily="34" charset="-120"/>
              </a:rPr>
              <a:t>map({'Yes':1,'No':0})</a:t>
            </a:r>
            <a:endParaRPr lang="en-US" sz="950" dirty="0"/>
          </a:p>
        </p:txBody>
      </p:sp>
      <p:sp>
        <p:nvSpPr>
          <p:cNvPr id="14" name="Text 12"/>
          <p:cNvSpPr/>
          <p:nvPr/>
        </p:nvSpPr>
        <p:spPr>
          <a:xfrm>
            <a:off x="3063240" y="1188720"/>
            <a:ext cx="5687568" cy="594360"/>
          </a:xfrm>
          <a:prstGeom prst="rect">
            <a:avLst/>
          </a:prstGeom>
          <a:noFill/>
        </p:spPr>
        <p:txBody>
          <a:bodyPr wrap="square" lIns="0" tIns="0" rIns="0" bIns="0" rtlCol="0" anchor="ctr"/>
          <a:lstStyle/>
          <a:p>
            <a:pPr marL="0" indent="0" algn="l">
              <a:buNone/>
            </a:pPr>
            <a:r>
              <a:rPr lang="en-US" sz="1050" dirty="0">
                <a:solidFill>
                  <a:srgbClr val="F2BBCC"/>
                </a:solidFill>
                <a:latin typeface="Calibri" panose="020F0502020204030204" pitchFamily="34" charset="0"/>
                <a:ea typeface="Calibri" panose="020F0502020204030204" pitchFamily="34" charset="-122"/>
                <a:cs typeface="Calibri" panose="020F0502020204030204" pitchFamily="34" charset="-120"/>
              </a:rPr>
              <a:t>Categorical Yes/No features converted to binary integers for scikit-learn compatibility. Applied to Zakat_Eligible, Equipment_Needed, and Psychosocial_Support_Needed.</a:t>
            </a:r>
            <a:endParaRPr lang="en-US" sz="1050" dirty="0"/>
          </a:p>
        </p:txBody>
      </p:sp>
      <p:sp>
        <p:nvSpPr>
          <p:cNvPr id="15" name="Shape 13"/>
          <p:cNvSpPr/>
          <p:nvPr/>
        </p:nvSpPr>
        <p:spPr>
          <a:xfrm>
            <a:off x="320040" y="2029968"/>
            <a:ext cx="8503920" cy="804672"/>
          </a:xfrm>
          <a:prstGeom prst="rect">
            <a:avLst/>
          </a:prstGeom>
          <a:solidFill>
            <a:srgbClr val="FFFFFF">
              <a:alpha val="10000"/>
            </a:srgbClr>
          </a:solidFill>
          <a:ln w="12700">
            <a:solidFill>
              <a:srgbClr val="B8A0D8"/>
            </a:solidFill>
            <a:prstDash val="solid"/>
          </a:ln>
        </p:spPr>
      </p:sp>
      <p:sp>
        <p:nvSpPr>
          <p:cNvPr id="16" name="Shape 14"/>
          <p:cNvSpPr/>
          <p:nvPr/>
        </p:nvSpPr>
        <p:spPr>
          <a:xfrm>
            <a:off x="384048" y="2139696"/>
            <a:ext cx="566928" cy="594360"/>
          </a:xfrm>
          <a:prstGeom prst="roundRect">
            <a:avLst>
              <a:gd name="adj" fmla="val 12903"/>
            </a:avLst>
          </a:prstGeom>
          <a:solidFill>
            <a:srgbClr val="B8A0D8">
              <a:alpha val="80000"/>
            </a:srgbClr>
          </a:solidFill>
          <a:ln w="12700">
            <a:solidFill>
              <a:srgbClr val="B8A0D8"/>
            </a:solidFill>
            <a:prstDash val="solid"/>
          </a:ln>
        </p:spPr>
      </p:sp>
      <p:sp>
        <p:nvSpPr>
          <p:cNvPr id="17" name="Text 15"/>
          <p:cNvSpPr/>
          <p:nvPr/>
        </p:nvSpPr>
        <p:spPr>
          <a:xfrm>
            <a:off x="384048" y="2139696"/>
            <a:ext cx="566928" cy="594360"/>
          </a:xfrm>
          <a:prstGeom prst="rect">
            <a:avLst/>
          </a:prstGeom>
          <a:noFill/>
        </p:spPr>
        <p:txBody>
          <a:bodyPr wrap="square" lIns="0" tIns="0" rIns="0" bIns="0" rtlCol="0" anchor="ctr"/>
          <a:lstStyle/>
          <a:p>
            <a:pPr marL="0" indent="0" algn="ctr">
              <a:buNone/>
            </a:pPr>
            <a:r>
              <a:rPr lang="en-US" sz="1800" b="1" dirty="0">
                <a:solidFill>
                  <a:srgbClr val="FFFFFF"/>
                </a:solidFill>
                <a:latin typeface="Georgia" panose="02040502050405020303" pitchFamily="34" charset="0"/>
                <a:ea typeface="Georgia" panose="02040502050405020303" pitchFamily="34" charset="-122"/>
                <a:cs typeface="Georgia" panose="02040502050405020303" pitchFamily="34" charset="-120"/>
              </a:rPr>
              <a:t>06</a:t>
            </a:r>
            <a:endParaRPr lang="en-US" sz="1800" dirty="0"/>
          </a:p>
        </p:txBody>
      </p:sp>
      <p:sp>
        <p:nvSpPr>
          <p:cNvPr id="18" name="Text 16"/>
          <p:cNvSpPr/>
          <p:nvPr/>
        </p:nvSpPr>
        <p:spPr>
          <a:xfrm>
            <a:off x="1078992" y="2103120"/>
            <a:ext cx="2560320" cy="292608"/>
          </a:xfrm>
          <a:prstGeom prst="rect">
            <a:avLst/>
          </a:prstGeom>
          <a:noFill/>
        </p:spPr>
        <p:txBody>
          <a:bodyPr wrap="square" lIns="0" tIns="0" rIns="0" bIns="0" rtlCol="0" anchor="ctr"/>
          <a:lstStyle/>
          <a:p>
            <a:pPr marL="0" indent="0" algn="l">
              <a:buNone/>
            </a:pPr>
            <a:r>
              <a:rPr lang="en-US" sz="1250" b="1" dirty="0">
                <a:solidFill>
                  <a:srgbClr val="FFFFFF"/>
                </a:solidFill>
              </a:rPr>
              <a:t>Ordinal Encoding</a:t>
            </a:r>
            <a:endParaRPr lang="en-US" sz="1250" dirty="0"/>
          </a:p>
        </p:txBody>
      </p:sp>
      <p:sp>
        <p:nvSpPr>
          <p:cNvPr id="19" name="Shape 17"/>
          <p:cNvSpPr/>
          <p:nvPr/>
        </p:nvSpPr>
        <p:spPr>
          <a:xfrm>
            <a:off x="1078992" y="2450592"/>
            <a:ext cx="1828800" cy="274320"/>
          </a:xfrm>
          <a:prstGeom prst="rect">
            <a:avLst/>
          </a:prstGeom>
          <a:solidFill>
            <a:srgbClr val="3A2245"/>
          </a:solidFill>
          <a:ln w="12700">
            <a:solidFill>
              <a:srgbClr val="B8A0D8"/>
            </a:solidFill>
            <a:prstDash val="solid"/>
          </a:ln>
        </p:spPr>
      </p:sp>
      <p:sp>
        <p:nvSpPr>
          <p:cNvPr id="20" name="Text 18"/>
          <p:cNvSpPr/>
          <p:nvPr/>
        </p:nvSpPr>
        <p:spPr>
          <a:xfrm>
            <a:off x="1078992" y="2450592"/>
            <a:ext cx="1828800" cy="274320"/>
          </a:xfrm>
          <a:prstGeom prst="rect">
            <a:avLst/>
          </a:prstGeom>
          <a:noFill/>
        </p:spPr>
        <p:txBody>
          <a:bodyPr wrap="square" lIns="0" tIns="0" rIns="0" bIns="0" rtlCol="0" anchor="ctr"/>
          <a:lstStyle/>
          <a:p>
            <a:pPr marL="0" indent="0" algn="ctr">
              <a:buNone/>
            </a:pPr>
            <a:r>
              <a:rPr lang="en-US" sz="950" b="1" dirty="0">
                <a:solidFill>
                  <a:srgbClr val="B8A0D8"/>
                </a:solidFill>
                <a:latin typeface="Consolas" panose="020B0609020204030204" pitchFamily="34" charset="0"/>
                <a:ea typeface="Consolas" panose="020B0609020204030204" pitchFamily="34" charset="-122"/>
                <a:cs typeface="Consolas" panose="020B0609020204030204" pitchFamily="34" charset="-120"/>
              </a:rPr>
              <a:t>{'I':1,'II':2,'III':3,'IV':4}</a:t>
            </a:r>
            <a:endParaRPr lang="en-US" sz="950" dirty="0"/>
          </a:p>
        </p:txBody>
      </p:sp>
      <p:sp>
        <p:nvSpPr>
          <p:cNvPr id="21" name="Text 19"/>
          <p:cNvSpPr/>
          <p:nvPr/>
        </p:nvSpPr>
        <p:spPr>
          <a:xfrm>
            <a:off x="3063240" y="2139696"/>
            <a:ext cx="5687568" cy="594360"/>
          </a:xfrm>
          <a:prstGeom prst="rect">
            <a:avLst/>
          </a:prstGeom>
          <a:noFill/>
        </p:spPr>
        <p:txBody>
          <a:bodyPr wrap="square" lIns="0" tIns="0" rIns="0" bIns="0" rtlCol="0" anchor="ctr"/>
          <a:lstStyle/>
          <a:p>
            <a:pPr marL="0" indent="0" algn="l">
              <a:buNone/>
            </a:pPr>
            <a:r>
              <a:rPr lang="en-US" sz="1050" dirty="0">
                <a:solidFill>
                  <a:srgbClr val="F2BBCC"/>
                </a:solidFill>
                <a:latin typeface="Calibri" panose="020F0502020204030204" pitchFamily="34" charset="0"/>
                <a:ea typeface="Calibri" panose="020F0502020204030204" pitchFamily="34" charset="-122"/>
                <a:cs typeface="Calibri" panose="020F0502020204030204" pitchFamily="34" charset="-120"/>
              </a:rPr>
              <a:t>Cancer Stage encoded as ordinal integer 1–4 preserving clinical ordering. Enables KNN to correctly compute proximity across cancer progression stages.</a:t>
            </a:r>
            <a:endParaRPr lang="en-US" sz="1050" dirty="0"/>
          </a:p>
        </p:txBody>
      </p:sp>
      <p:sp>
        <p:nvSpPr>
          <p:cNvPr id="22" name="Shape 20"/>
          <p:cNvSpPr/>
          <p:nvPr/>
        </p:nvSpPr>
        <p:spPr>
          <a:xfrm>
            <a:off x="320040" y="2980944"/>
            <a:ext cx="8503920" cy="804672"/>
          </a:xfrm>
          <a:prstGeom prst="rect">
            <a:avLst/>
          </a:prstGeom>
          <a:solidFill>
            <a:srgbClr val="FFFFFF">
              <a:alpha val="10000"/>
            </a:srgbClr>
          </a:solidFill>
          <a:ln w="12700">
            <a:solidFill>
              <a:srgbClr val="A8D8C0"/>
            </a:solidFill>
            <a:prstDash val="solid"/>
          </a:ln>
        </p:spPr>
      </p:sp>
      <p:sp>
        <p:nvSpPr>
          <p:cNvPr id="23" name="Shape 21"/>
          <p:cNvSpPr/>
          <p:nvPr/>
        </p:nvSpPr>
        <p:spPr>
          <a:xfrm>
            <a:off x="384048" y="3090672"/>
            <a:ext cx="566928" cy="594360"/>
          </a:xfrm>
          <a:prstGeom prst="roundRect">
            <a:avLst>
              <a:gd name="adj" fmla="val 12903"/>
            </a:avLst>
          </a:prstGeom>
          <a:solidFill>
            <a:srgbClr val="A8D8C0">
              <a:alpha val="80000"/>
            </a:srgbClr>
          </a:solidFill>
          <a:ln w="12700">
            <a:solidFill>
              <a:srgbClr val="A8D8C0"/>
            </a:solidFill>
            <a:prstDash val="solid"/>
          </a:ln>
        </p:spPr>
      </p:sp>
      <p:sp>
        <p:nvSpPr>
          <p:cNvPr id="24" name="Text 22"/>
          <p:cNvSpPr/>
          <p:nvPr/>
        </p:nvSpPr>
        <p:spPr>
          <a:xfrm>
            <a:off x="384048" y="3090672"/>
            <a:ext cx="566928" cy="594360"/>
          </a:xfrm>
          <a:prstGeom prst="rect">
            <a:avLst/>
          </a:prstGeom>
          <a:noFill/>
        </p:spPr>
        <p:txBody>
          <a:bodyPr wrap="square" lIns="0" tIns="0" rIns="0" bIns="0" rtlCol="0" anchor="ctr"/>
          <a:lstStyle/>
          <a:p>
            <a:pPr marL="0" indent="0" algn="ctr">
              <a:buNone/>
            </a:pPr>
            <a:r>
              <a:rPr lang="en-US" sz="1800" b="1" dirty="0">
                <a:solidFill>
                  <a:srgbClr val="FFFFFF"/>
                </a:solidFill>
                <a:latin typeface="Georgia" panose="02040502050405020303" pitchFamily="34" charset="0"/>
                <a:ea typeface="Georgia" panose="02040502050405020303" pitchFamily="34" charset="-122"/>
                <a:cs typeface="Georgia" panose="02040502050405020303" pitchFamily="34" charset="-120"/>
              </a:rPr>
              <a:t>07</a:t>
            </a:r>
            <a:endParaRPr lang="en-US" sz="1800" dirty="0"/>
          </a:p>
        </p:txBody>
      </p:sp>
      <p:sp>
        <p:nvSpPr>
          <p:cNvPr id="25" name="Text 23"/>
          <p:cNvSpPr/>
          <p:nvPr/>
        </p:nvSpPr>
        <p:spPr>
          <a:xfrm>
            <a:off x="1078992" y="3054096"/>
            <a:ext cx="2560320" cy="292608"/>
          </a:xfrm>
          <a:prstGeom prst="rect">
            <a:avLst/>
          </a:prstGeom>
          <a:noFill/>
        </p:spPr>
        <p:txBody>
          <a:bodyPr wrap="square" lIns="0" tIns="0" rIns="0" bIns="0" rtlCol="0" anchor="ctr"/>
          <a:lstStyle/>
          <a:p>
            <a:pPr marL="0" indent="0" algn="l">
              <a:buNone/>
            </a:pPr>
            <a:r>
              <a:rPr lang="en-US" sz="1250" b="1" dirty="0">
                <a:solidFill>
                  <a:srgbClr val="FFFFFF"/>
                </a:solidFill>
              </a:rPr>
              <a:t>MinMax Normalisation</a:t>
            </a:r>
            <a:endParaRPr lang="en-US" sz="1250" dirty="0"/>
          </a:p>
        </p:txBody>
      </p:sp>
      <p:sp>
        <p:nvSpPr>
          <p:cNvPr id="26" name="Shape 24"/>
          <p:cNvSpPr/>
          <p:nvPr/>
        </p:nvSpPr>
        <p:spPr>
          <a:xfrm>
            <a:off x="1078992" y="3401568"/>
            <a:ext cx="1828800" cy="274320"/>
          </a:xfrm>
          <a:prstGeom prst="rect">
            <a:avLst/>
          </a:prstGeom>
          <a:solidFill>
            <a:srgbClr val="3A2245"/>
          </a:solidFill>
          <a:ln w="12700">
            <a:solidFill>
              <a:srgbClr val="A8D8C0"/>
            </a:solidFill>
            <a:prstDash val="solid"/>
          </a:ln>
        </p:spPr>
      </p:sp>
      <p:sp>
        <p:nvSpPr>
          <p:cNvPr id="27" name="Text 25"/>
          <p:cNvSpPr/>
          <p:nvPr/>
        </p:nvSpPr>
        <p:spPr>
          <a:xfrm>
            <a:off x="1078992" y="3401568"/>
            <a:ext cx="1828800" cy="274320"/>
          </a:xfrm>
          <a:prstGeom prst="rect">
            <a:avLst/>
          </a:prstGeom>
          <a:noFill/>
        </p:spPr>
        <p:txBody>
          <a:bodyPr wrap="square" lIns="0" tIns="0" rIns="0" bIns="0" rtlCol="0" anchor="ctr"/>
          <a:lstStyle/>
          <a:p>
            <a:pPr marL="0" indent="0" algn="ctr">
              <a:buNone/>
            </a:pPr>
            <a:r>
              <a:rPr lang="en-US" sz="950" b="1" dirty="0">
                <a:solidFill>
                  <a:srgbClr val="A8D8C0"/>
                </a:solidFill>
                <a:latin typeface="Consolas" panose="020B0609020204030204" pitchFamily="34" charset="0"/>
                <a:ea typeface="Consolas" panose="020B0609020204030204" pitchFamily="34" charset="-122"/>
                <a:cs typeface="Consolas" panose="020B0609020204030204" pitchFamily="34" charset="-120"/>
              </a:rPr>
              <a:t>MinMaxScaler().fit_transform()</a:t>
            </a:r>
            <a:endParaRPr lang="en-US" sz="950" dirty="0"/>
          </a:p>
        </p:txBody>
      </p:sp>
      <p:sp>
        <p:nvSpPr>
          <p:cNvPr id="28" name="Text 26"/>
          <p:cNvSpPr/>
          <p:nvPr/>
        </p:nvSpPr>
        <p:spPr>
          <a:xfrm>
            <a:off x="3063240" y="3090672"/>
            <a:ext cx="5687568" cy="594360"/>
          </a:xfrm>
          <a:prstGeom prst="rect">
            <a:avLst/>
          </a:prstGeom>
          <a:noFill/>
        </p:spPr>
        <p:txBody>
          <a:bodyPr wrap="square" lIns="0" tIns="0" rIns="0" bIns="0" rtlCol="0" anchor="ctr"/>
          <a:lstStyle/>
          <a:p>
            <a:pPr marL="0" indent="0" algn="l">
              <a:buNone/>
            </a:pPr>
            <a:r>
              <a:rPr lang="en-US" sz="1050" dirty="0">
                <a:solidFill>
                  <a:srgbClr val="F2BBCC"/>
                </a:solidFill>
                <a:latin typeface="Calibri" panose="020F0502020204030204" pitchFamily="34" charset="0"/>
                <a:ea typeface="Calibri" panose="020F0502020204030204" pitchFamily="34" charset="-122"/>
                <a:cs typeface="Calibri" panose="020F0502020204030204" pitchFamily="34" charset="-120"/>
              </a:rPr>
              <a:t>All 7 KNN features scaled to [0,1]. Formula: x_scaled = (x - x_min)/(x_max - x_min). Prevents income (0–2,400 JD) dominating stage values (1–4) in Euclidean distance.</a:t>
            </a:r>
            <a:endParaRPr lang="en-US" sz="1050" dirty="0"/>
          </a:p>
        </p:txBody>
      </p:sp>
      <p:sp>
        <p:nvSpPr>
          <p:cNvPr id="29" name="Shape 27"/>
          <p:cNvSpPr/>
          <p:nvPr/>
        </p:nvSpPr>
        <p:spPr>
          <a:xfrm>
            <a:off x="320040" y="3931920"/>
            <a:ext cx="8503920" cy="804672"/>
          </a:xfrm>
          <a:prstGeom prst="rect">
            <a:avLst/>
          </a:prstGeom>
          <a:solidFill>
            <a:srgbClr val="FFFFFF">
              <a:alpha val="10000"/>
            </a:srgbClr>
          </a:solidFill>
          <a:ln w="12700">
            <a:solidFill>
              <a:srgbClr val="F5C0A0"/>
            </a:solidFill>
            <a:prstDash val="solid"/>
          </a:ln>
        </p:spPr>
      </p:sp>
      <p:sp>
        <p:nvSpPr>
          <p:cNvPr id="30" name="Shape 28"/>
          <p:cNvSpPr/>
          <p:nvPr/>
        </p:nvSpPr>
        <p:spPr>
          <a:xfrm>
            <a:off x="384048" y="4041648"/>
            <a:ext cx="566928" cy="594360"/>
          </a:xfrm>
          <a:prstGeom prst="roundRect">
            <a:avLst>
              <a:gd name="adj" fmla="val 12903"/>
            </a:avLst>
          </a:prstGeom>
          <a:solidFill>
            <a:srgbClr val="F5C0A0">
              <a:alpha val="80000"/>
            </a:srgbClr>
          </a:solidFill>
          <a:ln w="12700">
            <a:solidFill>
              <a:srgbClr val="F5C0A0"/>
            </a:solidFill>
            <a:prstDash val="solid"/>
          </a:ln>
        </p:spPr>
      </p:sp>
      <p:sp>
        <p:nvSpPr>
          <p:cNvPr id="31" name="Text 29"/>
          <p:cNvSpPr/>
          <p:nvPr/>
        </p:nvSpPr>
        <p:spPr>
          <a:xfrm>
            <a:off x="384048" y="4041648"/>
            <a:ext cx="566928" cy="594360"/>
          </a:xfrm>
          <a:prstGeom prst="rect">
            <a:avLst/>
          </a:prstGeom>
          <a:noFill/>
        </p:spPr>
        <p:txBody>
          <a:bodyPr wrap="square" lIns="0" tIns="0" rIns="0" bIns="0" rtlCol="0" anchor="ctr"/>
          <a:lstStyle/>
          <a:p>
            <a:pPr marL="0" indent="0" algn="ctr">
              <a:buNone/>
            </a:pPr>
            <a:r>
              <a:rPr lang="en-US" sz="1800" b="1" dirty="0">
                <a:solidFill>
                  <a:srgbClr val="FFFFFF"/>
                </a:solidFill>
                <a:latin typeface="Georgia" panose="02040502050405020303" pitchFamily="34" charset="0"/>
                <a:ea typeface="Georgia" panose="02040502050405020303" pitchFamily="34" charset="-122"/>
                <a:cs typeface="Georgia" panose="02040502050405020303" pitchFamily="34" charset="-120"/>
              </a:rPr>
              <a:t>08</a:t>
            </a:r>
            <a:endParaRPr lang="en-US" sz="1800" dirty="0"/>
          </a:p>
        </p:txBody>
      </p:sp>
      <p:sp>
        <p:nvSpPr>
          <p:cNvPr id="32" name="Text 30"/>
          <p:cNvSpPr/>
          <p:nvPr/>
        </p:nvSpPr>
        <p:spPr>
          <a:xfrm>
            <a:off x="1078992" y="4005072"/>
            <a:ext cx="2560320" cy="292608"/>
          </a:xfrm>
          <a:prstGeom prst="rect">
            <a:avLst/>
          </a:prstGeom>
          <a:noFill/>
        </p:spPr>
        <p:txBody>
          <a:bodyPr wrap="square" lIns="0" tIns="0" rIns="0" bIns="0" rtlCol="0" anchor="ctr"/>
          <a:lstStyle/>
          <a:p>
            <a:pPr marL="0" indent="0" algn="l">
              <a:buNone/>
            </a:pPr>
            <a:r>
              <a:rPr lang="en-US" sz="1250" b="1" dirty="0">
                <a:solidFill>
                  <a:srgbClr val="FFFFFF"/>
                </a:solidFill>
              </a:rPr>
              <a:t>Train / Test Split</a:t>
            </a:r>
            <a:endParaRPr lang="en-US" sz="1250" dirty="0"/>
          </a:p>
        </p:txBody>
      </p:sp>
      <p:sp>
        <p:nvSpPr>
          <p:cNvPr id="33" name="Shape 31"/>
          <p:cNvSpPr/>
          <p:nvPr/>
        </p:nvSpPr>
        <p:spPr>
          <a:xfrm>
            <a:off x="1078992" y="4352544"/>
            <a:ext cx="1828800" cy="274320"/>
          </a:xfrm>
          <a:prstGeom prst="rect">
            <a:avLst/>
          </a:prstGeom>
          <a:solidFill>
            <a:srgbClr val="3A2245"/>
          </a:solidFill>
          <a:ln w="12700">
            <a:solidFill>
              <a:srgbClr val="F5C0A0"/>
            </a:solidFill>
            <a:prstDash val="solid"/>
          </a:ln>
        </p:spPr>
      </p:sp>
      <p:sp>
        <p:nvSpPr>
          <p:cNvPr id="34" name="Text 32"/>
          <p:cNvSpPr/>
          <p:nvPr/>
        </p:nvSpPr>
        <p:spPr>
          <a:xfrm>
            <a:off x="1078992" y="4352544"/>
            <a:ext cx="1828800" cy="274320"/>
          </a:xfrm>
          <a:prstGeom prst="rect">
            <a:avLst/>
          </a:prstGeom>
          <a:noFill/>
        </p:spPr>
        <p:txBody>
          <a:bodyPr wrap="square" lIns="0" tIns="0" rIns="0" bIns="0" rtlCol="0" anchor="ctr"/>
          <a:lstStyle/>
          <a:p>
            <a:pPr marL="0" indent="0" algn="ctr">
              <a:buNone/>
            </a:pPr>
            <a:r>
              <a:rPr lang="en-US" sz="950" b="1" dirty="0">
                <a:solidFill>
                  <a:srgbClr val="F5C0A0"/>
                </a:solidFill>
                <a:latin typeface="Consolas" panose="020B0609020204030204" pitchFamily="34" charset="0"/>
                <a:ea typeface="Consolas" panose="020B0609020204030204" pitchFamily="34" charset="-122"/>
                <a:cs typeface="Consolas" panose="020B0609020204030204" pitchFamily="34" charset="-120"/>
              </a:rPr>
              <a:t>train_test_split(test_size=0.3)</a:t>
            </a:r>
            <a:endParaRPr lang="en-US" sz="950" dirty="0"/>
          </a:p>
        </p:txBody>
      </p:sp>
      <p:sp>
        <p:nvSpPr>
          <p:cNvPr id="35" name="Text 33"/>
          <p:cNvSpPr/>
          <p:nvPr/>
        </p:nvSpPr>
        <p:spPr>
          <a:xfrm>
            <a:off x="3063240" y="4041648"/>
            <a:ext cx="5687568" cy="594360"/>
          </a:xfrm>
          <a:prstGeom prst="rect">
            <a:avLst/>
          </a:prstGeom>
          <a:noFill/>
        </p:spPr>
        <p:txBody>
          <a:bodyPr wrap="square" lIns="0" tIns="0" rIns="0" bIns="0" rtlCol="0" anchor="ctr"/>
          <a:lstStyle/>
          <a:p>
            <a:pPr marL="0" indent="0" algn="l">
              <a:buNone/>
            </a:pPr>
            <a:r>
              <a:rPr lang="en-US" sz="1050" dirty="0">
                <a:solidFill>
                  <a:srgbClr val="F2BBCC"/>
                </a:solidFill>
                <a:latin typeface="Calibri" panose="020F0502020204030204" pitchFamily="34" charset="0"/>
                <a:ea typeface="Calibri" panose="020F0502020204030204" pitchFamily="34" charset="-122"/>
                <a:cs typeface="Calibri" panose="020F0502020204030204" pitchFamily="34" charset="-120"/>
              </a:rPr>
              <a:t>70% training set: 78 patients for the KNN retrieval index. 30% held-out test set: 33 patients for Precision@4 evaluation across 50 unseen query profiles.</a:t>
            </a:r>
            <a:endParaRPr lang="en-US" sz="1050" dirty="0"/>
          </a:p>
        </p:txBody>
      </p:sp>
      <p:sp>
        <p:nvSpPr>
          <p:cNvPr id="36" name="Shape 34"/>
          <p:cNvSpPr/>
          <p:nvPr/>
        </p:nvSpPr>
        <p:spPr>
          <a:xfrm>
            <a:off x="320040" y="4846320"/>
            <a:ext cx="8503920" cy="256032"/>
          </a:xfrm>
          <a:prstGeom prst="rect">
            <a:avLst/>
          </a:prstGeom>
          <a:solidFill>
            <a:srgbClr val="F5C0A0">
              <a:alpha val="15000"/>
            </a:srgbClr>
          </a:solidFill>
          <a:ln w="12700">
            <a:solidFill>
              <a:srgbClr val="F5C0A0"/>
            </a:solidFill>
            <a:prstDash val="solid"/>
          </a:ln>
        </p:spPr>
      </p:sp>
      <p:sp>
        <p:nvSpPr>
          <p:cNvPr id="37" name="Text 35"/>
          <p:cNvSpPr/>
          <p:nvPr/>
        </p:nvSpPr>
        <p:spPr>
          <a:xfrm>
            <a:off x="457200" y="4846320"/>
            <a:ext cx="8229600" cy="256032"/>
          </a:xfrm>
          <a:prstGeom prst="rect">
            <a:avLst/>
          </a:prstGeom>
          <a:noFill/>
        </p:spPr>
        <p:txBody>
          <a:bodyPr wrap="square" lIns="0" tIns="0" rIns="0" bIns="0" rtlCol="0" anchor="ctr"/>
          <a:lstStyle/>
          <a:p>
            <a:pPr marL="0" indent="0" algn="ctr">
              <a:buNone/>
            </a:pPr>
            <a:r>
              <a:rPr lang="en-US" sz="1000" b="1" dirty="0">
                <a:solidFill>
                  <a:srgbClr val="FFFFFF"/>
                </a:solidFill>
              </a:rPr>
              <a:t>MinMaxScaler:  x_scaled = (x - x_min) / (x_max - x_min)   →   All 7 features in [0,1]   |   Train: 78 patients   Test: 33 patients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5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7B5EA7"/>
          </a:solidFill>
          <a:ln w="12700">
            <a:solidFill>
              <a:srgbClr val="7B5EA7"/>
            </a:solidFill>
            <a:prstDash val="solid"/>
          </a:ln>
        </p:spPr>
      </p:sp>
      <p:sp>
        <p:nvSpPr>
          <p:cNvPr id="3" name="Shape 1"/>
          <p:cNvSpPr/>
          <p:nvPr/>
        </p:nvSpPr>
        <p:spPr>
          <a:xfrm>
            <a:off x="0" y="4892040"/>
            <a:ext cx="9144000" cy="251460"/>
          </a:xfrm>
          <a:prstGeom prst="rect">
            <a:avLst/>
          </a:prstGeom>
          <a:solidFill>
            <a:srgbClr val="A0395A"/>
          </a:solidFill>
          <a:ln w="12700">
            <a:solidFill>
              <a:srgbClr val="A0395A"/>
            </a:solidFill>
            <a:prstDash val="solid"/>
          </a:ln>
        </p:spPr>
      </p:sp>
      <p:sp>
        <p:nvSpPr>
          <p:cNvPr id="4" name="Text 2"/>
          <p:cNvSpPr/>
          <p:nvPr/>
        </p:nvSpPr>
        <p:spPr>
          <a:xfrm>
            <a:off x="274320" y="4892040"/>
            <a:ext cx="8595360" cy="251460"/>
          </a:xfrm>
          <a:prstGeom prst="rect">
            <a:avLst/>
          </a:prstGeom>
          <a:noFill/>
        </p:spPr>
        <p:txBody>
          <a:bodyPr wrap="square" lIns="0" tIns="0" rIns="0" bIns="0" rtlCol="0" anchor="ctr"/>
          <a:lstStyle/>
          <a:p>
            <a:pPr marL="0" indent="0" algn="ctr">
              <a:buNone/>
            </a:pPr>
            <a:r>
              <a:rPr lang="en-US" sz="850" dirty="0">
                <a:solidFill>
                  <a:srgbClr val="F2BBCC"/>
                </a:solidFill>
                <a:latin typeface="Calibri" panose="020F0502020204030204" pitchFamily="34" charset="0"/>
                <a:ea typeface="Calibri" panose="020F0502020204030204" pitchFamily="34" charset="-122"/>
                <a:cs typeface="Calibri" panose="020F0502020204030204" pitchFamily="34" charset="-120"/>
              </a:rPr>
              <a:t>KHCC AidConnect  ·  Graduation Project Defense  ·  Mallak Abu Sada &amp; Maya Abu Aslahamat  ·  2025/2026</a:t>
            </a:r>
            <a:endParaRPr lang="en-US" sz="850" dirty="0"/>
          </a:p>
        </p:txBody>
      </p:sp>
      <p:sp>
        <p:nvSpPr>
          <p:cNvPr id="5" name="Shape 3"/>
          <p:cNvSpPr/>
          <p:nvPr/>
        </p:nvSpPr>
        <p:spPr>
          <a:xfrm>
            <a:off x="7790688" y="256032"/>
            <a:ext cx="1005840" cy="274320"/>
          </a:xfrm>
          <a:prstGeom prst="roundRect">
            <a:avLst>
              <a:gd name="adj" fmla="val 20000"/>
            </a:avLst>
          </a:prstGeom>
          <a:solidFill>
            <a:srgbClr val="E8855A"/>
          </a:solidFill>
          <a:ln w="12700">
            <a:solidFill>
              <a:srgbClr val="E8855A"/>
            </a:solidFill>
            <a:prstDash val="solid"/>
          </a:ln>
        </p:spPr>
      </p:sp>
      <p:sp>
        <p:nvSpPr>
          <p:cNvPr id="6" name="Text 4"/>
          <p:cNvSpPr/>
          <p:nvPr/>
        </p:nvSpPr>
        <p:spPr>
          <a:xfrm>
            <a:off x="7790688" y="256032"/>
            <a:ext cx="1005840" cy="274320"/>
          </a:xfrm>
          <a:prstGeom prst="rect">
            <a:avLst/>
          </a:prstGeom>
          <a:noFill/>
        </p:spPr>
        <p:txBody>
          <a:bodyPr wrap="square" lIns="0" tIns="0" rIns="0" bIns="0" rtlCol="0" anchor="ctr"/>
          <a:lstStyle/>
          <a:p>
            <a:pPr marL="0" indent="0" algn="ctr">
              <a:buNone/>
            </a:pPr>
            <a:r>
              <a:rPr lang="en-US" sz="850" b="1" kern="0" spc="50" dirty="0">
                <a:solidFill>
                  <a:srgbClr val="FFFFFF"/>
                </a:solidFill>
              </a:rPr>
              <a:t>SLIDE 10 / 20</a:t>
            </a:r>
            <a:endParaRPr lang="en-US" sz="850" dirty="0"/>
          </a:p>
        </p:txBody>
      </p:sp>
      <p:sp>
        <p:nvSpPr>
          <p:cNvPr id="7" name="Text 5"/>
          <p:cNvSpPr/>
          <p:nvPr/>
        </p:nvSpPr>
        <p:spPr>
          <a:xfrm>
            <a:off x="411480" y="164592"/>
            <a:ext cx="7772400" cy="594360"/>
          </a:xfrm>
          <a:prstGeom prst="rect">
            <a:avLst/>
          </a:prstGeom>
          <a:noFill/>
        </p:spPr>
        <p:txBody>
          <a:bodyPr wrap="square" lIns="0" tIns="0" rIns="0" bIns="0" rtlCol="0" anchor="ctr"/>
          <a:lstStyle/>
          <a:p>
            <a:pPr marL="0" indent="0" algn="l">
              <a:buNone/>
            </a:pPr>
            <a:r>
              <a:rPr lang="en-US" sz="2400" b="1" dirty="0">
                <a:solidFill>
                  <a:srgbClr val="FFFFFF"/>
                </a:solidFill>
                <a:latin typeface="Georgia" panose="02040502050405020303" pitchFamily="34" charset="0"/>
                <a:ea typeface="Georgia" panose="02040502050405020303" pitchFamily="34" charset="-122"/>
                <a:cs typeface="Georgia" panose="02040502050405020303" pitchFamily="34" charset="-120"/>
              </a:rPr>
              <a:t>AI System Architecture — Block Diagram</a:t>
            </a:r>
            <a:endParaRPr lang="en-US" sz="2400" dirty="0"/>
          </a:p>
        </p:txBody>
      </p:sp>
      <p:sp>
        <p:nvSpPr>
          <p:cNvPr id="8" name="Shape 6"/>
          <p:cNvSpPr/>
          <p:nvPr/>
        </p:nvSpPr>
        <p:spPr>
          <a:xfrm>
            <a:off x="699770" y="1545590"/>
            <a:ext cx="7653020" cy="594360"/>
          </a:xfrm>
          <a:prstGeom prst="rect">
            <a:avLst/>
          </a:prstGeom>
          <a:solidFill>
            <a:srgbClr val="C9617A"/>
          </a:solidFill>
          <a:ln w="12700">
            <a:solidFill>
              <a:srgbClr val="C9617A"/>
            </a:solidFill>
            <a:prstDash val="solid"/>
          </a:ln>
        </p:spPr>
      </p:sp>
      <p:sp>
        <p:nvSpPr>
          <p:cNvPr id="9" name="Text 7"/>
          <p:cNvSpPr/>
          <p:nvPr/>
        </p:nvSpPr>
        <p:spPr>
          <a:xfrm>
            <a:off x="654812" y="1545590"/>
            <a:ext cx="7744968" cy="274320"/>
          </a:xfrm>
          <a:prstGeom prst="rect">
            <a:avLst/>
          </a:prstGeom>
          <a:noFill/>
        </p:spPr>
        <p:txBody>
          <a:bodyPr wrap="square" lIns="0" tIns="0" rIns="0" bIns="0" rtlCol="0" anchor="ctr"/>
          <a:lstStyle/>
          <a:p>
            <a:pPr marL="0" indent="0" algn="ctr">
              <a:buNone/>
            </a:pPr>
            <a:r>
              <a:rPr lang="en-US" sz="1050" b="1" kern="0" spc="200" dirty="0">
                <a:solidFill>
                  <a:srgbClr val="FFFFFF"/>
                </a:solidFill>
              </a:rPr>
              <a:t>PRESENTATION LAYER</a:t>
            </a:r>
            <a:endParaRPr lang="en-US" sz="1050" dirty="0"/>
          </a:p>
        </p:txBody>
      </p:sp>
      <p:sp>
        <p:nvSpPr>
          <p:cNvPr id="10" name="Shape 8"/>
          <p:cNvSpPr/>
          <p:nvPr/>
        </p:nvSpPr>
        <p:spPr>
          <a:xfrm>
            <a:off x="838327" y="1886331"/>
            <a:ext cx="1389888" cy="228600"/>
          </a:xfrm>
          <a:prstGeom prst="roundRect">
            <a:avLst>
              <a:gd name="adj" fmla="val 20000"/>
            </a:avLst>
          </a:prstGeom>
          <a:solidFill>
            <a:srgbClr val="E8A0BF"/>
          </a:solidFill>
          <a:ln w="12700">
            <a:solidFill>
              <a:srgbClr val="E8A0BF"/>
            </a:solidFill>
            <a:prstDash val="solid"/>
          </a:ln>
        </p:spPr>
      </p:sp>
      <p:sp>
        <p:nvSpPr>
          <p:cNvPr id="11" name="Text 9"/>
          <p:cNvSpPr/>
          <p:nvPr/>
        </p:nvSpPr>
        <p:spPr>
          <a:xfrm>
            <a:off x="838327" y="1886331"/>
            <a:ext cx="1389888" cy="228600"/>
          </a:xfrm>
          <a:prstGeom prst="rect">
            <a:avLst/>
          </a:prstGeom>
          <a:noFill/>
        </p:spPr>
        <p:txBody>
          <a:bodyPr wrap="square" lIns="0" tIns="0" rIns="0" bIns="0" rtlCol="0" anchor="ctr"/>
          <a:lstStyle/>
          <a:p>
            <a:pPr marL="0" indent="0" algn="ctr">
              <a:buNone/>
            </a:pPr>
            <a:r>
              <a:rPr lang="en-US" sz="750" b="1" dirty="0">
                <a:solidFill>
                  <a:srgbClr val="FFFFFF"/>
                </a:solidFill>
              </a:rPr>
              <a:t>Tableau Dash 1</a:t>
            </a:r>
            <a:endParaRPr lang="en-US" sz="750" dirty="0"/>
          </a:p>
          <a:p>
            <a:pPr marL="0" indent="0" algn="ctr">
              <a:buNone/>
            </a:pPr>
            <a:r>
              <a:rPr lang="en-US" sz="750" b="1" dirty="0">
                <a:solidFill>
                  <a:srgbClr val="FFFFFF"/>
                </a:solidFill>
              </a:rPr>
              <a:t>Patient Need</a:t>
            </a:r>
            <a:endParaRPr lang="en-US" sz="750" dirty="0"/>
          </a:p>
        </p:txBody>
      </p:sp>
      <p:sp>
        <p:nvSpPr>
          <p:cNvPr id="12" name="Shape 10"/>
          <p:cNvSpPr/>
          <p:nvPr/>
        </p:nvSpPr>
        <p:spPr>
          <a:xfrm>
            <a:off x="2323211" y="1886331"/>
            <a:ext cx="1389888" cy="228600"/>
          </a:xfrm>
          <a:prstGeom prst="roundRect">
            <a:avLst>
              <a:gd name="adj" fmla="val 20000"/>
            </a:avLst>
          </a:prstGeom>
          <a:solidFill>
            <a:srgbClr val="E8A0BF"/>
          </a:solidFill>
          <a:ln w="12700">
            <a:solidFill>
              <a:srgbClr val="E8A0BF"/>
            </a:solidFill>
            <a:prstDash val="solid"/>
          </a:ln>
        </p:spPr>
      </p:sp>
      <p:sp>
        <p:nvSpPr>
          <p:cNvPr id="13" name="Text 11"/>
          <p:cNvSpPr/>
          <p:nvPr/>
        </p:nvSpPr>
        <p:spPr>
          <a:xfrm>
            <a:off x="2323211" y="1886331"/>
            <a:ext cx="1389888" cy="228600"/>
          </a:xfrm>
          <a:prstGeom prst="rect">
            <a:avLst/>
          </a:prstGeom>
          <a:noFill/>
        </p:spPr>
        <p:txBody>
          <a:bodyPr wrap="square" lIns="0" tIns="0" rIns="0" bIns="0" rtlCol="0" anchor="ctr"/>
          <a:lstStyle/>
          <a:p>
            <a:pPr marL="0" indent="0" algn="ctr">
              <a:buNone/>
            </a:pPr>
            <a:r>
              <a:rPr lang="en-US" sz="750" b="1" dirty="0">
                <a:solidFill>
                  <a:srgbClr val="FFFFFF"/>
                </a:solidFill>
              </a:rPr>
              <a:t>Tableau Dash 2</a:t>
            </a:r>
            <a:endParaRPr lang="en-US" sz="750" dirty="0"/>
          </a:p>
          <a:p>
            <a:pPr marL="0" indent="0" algn="ctr">
              <a:buNone/>
            </a:pPr>
            <a:r>
              <a:rPr lang="en-US" sz="750" b="1" dirty="0">
                <a:solidFill>
                  <a:srgbClr val="FFFFFF"/>
                </a:solidFill>
              </a:rPr>
              <a:t>Match Outcomes</a:t>
            </a:r>
            <a:endParaRPr lang="en-US" sz="750" dirty="0"/>
          </a:p>
        </p:txBody>
      </p:sp>
      <p:sp>
        <p:nvSpPr>
          <p:cNvPr id="14" name="Shape 12"/>
          <p:cNvSpPr/>
          <p:nvPr/>
        </p:nvSpPr>
        <p:spPr>
          <a:xfrm>
            <a:off x="3785235" y="1886331"/>
            <a:ext cx="1389888" cy="228600"/>
          </a:xfrm>
          <a:prstGeom prst="roundRect">
            <a:avLst>
              <a:gd name="adj" fmla="val 20000"/>
            </a:avLst>
          </a:prstGeom>
          <a:solidFill>
            <a:srgbClr val="E8A0BF"/>
          </a:solidFill>
          <a:ln w="12700">
            <a:solidFill>
              <a:srgbClr val="E8A0BF"/>
            </a:solidFill>
            <a:prstDash val="solid"/>
          </a:ln>
        </p:spPr>
      </p:sp>
      <p:sp>
        <p:nvSpPr>
          <p:cNvPr id="15" name="Text 13"/>
          <p:cNvSpPr/>
          <p:nvPr/>
        </p:nvSpPr>
        <p:spPr>
          <a:xfrm>
            <a:off x="3785235" y="1886331"/>
            <a:ext cx="1389888" cy="228600"/>
          </a:xfrm>
          <a:prstGeom prst="rect">
            <a:avLst/>
          </a:prstGeom>
          <a:noFill/>
        </p:spPr>
        <p:txBody>
          <a:bodyPr wrap="square" lIns="0" tIns="0" rIns="0" bIns="0" rtlCol="0" anchor="ctr"/>
          <a:lstStyle/>
          <a:p>
            <a:pPr marL="0" indent="0" algn="ctr">
              <a:buNone/>
            </a:pPr>
            <a:r>
              <a:rPr lang="en-US" sz="750" b="1" dirty="0">
                <a:solidFill>
                  <a:srgbClr val="FFFFFF"/>
                </a:solidFill>
              </a:rPr>
              <a:t>Tableau Dash 3</a:t>
            </a:r>
            <a:endParaRPr lang="en-US" sz="750" dirty="0"/>
          </a:p>
          <a:p>
            <a:pPr marL="0" indent="0" algn="ctr">
              <a:buNone/>
            </a:pPr>
            <a:r>
              <a:rPr lang="en-US" sz="750" b="1" dirty="0">
                <a:solidFill>
                  <a:srgbClr val="FFFFFF"/>
                </a:solidFill>
              </a:rPr>
              <a:t>Programme Demand</a:t>
            </a:r>
            <a:endParaRPr lang="en-US" sz="750" dirty="0"/>
          </a:p>
        </p:txBody>
      </p:sp>
      <p:sp>
        <p:nvSpPr>
          <p:cNvPr id="16" name="Shape 14"/>
          <p:cNvSpPr/>
          <p:nvPr/>
        </p:nvSpPr>
        <p:spPr>
          <a:xfrm>
            <a:off x="5271389" y="1886331"/>
            <a:ext cx="1389888" cy="228600"/>
          </a:xfrm>
          <a:prstGeom prst="roundRect">
            <a:avLst>
              <a:gd name="adj" fmla="val 20000"/>
            </a:avLst>
          </a:prstGeom>
          <a:solidFill>
            <a:srgbClr val="E8A0BF"/>
          </a:solidFill>
          <a:ln w="12700">
            <a:solidFill>
              <a:srgbClr val="E8A0BF"/>
            </a:solidFill>
            <a:prstDash val="solid"/>
          </a:ln>
        </p:spPr>
      </p:sp>
      <p:sp>
        <p:nvSpPr>
          <p:cNvPr id="17" name="Text 15"/>
          <p:cNvSpPr/>
          <p:nvPr/>
        </p:nvSpPr>
        <p:spPr>
          <a:xfrm>
            <a:off x="5271389" y="1886331"/>
            <a:ext cx="1389888" cy="228600"/>
          </a:xfrm>
          <a:prstGeom prst="rect">
            <a:avLst/>
          </a:prstGeom>
          <a:noFill/>
        </p:spPr>
        <p:txBody>
          <a:bodyPr wrap="square" lIns="0" tIns="0" rIns="0" bIns="0" rtlCol="0" anchor="ctr"/>
          <a:lstStyle/>
          <a:p>
            <a:pPr marL="0" indent="0" algn="ctr">
              <a:buNone/>
            </a:pPr>
            <a:r>
              <a:rPr lang="en-US" sz="750" b="1" dirty="0">
                <a:solidFill>
                  <a:srgbClr val="FFFFFF"/>
                </a:solidFill>
              </a:rPr>
              <a:t>Tableau Dash 4</a:t>
            </a:r>
            <a:endParaRPr lang="en-US" sz="750" dirty="0"/>
          </a:p>
          <a:p>
            <a:pPr marL="0" indent="0" algn="ctr">
              <a:buNone/>
            </a:pPr>
            <a:r>
              <a:rPr lang="en-US" sz="750" b="1" dirty="0">
                <a:solidFill>
                  <a:srgbClr val="FFFFFF"/>
                </a:solidFill>
              </a:rPr>
              <a:t>Donor Impact</a:t>
            </a:r>
            <a:endParaRPr lang="en-US" sz="750" dirty="0"/>
          </a:p>
        </p:txBody>
      </p:sp>
      <p:sp>
        <p:nvSpPr>
          <p:cNvPr id="18" name="Shape 16"/>
          <p:cNvSpPr/>
          <p:nvPr/>
        </p:nvSpPr>
        <p:spPr>
          <a:xfrm>
            <a:off x="6729603" y="1886331"/>
            <a:ext cx="1389888" cy="228600"/>
          </a:xfrm>
          <a:prstGeom prst="roundRect">
            <a:avLst>
              <a:gd name="adj" fmla="val 20000"/>
            </a:avLst>
          </a:prstGeom>
          <a:solidFill>
            <a:srgbClr val="E8A0BF"/>
          </a:solidFill>
          <a:ln w="12700">
            <a:solidFill>
              <a:srgbClr val="E8A0BF"/>
            </a:solidFill>
            <a:prstDash val="solid"/>
          </a:ln>
        </p:spPr>
        <p:txBody>
          <a:bodyPr/>
          <a:p>
            <a:endParaRPr lang="en-US"/>
          </a:p>
        </p:txBody>
      </p:sp>
      <p:sp>
        <p:nvSpPr>
          <p:cNvPr id="19" name="Text 17"/>
          <p:cNvSpPr/>
          <p:nvPr/>
        </p:nvSpPr>
        <p:spPr>
          <a:xfrm>
            <a:off x="6729603" y="1886331"/>
            <a:ext cx="1389888" cy="228600"/>
          </a:xfrm>
          <a:prstGeom prst="rect">
            <a:avLst/>
          </a:prstGeom>
          <a:noFill/>
        </p:spPr>
        <p:txBody>
          <a:bodyPr wrap="square" lIns="0" tIns="0" rIns="0" bIns="0" rtlCol="0" anchor="ctr"/>
          <a:lstStyle/>
          <a:p>
            <a:pPr marL="0" indent="0" algn="ctr">
              <a:buNone/>
            </a:pPr>
            <a:r>
              <a:rPr lang="en-US" sz="750" b="1" dirty="0">
                <a:solidFill>
                  <a:srgbClr val="FFFFFF"/>
                </a:solidFill>
              </a:rPr>
              <a:t>AidConnect</a:t>
            </a:r>
            <a:endParaRPr lang="en-US" sz="750" dirty="0"/>
          </a:p>
          <a:p>
            <a:pPr marL="0" indent="0" algn="ctr">
              <a:buNone/>
            </a:pPr>
            <a:r>
              <a:rPr lang="en-US" sz="750" b="1" dirty="0">
                <a:solidFill>
                  <a:srgbClr val="FFFFFF"/>
                </a:solidFill>
              </a:rPr>
              <a:t>Mobile App</a:t>
            </a:r>
            <a:endParaRPr lang="en-US" sz="750" dirty="0"/>
          </a:p>
        </p:txBody>
      </p:sp>
      <p:sp>
        <p:nvSpPr>
          <p:cNvPr id="20" name="Shape 18"/>
          <p:cNvSpPr/>
          <p:nvPr/>
        </p:nvSpPr>
        <p:spPr>
          <a:xfrm>
            <a:off x="699770" y="2231390"/>
            <a:ext cx="7654290" cy="594360"/>
          </a:xfrm>
          <a:prstGeom prst="rect">
            <a:avLst/>
          </a:prstGeom>
          <a:solidFill>
            <a:srgbClr val="7B5EA7"/>
          </a:solidFill>
          <a:ln w="12700">
            <a:solidFill>
              <a:srgbClr val="7B5EA7"/>
            </a:solidFill>
            <a:prstDash val="solid"/>
          </a:ln>
        </p:spPr>
        <p:txBody>
          <a:bodyPr/>
          <a:p>
            <a:endParaRPr lang="en-US"/>
          </a:p>
        </p:txBody>
      </p:sp>
      <p:sp>
        <p:nvSpPr>
          <p:cNvPr id="21" name="Text 19"/>
          <p:cNvSpPr/>
          <p:nvPr/>
        </p:nvSpPr>
        <p:spPr>
          <a:xfrm>
            <a:off x="609092" y="2231390"/>
            <a:ext cx="7744968" cy="274320"/>
          </a:xfrm>
          <a:prstGeom prst="rect">
            <a:avLst/>
          </a:prstGeom>
          <a:noFill/>
        </p:spPr>
        <p:txBody>
          <a:bodyPr wrap="square" lIns="0" tIns="0" rIns="0" bIns="0" rtlCol="0" anchor="ctr"/>
          <a:lstStyle/>
          <a:p>
            <a:pPr marL="0" indent="0" algn="ctr">
              <a:buNone/>
            </a:pPr>
            <a:r>
              <a:rPr lang="en-US" sz="1050" b="1" kern="0" spc="200" dirty="0">
                <a:solidFill>
                  <a:srgbClr val="FFFFFF"/>
                </a:solidFill>
              </a:rPr>
              <a:t>APPLICATION LAYER</a:t>
            </a:r>
            <a:endParaRPr lang="en-US" sz="1050" dirty="0"/>
          </a:p>
        </p:txBody>
      </p:sp>
      <p:sp>
        <p:nvSpPr>
          <p:cNvPr id="22" name="Shape 20"/>
          <p:cNvSpPr/>
          <p:nvPr/>
        </p:nvSpPr>
        <p:spPr>
          <a:xfrm>
            <a:off x="838327" y="2543556"/>
            <a:ext cx="1389888" cy="228600"/>
          </a:xfrm>
          <a:prstGeom prst="roundRect">
            <a:avLst>
              <a:gd name="adj" fmla="val 20000"/>
            </a:avLst>
          </a:prstGeom>
          <a:solidFill>
            <a:srgbClr val="B8A0D8"/>
          </a:solidFill>
          <a:ln w="12700">
            <a:solidFill>
              <a:srgbClr val="B8A0D8"/>
            </a:solidFill>
            <a:prstDash val="solid"/>
          </a:ln>
        </p:spPr>
      </p:sp>
      <p:sp>
        <p:nvSpPr>
          <p:cNvPr id="23" name="Text 21"/>
          <p:cNvSpPr/>
          <p:nvPr/>
        </p:nvSpPr>
        <p:spPr>
          <a:xfrm>
            <a:off x="838327" y="2543556"/>
            <a:ext cx="1389888" cy="228600"/>
          </a:xfrm>
          <a:prstGeom prst="rect">
            <a:avLst/>
          </a:prstGeom>
          <a:noFill/>
        </p:spPr>
        <p:txBody>
          <a:bodyPr wrap="square" lIns="0" tIns="0" rIns="0" bIns="0" rtlCol="0" anchor="ctr"/>
          <a:lstStyle/>
          <a:p>
            <a:pPr marL="0" indent="0" algn="ctr">
              <a:buNone/>
            </a:pPr>
            <a:r>
              <a:rPr lang="en-US" sz="750" b="1" dirty="0">
                <a:solidFill>
                  <a:srgbClr val="FFFFFF"/>
                </a:solidFill>
              </a:rPr>
              <a:t>4-Step</a:t>
            </a:r>
            <a:endParaRPr lang="en-US" sz="750" dirty="0"/>
          </a:p>
          <a:p>
            <a:pPr marL="0" indent="0" algn="ctr">
              <a:buNone/>
            </a:pPr>
            <a:r>
              <a:rPr lang="en-US" sz="750" b="1" dirty="0">
                <a:solidFill>
                  <a:srgbClr val="FFFFFF"/>
                </a:solidFill>
              </a:rPr>
              <a:t>Donation Flow</a:t>
            </a:r>
            <a:endParaRPr lang="en-US" sz="750" dirty="0"/>
          </a:p>
        </p:txBody>
      </p:sp>
      <p:sp>
        <p:nvSpPr>
          <p:cNvPr id="24" name="Shape 22"/>
          <p:cNvSpPr/>
          <p:nvPr/>
        </p:nvSpPr>
        <p:spPr>
          <a:xfrm>
            <a:off x="2323211" y="2543556"/>
            <a:ext cx="1389888" cy="228600"/>
          </a:xfrm>
          <a:prstGeom prst="roundRect">
            <a:avLst>
              <a:gd name="adj" fmla="val 20000"/>
            </a:avLst>
          </a:prstGeom>
          <a:solidFill>
            <a:srgbClr val="B8A0D8"/>
          </a:solidFill>
          <a:ln w="12700">
            <a:solidFill>
              <a:srgbClr val="B8A0D8"/>
            </a:solidFill>
            <a:prstDash val="solid"/>
          </a:ln>
        </p:spPr>
      </p:sp>
      <p:sp>
        <p:nvSpPr>
          <p:cNvPr id="25" name="Text 23"/>
          <p:cNvSpPr/>
          <p:nvPr/>
        </p:nvSpPr>
        <p:spPr>
          <a:xfrm>
            <a:off x="2323211" y="2543556"/>
            <a:ext cx="1389888" cy="228600"/>
          </a:xfrm>
          <a:prstGeom prst="rect">
            <a:avLst/>
          </a:prstGeom>
          <a:noFill/>
        </p:spPr>
        <p:txBody>
          <a:bodyPr wrap="square" lIns="0" tIns="0" rIns="0" bIns="0" rtlCol="0" anchor="ctr"/>
          <a:lstStyle/>
          <a:p>
            <a:pPr marL="0" indent="0" algn="ctr">
              <a:buNone/>
            </a:pPr>
            <a:r>
              <a:rPr lang="en-US" sz="750" b="1" dirty="0">
                <a:solidFill>
                  <a:srgbClr val="FFFFFF"/>
                </a:solidFill>
              </a:rPr>
              <a:t>KNN</a:t>
            </a:r>
            <a:endParaRPr lang="en-US" sz="750" dirty="0"/>
          </a:p>
          <a:p>
            <a:pPr marL="0" indent="0" algn="ctr">
              <a:buNone/>
            </a:pPr>
            <a:r>
              <a:rPr lang="en-US" sz="750" b="1" dirty="0">
                <a:solidFill>
                  <a:srgbClr val="FFFFFF"/>
                </a:solidFill>
              </a:rPr>
              <a:t>Engine API</a:t>
            </a:r>
            <a:endParaRPr lang="en-US" sz="750" dirty="0"/>
          </a:p>
        </p:txBody>
      </p:sp>
      <p:sp>
        <p:nvSpPr>
          <p:cNvPr id="26" name="Shape 24"/>
          <p:cNvSpPr/>
          <p:nvPr/>
        </p:nvSpPr>
        <p:spPr>
          <a:xfrm>
            <a:off x="3785235" y="2543556"/>
            <a:ext cx="1389888" cy="228600"/>
          </a:xfrm>
          <a:prstGeom prst="roundRect">
            <a:avLst>
              <a:gd name="adj" fmla="val 20000"/>
            </a:avLst>
          </a:prstGeom>
          <a:solidFill>
            <a:srgbClr val="B8A0D8"/>
          </a:solidFill>
          <a:ln w="12700">
            <a:solidFill>
              <a:srgbClr val="B8A0D8"/>
            </a:solidFill>
            <a:prstDash val="solid"/>
          </a:ln>
        </p:spPr>
      </p:sp>
      <p:sp>
        <p:nvSpPr>
          <p:cNvPr id="27" name="Text 25"/>
          <p:cNvSpPr/>
          <p:nvPr/>
        </p:nvSpPr>
        <p:spPr>
          <a:xfrm>
            <a:off x="3808730" y="2543556"/>
            <a:ext cx="1389888" cy="228600"/>
          </a:xfrm>
          <a:prstGeom prst="rect">
            <a:avLst/>
          </a:prstGeom>
          <a:noFill/>
        </p:spPr>
        <p:txBody>
          <a:bodyPr wrap="square" lIns="0" tIns="0" rIns="0" bIns="0" rtlCol="0" anchor="ctr"/>
          <a:lstStyle/>
          <a:p>
            <a:pPr marL="0" indent="0" algn="ctr">
              <a:buNone/>
            </a:pPr>
            <a:r>
              <a:rPr lang="en-US" sz="750" b="1" dirty="0">
                <a:solidFill>
                  <a:srgbClr val="FFFFFF"/>
                </a:solidFill>
              </a:rPr>
              <a:t>Recommender</a:t>
            </a:r>
            <a:endParaRPr lang="en-US" sz="750" dirty="0"/>
          </a:p>
          <a:p>
            <a:pPr marL="0" indent="0" algn="ctr">
              <a:buNone/>
            </a:pPr>
            <a:r>
              <a:rPr lang="en-US" sz="750" b="1" dirty="0">
                <a:solidFill>
                  <a:srgbClr val="FFFFFF"/>
                </a:solidFill>
              </a:rPr>
              <a:t>API</a:t>
            </a:r>
            <a:endParaRPr lang="en-US" sz="750" dirty="0"/>
          </a:p>
        </p:txBody>
      </p:sp>
      <p:sp>
        <p:nvSpPr>
          <p:cNvPr id="28" name="Shape 26"/>
          <p:cNvSpPr/>
          <p:nvPr/>
        </p:nvSpPr>
        <p:spPr>
          <a:xfrm>
            <a:off x="5271389" y="2543556"/>
            <a:ext cx="1389888" cy="228600"/>
          </a:xfrm>
          <a:prstGeom prst="roundRect">
            <a:avLst>
              <a:gd name="adj" fmla="val 20000"/>
            </a:avLst>
          </a:prstGeom>
          <a:solidFill>
            <a:srgbClr val="B8A0D8"/>
          </a:solidFill>
          <a:ln w="12700">
            <a:solidFill>
              <a:srgbClr val="B8A0D8"/>
            </a:solidFill>
            <a:prstDash val="solid"/>
          </a:ln>
        </p:spPr>
      </p:sp>
      <p:sp>
        <p:nvSpPr>
          <p:cNvPr id="29" name="Text 27"/>
          <p:cNvSpPr/>
          <p:nvPr/>
        </p:nvSpPr>
        <p:spPr>
          <a:xfrm>
            <a:off x="5271389" y="2543556"/>
            <a:ext cx="1389888" cy="228600"/>
          </a:xfrm>
          <a:prstGeom prst="rect">
            <a:avLst/>
          </a:prstGeom>
          <a:noFill/>
        </p:spPr>
        <p:txBody>
          <a:bodyPr wrap="square" lIns="0" tIns="0" rIns="0" bIns="0" rtlCol="0" anchor="ctr"/>
          <a:lstStyle/>
          <a:p>
            <a:pPr marL="0" indent="0" algn="ctr">
              <a:buNone/>
            </a:pPr>
            <a:r>
              <a:rPr lang="en-US" sz="750" b="1" dirty="0">
                <a:solidFill>
                  <a:srgbClr val="FFFFFF"/>
                </a:solidFill>
              </a:rPr>
              <a:t>Zakat</a:t>
            </a:r>
            <a:endParaRPr lang="en-US" sz="750" dirty="0"/>
          </a:p>
          <a:p>
            <a:pPr marL="0" indent="0" algn="ctr">
              <a:buNone/>
            </a:pPr>
            <a:r>
              <a:rPr lang="en-US" sz="750" b="1" dirty="0">
                <a:solidFill>
                  <a:srgbClr val="FFFFFF"/>
                </a:solidFill>
              </a:rPr>
              <a:t>Compliance Gate</a:t>
            </a:r>
            <a:endParaRPr lang="en-US" sz="750" dirty="0"/>
          </a:p>
        </p:txBody>
      </p:sp>
      <p:sp>
        <p:nvSpPr>
          <p:cNvPr id="30" name="Shape 28"/>
          <p:cNvSpPr/>
          <p:nvPr/>
        </p:nvSpPr>
        <p:spPr>
          <a:xfrm>
            <a:off x="6729603" y="2543556"/>
            <a:ext cx="1389888" cy="228600"/>
          </a:xfrm>
          <a:prstGeom prst="roundRect">
            <a:avLst>
              <a:gd name="adj" fmla="val 20000"/>
            </a:avLst>
          </a:prstGeom>
          <a:solidFill>
            <a:srgbClr val="B8A0D8"/>
          </a:solidFill>
          <a:ln w="12700">
            <a:solidFill>
              <a:srgbClr val="B8A0D8"/>
            </a:solidFill>
            <a:prstDash val="solid"/>
          </a:ln>
        </p:spPr>
        <p:txBody>
          <a:bodyPr/>
          <a:p>
            <a:endParaRPr lang="en-US"/>
          </a:p>
        </p:txBody>
      </p:sp>
      <p:sp>
        <p:nvSpPr>
          <p:cNvPr id="31" name="Text 29"/>
          <p:cNvSpPr/>
          <p:nvPr/>
        </p:nvSpPr>
        <p:spPr>
          <a:xfrm>
            <a:off x="6729603" y="2543556"/>
            <a:ext cx="1389888" cy="228600"/>
          </a:xfrm>
          <a:prstGeom prst="rect">
            <a:avLst/>
          </a:prstGeom>
          <a:noFill/>
        </p:spPr>
        <p:txBody>
          <a:bodyPr wrap="square" lIns="0" tIns="0" rIns="0" bIns="0" rtlCol="0" anchor="ctr"/>
          <a:lstStyle/>
          <a:p>
            <a:pPr marL="0" indent="0" algn="ctr">
              <a:buNone/>
            </a:pPr>
            <a:r>
              <a:rPr lang="en-US" sz="750" b="1" dirty="0">
                <a:solidFill>
                  <a:srgbClr val="FFFFFF"/>
                </a:solidFill>
              </a:rPr>
              <a:t>Impact</a:t>
            </a:r>
            <a:endParaRPr lang="en-US" sz="750" dirty="0"/>
          </a:p>
          <a:p>
            <a:pPr marL="0" indent="0" algn="ctr">
              <a:buNone/>
            </a:pPr>
            <a:r>
              <a:rPr lang="en-US" sz="750" b="1" dirty="0">
                <a:solidFill>
                  <a:srgbClr val="FFFFFF"/>
                </a:solidFill>
              </a:rPr>
              <a:t>Notifications</a:t>
            </a:r>
            <a:endParaRPr lang="en-US" sz="750" dirty="0"/>
          </a:p>
        </p:txBody>
      </p:sp>
      <p:sp>
        <p:nvSpPr>
          <p:cNvPr id="32" name="Shape 30"/>
          <p:cNvSpPr/>
          <p:nvPr/>
        </p:nvSpPr>
        <p:spPr>
          <a:xfrm>
            <a:off x="699770" y="2971800"/>
            <a:ext cx="7654290" cy="594360"/>
          </a:xfrm>
          <a:prstGeom prst="rect">
            <a:avLst/>
          </a:prstGeom>
          <a:solidFill>
            <a:srgbClr val="5FAF8A"/>
          </a:solidFill>
          <a:ln w="12700">
            <a:solidFill>
              <a:srgbClr val="5FAF8A"/>
            </a:solidFill>
            <a:prstDash val="solid"/>
          </a:ln>
        </p:spPr>
        <p:txBody>
          <a:bodyPr/>
          <a:p>
            <a:endParaRPr lang="en-US"/>
          </a:p>
        </p:txBody>
      </p:sp>
      <p:sp>
        <p:nvSpPr>
          <p:cNvPr id="33" name="Text 31"/>
          <p:cNvSpPr/>
          <p:nvPr/>
        </p:nvSpPr>
        <p:spPr>
          <a:xfrm>
            <a:off x="654812" y="2971800"/>
            <a:ext cx="7744968" cy="274320"/>
          </a:xfrm>
          <a:prstGeom prst="rect">
            <a:avLst/>
          </a:prstGeom>
          <a:noFill/>
        </p:spPr>
        <p:txBody>
          <a:bodyPr wrap="square" lIns="0" tIns="0" rIns="0" bIns="0" rtlCol="0" anchor="ctr"/>
          <a:lstStyle/>
          <a:p>
            <a:pPr marL="0" indent="0" algn="ctr">
              <a:buNone/>
            </a:pPr>
            <a:r>
              <a:rPr lang="en-US" sz="1050" b="1" kern="0" spc="200" dirty="0">
                <a:solidFill>
                  <a:srgbClr val="FFFFFF"/>
                </a:solidFill>
              </a:rPr>
              <a:t>ANALYTICS LAYER</a:t>
            </a:r>
            <a:endParaRPr lang="en-US" sz="1050" dirty="0"/>
          </a:p>
        </p:txBody>
      </p:sp>
      <p:sp>
        <p:nvSpPr>
          <p:cNvPr id="34" name="Shape 32"/>
          <p:cNvSpPr/>
          <p:nvPr/>
        </p:nvSpPr>
        <p:spPr>
          <a:xfrm>
            <a:off x="791337" y="3294126"/>
            <a:ext cx="1389888" cy="228600"/>
          </a:xfrm>
          <a:prstGeom prst="roundRect">
            <a:avLst>
              <a:gd name="adj" fmla="val 20000"/>
            </a:avLst>
          </a:prstGeom>
          <a:solidFill>
            <a:srgbClr val="A8D8C0"/>
          </a:solidFill>
          <a:ln w="12700">
            <a:solidFill>
              <a:srgbClr val="A8D8C0"/>
            </a:solidFill>
            <a:prstDash val="solid"/>
          </a:ln>
        </p:spPr>
      </p:sp>
      <p:sp>
        <p:nvSpPr>
          <p:cNvPr id="35" name="Text 33"/>
          <p:cNvSpPr/>
          <p:nvPr/>
        </p:nvSpPr>
        <p:spPr>
          <a:xfrm>
            <a:off x="811657" y="3294126"/>
            <a:ext cx="1389888" cy="228600"/>
          </a:xfrm>
          <a:prstGeom prst="rect">
            <a:avLst/>
          </a:prstGeom>
          <a:noFill/>
        </p:spPr>
        <p:txBody>
          <a:bodyPr wrap="square" lIns="0" tIns="0" rIns="0" bIns="0" rtlCol="0" anchor="ctr"/>
          <a:lstStyle/>
          <a:p>
            <a:pPr marL="0" indent="0" algn="ctr">
              <a:buNone/>
            </a:pPr>
            <a:r>
              <a:rPr lang="en-US" sz="750" b="1" dirty="0">
                <a:solidFill>
                  <a:srgbClr val="2A1A28"/>
                </a:solidFill>
              </a:rPr>
              <a:t>KNN Model</a:t>
            </a:r>
            <a:endParaRPr lang="en-US" sz="750" dirty="0"/>
          </a:p>
          <a:p>
            <a:pPr marL="0" indent="0" algn="ctr">
              <a:buNone/>
            </a:pPr>
            <a:r>
              <a:rPr lang="en-US" sz="750" b="1" dirty="0">
                <a:solidFill>
                  <a:srgbClr val="2A1A28"/>
                </a:solidFill>
              </a:rPr>
              <a:t>NB04 · k=5</a:t>
            </a:r>
            <a:endParaRPr lang="en-US" sz="750" dirty="0"/>
          </a:p>
        </p:txBody>
      </p:sp>
      <p:sp>
        <p:nvSpPr>
          <p:cNvPr id="36" name="Shape 34"/>
          <p:cNvSpPr/>
          <p:nvPr/>
        </p:nvSpPr>
        <p:spPr>
          <a:xfrm>
            <a:off x="2295271" y="3294126"/>
            <a:ext cx="1389888" cy="228600"/>
          </a:xfrm>
          <a:prstGeom prst="roundRect">
            <a:avLst>
              <a:gd name="adj" fmla="val 20000"/>
            </a:avLst>
          </a:prstGeom>
          <a:solidFill>
            <a:srgbClr val="A8D8C0"/>
          </a:solidFill>
          <a:ln w="12700">
            <a:solidFill>
              <a:srgbClr val="A8D8C0"/>
            </a:solidFill>
            <a:prstDash val="solid"/>
          </a:ln>
        </p:spPr>
        <p:txBody>
          <a:bodyPr/>
          <a:p>
            <a:endParaRPr lang="en-US"/>
          </a:p>
        </p:txBody>
      </p:sp>
      <p:sp>
        <p:nvSpPr>
          <p:cNvPr id="37" name="Text 35"/>
          <p:cNvSpPr/>
          <p:nvPr/>
        </p:nvSpPr>
        <p:spPr>
          <a:xfrm>
            <a:off x="2460371" y="3294126"/>
            <a:ext cx="1389888" cy="228600"/>
          </a:xfrm>
          <a:prstGeom prst="rect">
            <a:avLst/>
          </a:prstGeom>
          <a:noFill/>
        </p:spPr>
        <p:txBody>
          <a:bodyPr wrap="square" lIns="0" tIns="0" rIns="0" bIns="0" rtlCol="0" anchor="ctr"/>
          <a:lstStyle/>
          <a:p>
            <a:pPr marL="0" indent="0" algn="ctr">
              <a:buNone/>
            </a:pPr>
            <a:r>
              <a:rPr lang="en-US" sz="750" b="1" dirty="0">
                <a:solidFill>
                  <a:srgbClr val="2A1A28"/>
                </a:solidFill>
              </a:rPr>
              <a:t>Recommender</a:t>
            </a:r>
            <a:endParaRPr lang="en-US" sz="750" dirty="0"/>
          </a:p>
          <a:p>
            <a:pPr marL="0" indent="0" algn="ctr">
              <a:buNone/>
            </a:pPr>
            <a:r>
              <a:rPr lang="en-US" sz="750" b="1" dirty="0">
                <a:solidFill>
                  <a:srgbClr val="2A1A28"/>
                </a:solidFill>
              </a:rPr>
              <a:t>NB05 · 6 Rules</a:t>
            </a:r>
            <a:endParaRPr lang="en-US" sz="750" dirty="0"/>
          </a:p>
        </p:txBody>
      </p:sp>
      <p:sp>
        <p:nvSpPr>
          <p:cNvPr id="38" name="Shape 36"/>
          <p:cNvSpPr/>
          <p:nvPr/>
        </p:nvSpPr>
        <p:spPr>
          <a:xfrm>
            <a:off x="3785235" y="3294126"/>
            <a:ext cx="1389888" cy="228600"/>
          </a:xfrm>
          <a:prstGeom prst="roundRect">
            <a:avLst>
              <a:gd name="adj" fmla="val 20000"/>
            </a:avLst>
          </a:prstGeom>
          <a:solidFill>
            <a:srgbClr val="A8D8C0"/>
          </a:solidFill>
          <a:ln w="12700">
            <a:solidFill>
              <a:srgbClr val="A8D8C0"/>
            </a:solidFill>
            <a:prstDash val="solid"/>
          </a:ln>
        </p:spPr>
        <p:txBody>
          <a:bodyPr/>
          <a:p>
            <a:endParaRPr lang="en-US"/>
          </a:p>
        </p:txBody>
      </p:sp>
      <p:sp>
        <p:nvSpPr>
          <p:cNvPr id="39" name="Text 37"/>
          <p:cNvSpPr/>
          <p:nvPr/>
        </p:nvSpPr>
        <p:spPr>
          <a:xfrm>
            <a:off x="3785235" y="3294126"/>
            <a:ext cx="1389888" cy="228600"/>
          </a:xfrm>
          <a:prstGeom prst="rect">
            <a:avLst/>
          </a:prstGeom>
          <a:noFill/>
        </p:spPr>
        <p:txBody>
          <a:bodyPr wrap="square" lIns="0" tIns="0" rIns="0" bIns="0" rtlCol="0" anchor="ctr"/>
          <a:lstStyle/>
          <a:p>
            <a:pPr marL="0" indent="0" algn="ctr">
              <a:buNone/>
            </a:pPr>
            <a:r>
              <a:rPr lang="en-US" sz="750" b="1" dirty="0">
                <a:solidFill>
                  <a:srgbClr val="2A1A28"/>
                </a:solidFill>
              </a:rPr>
              <a:t>EDA+Tests</a:t>
            </a:r>
            <a:endParaRPr lang="en-US" sz="750" dirty="0"/>
          </a:p>
          <a:p>
            <a:pPr marL="0" indent="0" algn="ctr">
              <a:buNone/>
            </a:pPr>
            <a:r>
              <a:rPr lang="en-US" sz="750" b="1" dirty="0">
                <a:solidFill>
                  <a:srgbClr val="2A1A28"/>
                </a:solidFill>
              </a:rPr>
              <a:t>NB03 · 3 Pass</a:t>
            </a:r>
            <a:endParaRPr lang="en-US" sz="750" dirty="0"/>
          </a:p>
        </p:txBody>
      </p:sp>
      <p:sp>
        <p:nvSpPr>
          <p:cNvPr id="40" name="Shape 38"/>
          <p:cNvSpPr/>
          <p:nvPr/>
        </p:nvSpPr>
        <p:spPr>
          <a:xfrm>
            <a:off x="5271389" y="3294126"/>
            <a:ext cx="1389888" cy="228600"/>
          </a:xfrm>
          <a:prstGeom prst="roundRect">
            <a:avLst>
              <a:gd name="adj" fmla="val 20000"/>
            </a:avLst>
          </a:prstGeom>
          <a:solidFill>
            <a:srgbClr val="A8D8C0"/>
          </a:solidFill>
          <a:ln w="12700">
            <a:solidFill>
              <a:srgbClr val="A8D8C0"/>
            </a:solidFill>
            <a:prstDash val="solid"/>
          </a:ln>
        </p:spPr>
      </p:sp>
      <p:sp>
        <p:nvSpPr>
          <p:cNvPr id="41" name="Text 39"/>
          <p:cNvSpPr/>
          <p:nvPr/>
        </p:nvSpPr>
        <p:spPr>
          <a:xfrm>
            <a:off x="5339969" y="3294126"/>
            <a:ext cx="1389888" cy="228600"/>
          </a:xfrm>
          <a:prstGeom prst="rect">
            <a:avLst/>
          </a:prstGeom>
          <a:noFill/>
        </p:spPr>
        <p:txBody>
          <a:bodyPr wrap="square" lIns="0" tIns="0" rIns="0" bIns="0" rtlCol="0" anchor="ctr"/>
          <a:lstStyle/>
          <a:p>
            <a:pPr marL="0" indent="0" algn="ctr">
              <a:buNone/>
            </a:pPr>
            <a:r>
              <a:rPr lang="en-US" sz="750" b="1" dirty="0">
                <a:solidFill>
                  <a:srgbClr val="2A1A28"/>
                </a:solidFill>
              </a:rPr>
              <a:t>Zakat Audit</a:t>
            </a:r>
            <a:endParaRPr lang="en-US" sz="750" dirty="0"/>
          </a:p>
          <a:p>
            <a:pPr marL="0" indent="0" algn="ctr">
              <a:buNone/>
            </a:pPr>
            <a:r>
              <a:rPr lang="en-US" sz="750" b="1" dirty="0">
                <a:solidFill>
                  <a:srgbClr val="2A1A28"/>
                </a:solidFill>
              </a:rPr>
              <a:t>NB06 · Fixed</a:t>
            </a:r>
            <a:endParaRPr lang="en-US" sz="750" dirty="0"/>
          </a:p>
        </p:txBody>
      </p:sp>
      <p:sp>
        <p:nvSpPr>
          <p:cNvPr id="42" name="Shape 40"/>
          <p:cNvSpPr/>
          <p:nvPr/>
        </p:nvSpPr>
        <p:spPr>
          <a:xfrm>
            <a:off x="6766433" y="3294126"/>
            <a:ext cx="1389888" cy="228600"/>
          </a:xfrm>
          <a:prstGeom prst="roundRect">
            <a:avLst>
              <a:gd name="adj" fmla="val 20000"/>
            </a:avLst>
          </a:prstGeom>
          <a:solidFill>
            <a:srgbClr val="A8D8C0"/>
          </a:solidFill>
          <a:ln w="12700">
            <a:solidFill>
              <a:srgbClr val="A8D8C0"/>
            </a:solidFill>
            <a:prstDash val="solid"/>
          </a:ln>
        </p:spPr>
      </p:sp>
      <p:sp>
        <p:nvSpPr>
          <p:cNvPr id="43" name="Text 41"/>
          <p:cNvSpPr/>
          <p:nvPr/>
        </p:nvSpPr>
        <p:spPr>
          <a:xfrm>
            <a:off x="6793738" y="3294126"/>
            <a:ext cx="1389888" cy="228600"/>
          </a:xfrm>
          <a:prstGeom prst="rect">
            <a:avLst/>
          </a:prstGeom>
          <a:noFill/>
        </p:spPr>
        <p:txBody>
          <a:bodyPr wrap="square" lIns="0" tIns="0" rIns="0" bIns="0" rtlCol="0" anchor="ctr"/>
          <a:lstStyle/>
          <a:p>
            <a:pPr marL="0" indent="0" algn="ctr">
              <a:buNone/>
            </a:pPr>
            <a:r>
              <a:rPr lang="en-US" sz="750" b="1" dirty="0">
                <a:solidFill>
                  <a:srgbClr val="2A1A28"/>
                </a:solidFill>
              </a:rPr>
              <a:t>Impact Calc</a:t>
            </a:r>
            <a:endParaRPr lang="en-US" sz="750" dirty="0"/>
          </a:p>
          <a:p>
            <a:pPr marL="0" indent="0" algn="ctr">
              <a:buNone/>
            </a:pPr>
            <a:r>
              <a:rPr lang="en-US" sz="750" b="1" dirty="0">
                <a:solidFill>
                  <a:srgbClr val="2A1A28"/>
                </a:solidFill>
              </a:rPr>
              <a:t>NB06</a:t>
            </a:r>
            <a:endParaRPr lang="en-US" sz="750" dirty="0"/>
          </a:p>
        </p:txBody>
      </p:sp>
      <p:sp>
        <p:nvSpPr>
          <p:cNvPr id="44" name="Shape 42"/>
          <p:cNvSpPr/>
          <p:nvPr/>
        </p:nvSpPr>
        <p:spPr>
          <a:xfrm>
            <a:off x="699770" y="3657600"/>
            <a:ext cx="7653020" cy="594360"/>
          </a:xfrm>
          <a:prstGeom prst="rect">
            <a:avLst/>
          </a:prstGeom>
          <a:solidFill>
            <a:srgbClr val="5A9BC8"/>
          </a:solidFill>
          <a:ln w="12700">
            <a:solidFill>
              <a:srgbClr val="5A9BC8"/>
            </a:solidFill>
            <a:prstDash val="solid"/>
          </a:ln>
        </p:spPr>
        <p:txBody>
          <a:bodyPr/>
          <a:p>
            <a:endParaRPr lang="en-US"/>
          </a:p>
        </p:txBody>
      </p:sp>
      <p:sp>
        <p:nvSpPr>
          <p:cNvPr id="45" name="Text 43"/>
          <p:cNvSpPr/>
          <p:nvPr/>
        </p:nvSpPr>
        <p:spPr>
          <a:xfrm>
            <a:off x="699897" y="3685540"/>
            <a:ext cx="7744968" cy="274320"/>
          </a:xfrm>
          <a:prstGeom prst="rect">
            <a:avLst/>
          </a:prstGeom>
          <a:noFill/>
        </p:spPr>
        <p:txBody>
          <a:bodyPr wrap="square" lIns="0" tIns="0" rIns="0" bIns="0" rtlCol="0" anchor="ctr"/>
          <a:lstStyle/>
          <a:p>
            <a:pPr marL="0" indent="0" algn="ctr">
              <a:buNone/>
            </a:pPr>
            <a:r>
              <a:rPr lang="en-US" sz="1050" b="1" kern="0" spc="200" dirty="0">
                <a:solidFill>
                  <a:srgbClr val="FFFFFF"/>
                </a:solidFill>
              </a:rPr>
              <a:t>DATA LAYER</a:t>
            </a:r>
            <a:endParaRPr lang="en-US" sz="1050" dirty="0"/>
          </a:p>
        </p:txBody>
      </p:sp>
      <p:sp>
        <p:nvSpPr>
          <p:cNvPr id="46" name="Shape 44"/>
          <p:cNvSpPr/>
          <p:nvPr/>
        </p:nvSpPr>
        <p:spPr>
          <a:xfrm>
            <a:off x="791337" y="3959606"/>
            <a:ext cx="1389888" cy="228600"/>
          </a:xfrm>
          <a:prstGeom prst="roundRect">
            <a:avLst>
              <a:gd name="adj" fmla="val 20000"/>
            </a:avLst>
          </a:prstGeom>
          <a:solidFill>
            <a:srgbClr val="A0C8E8"/>
          </a:solidFill>
          <a:ln w="12700">
            <a:solidFill>
              <a:srgbClr val="A0C8E8"/>
            </a:solidFill>
            <a:prstDash val="solid"/>
          </a:ln>
        </p:spPr>
      </p:sp>
      <p:sp>
        <p:nvSpPr>
          <p:cNvPr id="47" name="Text 45"/>
          <p:cNvSpPr/>
          <p:nvPr/>
        </p:nvSpPr>
        <p:spPr>
          <a:xfrm>
            <a:off x="791337" y="3959606"/>
            <a:ext cx="1389888" cy="228600"/>
          </a:xfrm>
          <a:prstGeom prst="rect">
            <a:avLst/>
          </a:prstGeom>
          <a:noFill/>
        </p:spPr>
        <p:txBody>
          <a:bodyPr wrap="square" lIns="0" tIns="0" rIns="0" bIns="0" rtlCol="0" anchor="ctr"/>
          <a:lstStyle/>
          <a:p>
            <a:pPr marL="0" indent="0" algn="ctr">
              <a:buNone/>
            </a:pPr>
            <a:r>
              <a:rPr lang="en-US" sz="750" b="1" dirty="0">
                <a:solidFill>
                  <a:srgbClr val="2A1A28"/>
                </a:solidFill>
              </a:rPr>
              <a:t>KHCC_Dataset</a:t>
            </a:r>
            <a:endParaRPr lang="en-US" sz="750" dirty="0"/>
          </a:p>
          <a:p>
            <a:pPr marL="0" indent="0" algn="ctr">
              <a:buNone/>
            </a:pPr>
            <a:r>
              <a:rPr lang="en-US" sz="750" b="1" dirty="0">
                <a:solidFill>
                  <a:srgbClr val="2A1A28"/>
                </a:solidFill>
              </a:rPr>
              <a:t>_v4.xlsx</a:t>
            </a:r>
            <a:endParaRPr lang="en-US" sz="750" dirty="0"/>
          </a:p>
        </p:txBody>
      </p:sp>
      <p:sp>
        <p:nvSpPr>
          <p:cNvPr id="48" name="Shape 46"/>
          <p:cNvSpPr/>
          <p:nvPr/>
        </p:nvSpPr>
        <p:spPr>
          <a:xfrm>
            <a:off x="2295906" y="3959606"/>
            <a:ext cx="1389888" cy="228600"/>
          </a:xfrm>
          <a:prstGeom prst="roundRect">
            <a:avLst>
              <a:gd name="adj" fmla="val 20000"/>
            </a:avLst>
          </a:prstGeom>
          <a:solidFill>
            <a:srgbClr val="A0C8E8"/>
          </a:solidFill>
          <a:ln w="12700">
            <a:solidFill>
              <a:srgbClr val="A0C8E8"/>
            </a:solidFill>
            <a:prstDash val="solid"/>
          </a:ln>
        </p:spPr>
        <p:txBody>
          <a:bodyPr/>
          <a:p>
            <a:endParaRPr lang="en-US"/>
          </a:p>
        </p:txBody>
      </p:sp>
      <p:sp>
        <p:nvSpPr>
          <p:cNvPr id="49" name="Text 47"/>
          <p:cNvSpPr/>
          <p:nvPr/>
        </p:nvSpPr>
        <p:spPr>
          <a:xfrm>
            <a:off x="2295906" y="3959606"/>
            <a:ext cx="1389888" cy="228600"/>
          </a:xfrm>
          <a:prstGeom prst="rect">
            <a:avLst/>
          </a:prstGeom>
          <a:noFill/>
        </p:spPr>
        <p:txBody>
          <a:bodyPr wrap="square" lIns="0" tIns="0" rIns="0" bIns="0" rtlCol="0" anchor="ctr"/>
          <a:lstStyle/>
          <a:p>
            <a:pPr marL="0" indent="0" algn="ctr">
              <a:buNone/>
            </a:pPr>
            <a:r>
              <a:rPr lang="en-US" sz="750" b="1" dirty="0">
                <a:solidFill>
                  <a:srgbClr val="2A1A28"/>
                </a:solidFill>
              </a:rPr>
              <a:t>patients_clean</a:t>
            </a:r>
            <a:endParaRPr lang="en-US" sz="750" dirty="0"/>
          </a:p>
          <a:p>
            <a:pPr marL="0" indent="0" algn="ctr">
              <a:buNone/>
            </a:pPr>
            <a:r>
              <a:rPr lang="en-US" sz="750" b="1" dirty="0">
                <a:solidFill>
                  <a:srgbClr val="2A1A28"/>
                </a:solidFill>
              </a:rPr>
              <a:t>111×27 rows</a:t>
            </a:r>
            <a:endParaRPr lang="en-US" sz="750" dirty="0"/>
          </a:p>
        </p:txBody>
      </p:sp>
      <p:sp>
        <p:nvSpPr>
          <p:cNvPr id="50" name="Shape 48"/>
          <p:cNvSpPr/>
          <p:nvPr/>
        </p:nvSpPr>
        <p:spPr>
          <a:xfrm>
            <a:off x="3785235" y="3959606"/>
            <a:ext cx="1389888" cy="228600"/>
          </a:xfrm>
          <a:prstGeom prst="roundRect">
            <a:avLst>
              <a:gd name="adj" fmla="val 20000"/>
            </a:avLst>
          </a:prstGeom>
          <a:solidFill>
            <a:srgbClr val="A0C8E8"/>
          </a:solidFill>
          <a:ln w="12700">
            <a:solidFill>
              <a:srgbClr val="A0C8E8"/>
            </a:solidFill>
            <a:prstDash val="solid"/>
          </a:ln>
        </p:spPr>
        <p:txBody>
          <a:bodyPr/>
          <a:p>
            <a:endParaRPr lang="en-US"/>
          </a:p>
        </p:txBody>
      </p:sp>
      <p:sp>
        <p:nvSpPr>
          <p:cNvPr id="51" name="Text 49"/>
          <p:cNvSpPr/>
          <p:nvPr/>
        </p:nvSpPr>
        <p:spPr>
          <a:xfrm>
            <a:off x="3785235" y="3959606"/>
            <a:ext cx="1389888" cy="228600"/>
          </a:xfrm>
          <a:prstGeom prst="rect">
            <a:avLst/>
          </a:prstGeom>
          <a:noFill/>
        </p:spPr>
        <p:txBody>
          <a:bodyPr wrap="square" lIns="0" tIns="0" rIns="0" bIns="0" rtlCol="0" anchor="ctr"/>
          <a:lstStyle/>
          <a:p>
            <a:pPr marL="0" indent="0" algn="ctr">
              <a:buNone/>
            </a:pPr>
            <a:r>
              <a:rPr lang="en-US" sz="750" b="1" dirty="0">
                <a:solidFill>
                  <a:srgbClr val="2A1A28"/>
                </a:solidFill>
              </a:rPr>
              <a:t>donors_clean</a:t>
            </a:r>
            <a:endParaRPr lang="en-US" sz="750" dirty="0"/>
          </a:p>
          <a:p>
            <a:pPr marL="0" indent="0" algn="ctr">
              <a:buNone/>
            </a:pPr>
            <a:r>
              <a:rPr lang="en-US" sz="750" b="1" dirty="0">
                <a:solidFill>
                  <a:srgbClr val="2A1A28"/>
                </a:solidFill>
              </a:rPr>
              <a:t>250×19 rows</a:t>
            </a:r>
            <a:endParaRPr lang="en-US" sz="750" dirty="0"/>
          </a:p>
        </p:txBody>
      </p:sp>
      <p:sp>
        <p:nvSpPr>
          <p:cNvPr id="52" name="Shape 50"/>
          <p:cNvSpPr/>
          <p:nvPr/>
        </p:nvSpPr>
        <p:spPr>
          <a:xfrm>
            <a:off x="5271389" y="3959606"/>
            <a:ext cx="1389888" cy="228600"/>
          </a:xfrm>
          <a:prstGeom prst="roundRect">
            <a:avLst>
              <a:gd name="adj" fmla="val 20000"/>
            </a:avLst>
          </a:prstGeom>
          <a:solidFill>
            <a:srgbClr val="A0C8E8"/>
          </a:solidFill>
          <a:ln w="12700">
            <a:solidFill>
              <a:srgbClr val="A0C8E8"/>
            </a:solidFill>
            <a:prstDash val="solid"/>
          </a:ln>
        </p:spPr>
      </p:sp>
      <p:sp>
        <p:nvSpPr>
          <p:cNvPr id="53" name="Text 51"/>
          <p:cNvSpPr/>
          <p:nvPr/>
        </p:nvSpPr>
        <p:spPr>
          <a:xfrm>
            <a:off x="5271389" y="3959606"/>
            <a:ext cx="1389888" cy="228600"/>
          </a:xfrm>
          <a:prstGeom prst="rect">
            <a:avLst/>
          </a:prstGeom>
          <a:noFill/>
        </p:spPr>
        <p:txBody>
          <a:bodyPr wrap="square" lIns="0" tIns="0" rIns="0" bIns="0" rtlCol="0" anchor="ctr"/>
          <a:lstStyle/>
          <a:p>
            <a:pPr marL="0" indent="0" algn="ctr">
              <a:buNone/>
            </a:pPr>
            <a:r>
              <a:rPr lang="en-US" sz="750" b="1" dirty="0">
                <a:solidFill>
                  <a:srgbClr val="2A1A28"/>
                </a:solidFill>
              </a:rPr>
              <a:t>matches_clean</a:t>
            </a:r>
            <a:endParaRPr lang="en-US" sz="750" dirty="0"/>
          </a:p>
          <a:p>
            <a:pPr marL="0" indent="0" algn="ctr">
              <a:buNone/>
            </a:pPr>
            <a:r>
              <a:rPr lang="en-US" sz="750" b="1" dirty="0">
                <a:solidFill>
                  <a:srgbClr val="2A1A28"/>
                </a:solidFill>
              </a:rPr>
              <a:t>378×10 rows</a:t>
            </a:r>
            <a:endParaRPr lang="en-US" sz="750" dirty="0"/>
          </a:p>
        </p:txBody>
      </p:sp>
      <p:sp>
        <p:nvSpPr>
          <p:cNvPr id="54" name="Shape 52"/>
          <p:cNvSpPr/>
          <p:nvPr/>
        </p:nvSpPr>
        <p:spPr>
          <a:xfrm>
            <a:off x="6766433" y="3959606"/>
            <a:ext cx="1389888" cy="228600"/>
          </a:xfrm>
          <a:prstGeom prst="roundRect">
            <a:avLst>
              <a:gd name="adj" fmla="val 20000"/>
            </a:avLst>
          </a:prstGeom>
          <a:solidFill>
            <a:srgbClr val="A0C8E8"/>
          </a:solidFill>
          <a:ln w="12700">
            <a:solidFill>
              <a:srgbClr val="A0C8E8"/>
            </a:solidFill>
            <a:prstDash val="solid"/>
          </a:ln>
        </p:spPr>
        <p:txBody>
          <a:bodyPr/>
          <a:p>
            <a:endParaRPr lang="en-US"/>
          </a:p>
        </p:txBody>
      </p:sp>
      <p:sp>
        <p:nvSpPr>
          <p:cNvPr id="55" name="Text 53"/>
          <p:cNvSpPr/>
          <p:nvPr/>
        </p:nvSpPr>
        <p:spPr>
          <a:xfrm>
            <a:off x="6766433" y="3959606"/>
            <a:ext cx="1389888" cy="228600"/>
          </a:xfrm>
          <a:prstGeom prst="rect">
            <a:avLst/>
          </a:prstGeom>
          <a:noFill/>
        </p:spPr>
        <p:txBody>
          <a:bodyPr wrap="square" lIns="0" tIns="0" rIns="0" bIns="0" rtlCol="0" anchor="ctr"/>
          <a:lstStyle/>
          <a:p>
            <a:pPr marL="0" indent="0" algn="ctr">
              <a:buNone/>
            </a:pPr>
            <a:r>
              <a:rPr lang="en-US" sz="750" b="1" dirty="0">
                <a:solidFill>
                  <a:srgbClr val="2A1A28"/>
                </a:solidFill>
              </a:rPr>
              <a:t>Transparency</a:t>
            </a:r>
            <a:endParaRPr lang="en-US" sz="750" dirty="0"/>
          </a:p>
          <a:p>
            <a:pPr marL="0" indent="0" algn="ctr">
              <a:buNone/>
            </a:pPr>
            <a:r>
              <a:rPr lang="en-US" sz="750" b="1" dirty="0">
                <a:solidFill>
                  <a:srgbClr val="2A1A28"/>
                </a:solidFill>
              </a:rPr>
              <a:t>195×12 rows</a:t>
            </a:r>
            <a:endParaRPr lang="en-US" sz="750" dirty="0"/>
          </a:p>
        </p:txBody>
      </p:sp>
      <p:sp>
        <p:nvSpPr>
          <p:cNvPr id="56" name="Shape 54"/>
          <p:cNvSpPr/>
          <p:nvPr/>
        </p:nvSpPr>
        <p:spPr>
          <a:xfrm>
            <a:off x="699897" y="4418457"/>
            <a:ext cx="7744968" cy="274320"/>
          </a:xfrm>
          <a:prstGeom prst="rect">
            <a:avLst/>
          </a:prstGeom>
          <a:solidFill>
            <a:srgbClr val="F0EAFA"/>
          </a:solidFill>
          <a:ln w="12700">
            <a:solidFill>
              <a:srgbClr val="B8A0D8"/>
            </a:solidFill>
            <a:prstDash val="solid"/>
          </a:ln>
        </p:spPr>
      </p:sp>
      <p:sp>
        <p:nvSpPr>
          <p:cNvPr id="57" name="Text 55"/>
          <p:cNvSpPr/>
          <p:nvPr/>
        </p:nvSpPr>
        <p:spPr>
          <a:xfrm>
            <a:off x="791337" y="4418457"/>
            <a:ext cx="7562088" cy="274320"/>
          </a:xfrm>
          <a:prstGeom prst="rect">
            <a:avLst/>
          </a:prstGeom>
          <a:noFill/>
        </p:spPr>
        <p:txBody>
          <a:bodyPr wrap="square" lIns="0" tIns="0" rIns="0" bIns="0" rtlCol="0" anchor="ctr"/>
          <a:lstStyle/>
          <a:p>
            <a:pPr marL="0" indent="0" algn="ctr">
              <a:buNone/>
            </a:pPr>
            <a:r>
              <a:rPr lang="en-US" sz="900" dirty="0">
                <a:solidFill>
                  <a:srgbClr val="4A3575"/>
                </a:solidFill>
                <a:latin typeface="Calibri" panose="020F0502020204030204" pitchFamily="34" charset="0"/>
                <a:ea typeface="Calibri" panose="020F0502020204030204" pitchFamily="34" charset="-122"/>
                <a:cs typeface="Calibri" panose="020F0502020204030204" pitchFamily="34" charset="-120"/>
              </a:rPr>
              <a:t>Python 3.11  ·  pandas  ·  numpy  ·  scikit-learn  ·  scipy  ·  matplotlib  ·  seaborn  ·  Tableau Desktop  ·  HTML5 / CSS3 / JavaScript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A1A35"/>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A0395A"/>
          </a:solidFill>
          <a:ln w="12700">
            <a:solidFill>
              <a:srgbClr val="A0395A"/>
            </a:solidFill>
            <a:prstDash val="solid"/>
          </a:ln>
        </p:spPr>
      </p:sp>
      <p:sp>
        <p:nvSpPr>
          <p:cNvPr id="3" name="Text 1"/>
          <p:cNvSpPr/>
          <p:nvPr/>
        </p:nvSpPr>
        <p:spPr>
          <a:xfrm>
            <a:off x="274320" y="4892040"/>
            <a:ext cx="8595360" cy="251460"/>
          </a:xfrm>
          <a:prstGeom prst="rect">
            <a:avLst/>
          </a:prstGeom>
          <a:noFill/>
        </p:spPr>
        <p:txBody>
          <a:bodyPr wrap="square" lIns="0" tIns="0" rIns="0" bIns="0" rtlCol="0" anchor="ctr"/>
          <a:lstStyle/>
          <a:p>
            <a:pPr marL="0" indent="0" algn="ctr">
              <a:buNone/>
            </a:pPr>
            <a:r>
              <a:rPr lang="en-US" sz="850" dirty="0">
                <a:solidFill>
                  <a:srgbClr val="F2BBCC"/>
                </a:solidFill>
                <a:latin typeface="Calibri" panose="020F0502020204030204" pitchFamily="34" charset="0"/>
                <a:ea typeface="Calibri" panose="020F0502020204030204" pitchFamily="34" charset="-122"/>
                <a:cs typeface="Calibri" panose="020F0502020204030204" pitchFamily="34" charset="-120"/>
              </a:rPr>
              <a:t>KHCC AidConnect  ·  Graduation Project Defense  ·  Mallak Abu Sada &amp; Maya Abu Aslahamat  ·  2025/2026</a:t>
            </a:r>
            <a:endParaRPr lang="en-US" sz="850" dirty="0"/>
          </a:p>
        </p:txBody>
      </p:sp>
      <p:sp>
        <p:nvSpPr>
          <p:cNvPr id="4" name="Shape 2"/>
          <p:cNvSpPr/>
          <p:nvPr/>
        </p:nvSpPr>
        <p:spPr>
          <a:xfrm>
            <a:off x="7790688" y="256032"/>
            <a:ext cx="1005840" cy="274320"/>
          </a:xfrm>
          <a:prstGeom prst="roundRect">
            <a:avLst>
              <a:gd name="adj" fmla="val 20000"/>
            </a:avLst>
          </a:prstGeom>
          <a:solidFill>
            <a:srgbClr val="E8855A"/>
          </a:solidFill>
          <a:ln w="12700">
            <a:solidFill>
              <a:srgbClr val="E8855A"/>
            </a:solidFill>
            <a:prstDash val="solid"/>
          </a:ln>
        </p:spPr>
      </p:sp>
      <p:sp>
        <p:nvSpPr>
          <p:cNvPr id="5" name="Text 3"/>
          <p:cNvSpPr/>
          <p:nvPr/>
        </p:nvSpPr>
        <p:spPr>
          <a:xfrm>
            <a:off x="7790688" y="256032"/>
            <a:ext cx="1005840" cy="274320"/>
          </a:xfrm>
          <a:prstGeom prst="rect">
            <a:avLst/>
          </a:prstGeom>
          <a:noFill/>
        </p:spPr>
        <p:txBody>
          <a:bodyPr wrap="square" lIns="0" tIns="0" rIns="0" bIns="0" rtlCol="0" anchor="ctr"/>
          <a:lstStyle/>
          <a:p>
            <a:pPr marL="0" indent="0" algn="ctr">
              <a:buNone/>
            </a:pPr>
            <a:r>
              <a:rPr lang="en-US" sz="850" b="1" kern="0" spc="50" dirty="0">
                <a:solidFill>
                  <a:srgbClr val="FFFFFF"/>
                </a:solidFill>
              </a:rPr>
              <a:t>SLIDE 11 / 20</a:t>
            </a:r>
            <a:endParaRPr lang="en-US" sz="850" dirty="0"/>
          </a:p>
        </p:txBody>
      </p:sp>
      <p:sp>
        <p:nvSpPr>
          <p:cNvPr id="6" name="Shape 4"/>
          <p:cNvSpPr/>
          <p:nvPr/>
        </p:nvSpPr>
        <p:spPr>
          <a:xfrm>
            <a:off x="0" y="0"/>
            <a:ext cx="9144000" cy="54864"/>
          </a:xfrm>
          <a:prstGeom prst="rect">
            <a:avLst/>
          </a:prstGeom>
          <a:solidFill>
            <a:srgbClr val="A0C8E8"/>
          </a:solidFill>
          <a:ln w="12700">
            <a:solidFill>
              <a:srgbClr val="A0C8E8"/>
            </a:solidFill>
            <a:prstDash val="solid"/>
          </a:ln>
        </p:spPr>
      </p:sp>
      <p:sp>
        <p:nvSpPr>
          <p:cNvPr id="7" name="Text 5"/>
          <p:cNvSpPr/>
          <p:nvPr/>
        </p:nvSpPr>
        <p:spPr>
          <a:xfrm>
            <a:off x="411480" y="164592"/>
            <a:ext cx="7772400" cy="594360"/>
          </a:xfrm>
          <a:prstGeom prst="rect">
            <a:avLst/>
          </a:prstGeom>
          <a:noFill/>
        </p:spPr>
        <p:txBody>
          <a:bodyPr wrap="square" lIns="0" tIns="0" rIns="0" bIns="0" rtlCol="0" anchor="ctr"/>
          <a:lstStyle/>
          <a:p>
            <a:pPr marL="0" indent="0" algn="l">
              <a:buNone/>
            </a:pPr>
            <a:r>
              <a:rPr lang="en-US" sz="2600" b="1" dirty="0">
                <a:solidFill>
                  <a:srgbClr val="FFFFFF"/>
                </a:solidFill>
                <a:latin typeface="Georgia" panose="02040502050405020303" pitchFamily="34" charset="0"/>
                <a:ea typeface="Georgia" panose="02040502050405020303" pitchFamily="34" charset="-122"/>
                <a:cs typeface="Georgia" panose="02040502050405020303" pitchFamily="34" charset="-120"/>
              </a:rPr>
              <a:t>Core System Flowchart — 8 Phases</a:t>
            </a:r>
            <a:endParaRPr lang="en-US" sz="2600" dirty="0"/>
          </a:p>
        </p:txBody>
      </p:sp>
      <p:sp>
        <p:nvSpPr>
          <p:cNvPr id="8" name="Shape 6"/>
          <p:cNvSpPr/>
          <p:nvPr/>
        </p:nvSpPr>
        <p:spPr>
          <a:xfrm>
            <a:off x="320040" y="987552"/>
            <a:ext cx="2084832" cy="1783080"/>
          </a:xfrm>
          <a:prstGeom prst="rect">
            <a:avLst/>
          </a:prstGeom>
          <a:solidFill>
            <a:srgbClr val="FCE8F0">
              <a:alpha val="12000"/>
            </a:srgbClr>
          </a:solidFill>
          <a:ln w="12700">
            <a:solidFill>
              <a:srgbClr val="E8A0BF"/>
            </a:solidFill>
            <a:prstDash val="solid"/>
          </a:ln>
        </p:spPr>
      </p:sp>
      <p:sp>
        <p:nvSpPr>
          <p:cNvPr id="9" name="Shape 7"/>
          <p:cNvSpPr/>
          <p:nvPr/>
        </p:nvSpPr>
        <p:spPr>
          <a:xfrm>
            <a:off x="320040" y="987552"/>
            <a:ext cx="2084832" cy="54864"/>
          </a:xfrm>
          <a:prstGeom prst="rect">
            <a:avLst/>
          </a:prstGeom>
          <a:solidFill>
            <a:srgbClr val="E8A0BF"/>
          </a:solidFill>
          <a:ln w="12700">
            <a:solidFill>
              <a:srgbClr val="E8A0BF"/>
            </a:solidFill>
            <a:prstDash val="solid"/>
          </a:ln>
        </p:spPr>
      </p:sp>
      <p:sp>
        <p:nvSpPr>
          <p:cNvPr id="10" name="Shape 8"/>
          <p:cNvSpPr/>
          <p:nvPr/>
        </p:nvSpPr>
        <p:spPr>
          <a:xfrm>
            <a:off x="429768" y="1124712"/>
            <a:ext cx="658368" cy="365760"/>
          </a:xfrm>
          <a:prstGeom prst="roundRect">
            <a:avLst>
              <a:gd name="adj" fmla="val 20000"/>
            </a:avLst>
          </a:prstGeom>
          <a:solidFill>
            <a:srgbClr val="E8A0BF">
              <a:alpha val="80000"/>
            </a:srgbClr>
          </a:solidFill>
          <a:ln w="12700">
            <a:solidFill>
              <a:srgbClr val="E8A0BF"/>
            </a:solidFill>
            <a:prstDash val="solid"/>
          </a:ln>
        </p:spPr>
      </p:sp>
      <p:sp>
        <p:nvSpPr>
          <p:cNvPr id="11" name="Text 9"/>
          <p:cNvSpPr/>
          <p:nvPr/>
        </p:nvSpPr>
        <p:spPr>
          <a:xfrm>
            <a:off x="429768" y="1124712"/>
            <a:ext cx="658368" cy="365760"/>
          </a:xfrm>
          <a:prstGeom prst="rect">
            <a:avLst/>
          </a:prstGeom>
          <a:noFill/>
        </p:spPr>
        <p:txBody>
          <a:bodyPr wrap="square" lIns="0" tIns="0" rIns="0" bIns="0" rtlCol="0" anchor="ctr"/>
          <a:lstStyle/>
          <a:p>
            <a:pPr marL="0" indent="0" algn="ctr">
              <a:buNone/>
            </a:pPr>
            <a:r>
              <a:rPr lang="en-US" sz="1000" b="1" dirty="0">
                <a:solidFill>
                  <a:srgbClr val="FFFFFF"/>
                </a:solidFill>
              </a:rPr>
              <a:t>NB01</a:t>
            </a:r>
            <a:endParaRPr lang="en-US" sz="1000" dirty="0"/>
          </a:p>
        </p:txBody>
      </p:sp>
      <p:sp>
        <p:nvSpPr>
          <p:cNvPr id="12" name="Text 10"/>
          <p:cNvSpPr/>
          <p:nvPr/>
        </p:nvSpPr>
        <p:spPr>
          <a:xfrm>
            <a:off x="411480" y="1581912"/>
            <a:ext cx="1920240" cy="320040"/>
          </a:xfrm>
          <a:prstGeom prst="rect">
            <a:avLst/>
          </a:prstGeom>
          <a:noFill/>
        </p:spPr>
        <p:txBody>
          <a:bodyPr wrap="square" lIns="0" tIns="0" rIns="0" bIns="0" rtlCol="0" anchor="ctr"/>
          <a:lstStyle/>
          <a:p>
            <a:pPr marL="0" indent="0" algn="ctr">
              <a:buNone/>
            </a:pPr>
            <a:r>
              <a:rPr lang="en-US" sz="1200" b="1" dirty="0">
                <a:solidFill>
                  <a:srgbClr val="FFFFFF"/>
                </a:solidFill>
              </a:rPr>
              <a:t>Data Ingestion</a:t>
            </a:r>
            <a:endParaRPr lang="en-US" sz="1200" dirty="0"/>
          </a:p>
        </p:txBody>
      </p:sp>
      <p:sp>
        <p:nvSpPr>
          <p:cNvPr id="13" name="Text 11"/>
          <p:cNvSpPr/>
          <p:nvPr/>
        </p:nvSpPr>
        <p:spPr>
          <a:xfrm>
            <a:off x="429768" y="1947672"/>
            <a:ext cx="1874520" cy="685800"/>
          </a:xfrm>
          <a:prstGeom prst="rect">
            <a:avLst/>
          </a:prstGeom>
          <a:noFill/>
        </p:spPr>
        <p:txBody>
          <a:bodyPr wrap="square" lIns="0" tIns="0" rIns="0" bIns="0" rtlCol="0" anchor="ctr"/>
          <a:lstStyle/>
          <a:p>
            <a:pPr marL="0" indent="0" algn="ctr">
              <a:buNone/>
            </a:pPr>
            <a:r>
              <a:rPr lang="en-US" sz="950" dirty="0">
                <a:solidFill>
                  <a:srgbClr val="E8A0BF"/>
                </a:solidFill>
                <a:latin typeface="Calibri" panose="020F0502020204030204" pitchFamily="34" charset="0"/>
                <a:ea typeface="Calibri" panose="020F0502020204030204" pitchFamily="34" charset="-122"/>
                <a:cs typeface="Calibri" panose="020F0502020204030204" pitchFamily="34" charset="-120"/>
              </a:rPr>
              <a:t>KHCC Excel → 3 tables, 739 rows</a:t>
            </a:r>
            <a:endParaRPr lang="en-US" sz="950" dirty="0"/>
          </a:p>
        </p:txBody>
      </p:sp>
      <p:sp>
        <p:nvSpPr>
          <p:cNvPr id="14" name="Text 12"/>
          <p:cNvSpPr/>
          <p:nvPr/>
        </p:nvSpPr>
        <p:spPr>
          <a:xfrm>
            <a:off x="2404872" y="1673352"/>
            <a:ext cx="128016" cy="365760"/>
          </a:xfrm>
          <a:prstGeom prst="rect">
            <a:avLst/>
          </a:prstGeom>
          <a:noFill/>
        </p:spPr>
        <p:txBody>
          <a:bodyPr wrap="square" lIns="0" tIns="0" rIns="0" bIns="0" rtlCol="0" anchor="ctr"/>
          <a:lstStyle/>
          <a:p>
            <a:pPr marL="0" indent="0" algn="ctr">
              <a:buNone/>
            </a:pPr>
            <a:r>
              <a:rPr lang="en-US" sz="1800" dirty="0">
                <a:solidFill>
                  <a:srgbClr val="E8A0BF"/>
                </a:solidFill>
              </a:rPr>
              <a:t>→</a:t>
            </a:r>
            <a:endParaRPr lang="en-US" sz="1800" dirty="0"/>
          </a:p>
        </p:txBody>
      </p:sp>
      <p:sp>
        <p:nvSpPr>
          <p:cNvPr id="15" name="Shape 13"/>
          <p:cNvSpPr/>
          <p:nvPr/>
        </p:nvSpPr>
        <p:spPr>
          <a:xfrm>
            <a:off x="2532888" y="987552"/>
            <a:ext cx="2084832" cy="1783080"/>
          </a:xfrm>
          <a:prstGeom prst="rect">
            <a:avLst/>
          </a:prstGeom>
          <a:solidFill>
            <a:srgbClr val="F0EAFA">
              <a:alpha val="12000"/>
            </a:srgbClr>
          </a:solidFill>
          <a:ln w="12700">
            <a:solidFill>
              <a:srgbClr val="B8A0D8"/>
            </a:solidFill>
            <a:prstDash val="solid"/>
          </a:ln>
        </p:spPr>
      </p:sp>
      <p:sp>
        <p:nvSpPr>
          <p:cNvPr id="16" name="Shape 14"/>
          <p:cNvSpPr/>
          <p:nvPr/>
        </p:nvSpPr>
        <p:spPr>
          <a:xfrm>
            <a:off x="2532888" y="987552"/>
            <a:ext cx="2084832" cy="54864"/>
          </a:xfrm>
          <a:prstGeom prst="rect">
            <a:avLst/>
          </a:prstGeom>
          <a:solidFill>
            <a:srgbClr val="B8A0D8"/>
          </a:solidFill>
          <a:ln w="12700">
            <a:solidFill>
              <a:srgbClr val="B8A0D8"/>
            </a:solidFill>
            <a:prstDash val="solid"/>
          </a:ln>
        </p:spPr>
      </p:sp>
      <p:sp>
        <p:nvSpPr>
          <p:cNvPr id="17" name="Shape 15"/>
          <p:cNvSpPr/>
          <p:nvPr/>
        </p:nvSpPr>
        <p:spPr>
          <a:xfrm>
            <a:off x="2642616" y="1124712"/>
            <a:ext cx="658368" cy="365760"/>
          </a:xfrm>
          <a:prstGeom prst="roundRect">
            <a:avLst>
              <a:gd name="adj" fmla="val 20000"/>
            </a:avLst>
          </a:prstGeom>
          <a:solidFill>
            <a:srgbClr val="B8A0D8">
              <a:alpha val="80000"/>
            </a:srgbClr>
          </a:solidFill>
          <a:ln w="12700">
            <a:solidFill>
              <a:srgbClr val="B8A0D8"/>
            </a:solidFill>
            <a:prstDash val="solid"/>
          </a:ln>
        </p:spPr>
      </p:sp>
      <p:sp>
        <p:nvSpPr>
          <p:cNvPr id="18" name="Text 16"/>
          <p:cNvSpPr/>
          <p:nvPr/>
        </p:nvSpPr>
        <p:spPr>
          <a:xfrm>
            <a:off x="2642616" y="1124712"/>
            <a:ext cx="658368" cy="365760"/>
          </a:xfrm>
          <a:prstGeom prst="rect">
            <a:avLst/>
          </a:prstGeom>
          <a:noFill/>
        </p:spPr>
        <p:txBody>
          <a:bodyPr wrap="square" lIns="0" tIns="0" rIns="0" bIns="0" rtlCol="0" anchor="ctr"/>
          <a:lstStyle/>
          <a:p>
            <a:pPr marL="0" indent="0" algn="ctr">
              <a:buNone/>
            </a:pPr>
            <a:r>
              <a:rPr lang="en-US" sz="1000" b="1" dirty="0">
                <a:solidFill>
                  <a:srgbClr val="FFFFFF"/>
                </a:solidFill>
              </a:rPr>
              <a:t>NB02</a:t>
            </a:r>
            <a:endParaRPr lang="en-US" sz="1000" dirty="0"/>
          </a:p>
        </p:txBody>
      </p:sp>
      <p:sp>
        <p:nvSpPr>
          <p:cNvPr id="19" name="Text 17"/>
          <p:cNvSpPr/>
          <p:nvPr/>
        </p:nvSpPr>
        <p:spPr>
          <a:xfrm>
            <a:off x="2624328" y="1581912"/>
            <a:ext cx="1920240" cy="320040"/>
          </a:xfrm>
          <a:prstGeom prst="rect">
            <a:avLst/>
          </a:prstGeom>
          <a:noFill/>
        </p:spPr>
        <p:txBody>
          <a:bodyPr wrap="square" lIns="0" tIns="0" rIns="0" bIns="0" rtlCol="0" anchor="ctr"/>
          <a:lstStyle/>
          <a:p>
            <a:pPr marL="0" indent="0" algn="ctr">
              <a:buNone/>
            </a:pPr>
            <a:r>
              <a:rPr lang="en-US" sz="1200" b="1" dirty="0">
                <a:solidFill>
                  <a:srgbClr val="FFFFFF"/>
                </a:solidFill>
              </a:rPr>
              <a:t>Data Cleansing</a:t>
            </a:r>
            <a:endParaRPr lang="en-US" sz="1200" dirty="0"/>
          </a:p>
        </p:txBody>
      </p:sp>
      <p:sp>
        <p:nvSpPr>
          <p:cNvPr id="20" name="Text 18"/>
          <p:cNvSpPr/>
          <p:nvPr/>
        </p:nvSpPr>
        <p:spPr>
          <a:xfrm>
            <a:off x="2642616" y="1947672"/>
            <a:ext cx="1874520" cy="685800"/>
          </a:xfrm>
          <a:prstGeom prst="rect">
            <a:avLst/>
          </a:prstGeom>
          <a:noFill/>
        </p:spPr>
        <p:txBody>
          <a:bodyPr wrap="square" lIns="0" tIns="0" rIns="0" bIns="0" rtlCol="0" anchor="ctr"/>
          <a:lstStyle/>
          <a:p>
            <a:pPr marL="0" indent="0" algn="ctr">
              <a:buNone/>
            </a:pPr>
            <a:r>
              <a:rPr lang="en-US" sz="950" dirty="0">
                <a:solidFill>
                  <a:srgbClr val="B8A0D8"/>
                </a:solidFill>
                <a:latin typeface="Calibri" panose="020F0502020204030204" pitchFamily="34" charset="0"/>
                <a:ea typeface="Calibri" panose="020F0502020204030204" pitchFamily="34" charset="-122"/>
                <a:cs typeface="Calibri" panose="020F0502020204030204" pitchFamily="34" charset="-120"/>
              </a:rPr>
              <a:t>Nulls imputed · Encoded · Scaled · 3 CSVs</a:t>
            </a:r>
            <a:endParaRPr lang="en-US" sz="950" dirty="0"/>
          </a:p>
        </p:txBody>
      </p:sp>
      <p:sp>
        <p:nvSpPr>
          <p:cNvPr id="21" name="Text 19"/>
          <p:cNvSpPr/>
          <p:nvPr/>
        </p:nvSpPr>
        <p:spPr>
          <a:xfrm>
            <a:off x="4617720" y="1673352"/>
            <a:ext cx="128016" cy="365760"/>
          </a:xfrm>
          <a:prstGeom prst="rect">
            <a:avLst/>
          </a:prstGeom>
          <a:noFill/>
        </p:spPr>
        <p:txBody>
          <a:bodyPr wrap="square" lIns="0" tIns="0" rIns="0" bIns="0" rtlCol="0" anchor="ctr"/>
          <a:lstStyle/>
          <a:p>
            <a:pPr marL="0" indent="0" algn="ctr">
              <a:buNone/>
            </a:pPr>
            <a:r>
              <a:rPr lang="en-US" sz="1800" dirty="0">
                <a:solidFill>
                  <a:srgbClr val="B8A0D8"/>
                </a:solidFill>
              </a:rPr>
              <a:t>→</a:t>
            </a:r>
            <a:endParaRPr lang="en-US" sz="1800" dirty="0"/>
          </a:p>
        </p:txBody>
      </p:sp>
      <p:sp>
        <p:nvSpPr>
          <p:cNvPr id="22" name="Shape 20"/>
          <p:cNvSpPr/>
          <p:nvPr/>
        </p:nvSpPr>
        <p:spPr>
          <a:xfrm>
            <a:off x="4745736" y="987552"/>
            <a:ext cx="2084832" cy="1783080"/>
          </a:xfrm>
          <a:prstGeom prst="rect">
            <a:avLst/>
          </a:prstGeom>
          <a:solidFill>
            <a:srgbClr val="E8F8F0">
              <a:alpha val="12000"/>
            </a:srgbClr>
          </a:solidFill>
          <a:ln w="12700">
            <a:solidFill>
              <a:srgbClr val="A8D8C0"/>
            </a:solidFill>
            <a:prstDash val="solid"/>
          </a:ln>
        </p:spPr>
      </p:sp>
      <p:sp>
        <p:nvSpPr>
          <p:cNvPr id="23" name="Shape 21"/>
          <p:cNvSpPr/>
          <p:nvPr/>
        </p:nvSpPr>
        <p:spPr>
          <a:xfrm>
            <a:off x="4745736" y="987552"/>
            <a:ext cx="2084832" cy="54864"/>
          </a:xfrm>
          <a:prstGeom prst="rect">
            <a:avLst/>
          </a:prstGeom>
          <a:solidFill>
            <a:srgbClr val="A8D8C0"/>
          </a:solidFill>
          <a:ln w="12700">
            <a:solidFill>
              <a:srgbClr val="A8D8C0"/>
            </a:solidFill>
            <a:prstDash val="solid"/>
          </a:ln>
        </p:spPr>
      </p:sp>
      <p:sp>
        <p:nvSpPr>
          <p:cNvPr id="24" name="Shape 22"/>
          <p:cNvSpPr/>
          <p:nvPr/>
        </p:nvSpPr>
        <p:spPr>
          <a:xfrm>
            <a:off x="4855464" y="1124712"/>
            <a:ext cx="658368" cy="365760"/>
          </a:xfrm>
          <a:prstGeom prst="roundRect">
            <a:avLst>
              <a:gd name="adj" fmla="val 20000"/>
            </a:avLst>
          </a:prstGeom>
          <a:solidFill>
            <a:srgbClr val="A8D8C0">
              <a:alpha val="80000"/>
            </a:srgbClr>
          </a:solidFill>
          <a:ln w="12700">
            <a:solidFill>
              <a:srgbClr val="A8D8C0"/>
            </a:solidFill>
            <a:prstDash val="solid"/>
          </a:ln>
        </p:spPr>
      </p:sp>
      <p:sp>
        <p:nvSpPr>
          <p:cNvPr id="25" name="Text 23"/>
          <p:cNvSpPr/>
          <p:nvPr/>
        </p:nvSpPr>
        <p:spPr>
          <a:xfrm>
            <a:off x="4855464" y="1124712"/>
            <a:ext cx="658368" cy="365760"/>
          </a:xfrm>
          <a:prstGeom prst="rect">
            <a:avLst/>
          </a:prstGeom>
          <a:noFill/>
        </p:spPr>
        <p:txBody>
          <a:bodyPr wrap="square" lIns="0" tIns="0" rIns="0" bIns="0" rtlCol="0" anchor="ctr"/>
          <a:lstStyle/>
          <a:p>
            <a:pPr marL="0" indent="0" algn="ctr">
              <a:buNone/>
            </a:pPr>
            <a:r>
              <a:rPr lang="en-US" sz="1000" b="1" dirty="0">
                <a:solidFill>
                  <a:srgbClr val="FFFFFF"/>
                </a:solidFill>
              </a:rPr>
              <a:t>NB03</a:t>
            </a:r>
            <a:endParaRPr lang="en-US" sz="1000" dirty="0"/>
          </a:p>
        </p:txBody>
      </p:sp>
      <p:sp>
        <p:nvSpPr>
          <p:cNvPr id="26" name="Text 24"/>
          <p:cNvSpPr/>
          <p:nvPr/>
        </p:nvSpPr>
        <p:spPr>
          <a:xfrm>
            <a:off x="4837176" y="1581912"/>
            <a:ext cx="1920240" cy="320040"/>
          </a:xfrm>
          <a:prstGeom prst="rect">
            <a:avLst/>
          </a:prstGeom>
          <a:noFill/>
        </p:spPr>
        <p:txBody>
          <a:bodyPr wrap="square" lIns="0" tIns="0" rIns="0" bIns="0" rtlCol="0" anchor="ctr"/>
          <a:lstStyle/>
          <a:p>
            <a:pPr marL="0" indent="0" algn="ctr">
              <a:buNone/>
            </a:pPr>
            <a:r>
              <a:rPr lang="en-US" sz="1200" b="1" dirty="0">
                <a:solidFill>
                  <a:srgbClr val="FFFFFF"/>
                </a:solidFill>
              </a:rPr>
              <a:t>EDA + Hypothesis</a:t>
            </a:r>
            <a:endParaRPr lang="en-US" sz="1200" dirty="0"/>
          </a:p>
        </p:txBody>
      </p:sp>
      <p:sp>
        <p:nvSpPr>
          <p:cNvPr id="27" name="Text 25"/>
          <p:cNvSpPr/>
          <p:nvPr/>
        </p:nvSpPr>
        <p:spPr>
          <a:xfrm>
            <a:off x="4855464" y="1947672"/>
            <a:ext cx="1874520" cy="685800"/>
          </a:xfrm>
          <a:prstGeom prst="rect">
            <a:avLst/>
          </a:prstGeom>
          <a:noFill/>
        </p:spPr>
        <p:txBody>
          <a:bodyPr wrap="square" lIns="0" tIns="0" rIns="0" bIns="0" rtlCol="0" anchor="ctr"/>
          <a:lstStyle/>
          <a:p>
            <a:pPr marL="0" indent="0" algn="ctr">
              <a:buNone/>
            </a:pPr>
            <a:r>
              <a:rPr lang="en-US" sz="950" dirty="0">
                <a:solidFill>
                  <a:srgbClr val="A8D8C0"/>
                </a:solidFill>
                <a:latin typeface="Calibri" panose="020F0502020204030204" pitchFamily="34" charset="0"/>
                <a:ea typeface="Calibri" panose="020F0502020204030204" pitchFamily="34" charset="-122"/>
                <a:cs typeface="Calibri" panose="020F0502020204030204" pitchFamily="34" charset="-120"/>
              </a:rPr>
              <a:t>3 tests PASS · Correlations validated</a:t>
            </a:r>
            <a:endParaRPr lang="en-US" sz="950" dirty="0"/>
          </a:p>
        </p:txBody>
      </p:sp>
      <p:sp>
        <p:nvSpPr>
          <p:cNvPr id="28" name="Text 26"/>
          <p:cNvSpPr/>
          <p:nvPr/>
        </p:nvSpPr>
        <p:spPr>
          <a:xfrm>
            <a:off x="6830568" y="1673352"/>
            <a:ext cx="128016" cy="365760"/>
          </a:xfrm>
          <a:prstGeom prst="rect">
            <a:avLst/>
          </a:prstGeom>
          <a:noFill/>
        </p:spPr>
        <p:txBody>
          <a:bodyPr wrap="square" lIns="0" tIns="0" rIns="0" bIns="0" rtlCol="0" anchor="ctr"/>
          <a:lstStyle/>
          <a:p>
            <a:pPr marL="0" indent="0" algn="ctr">
              <a:buNone/>
            </a:pPr>
            <a:r>
              <a:rPr lang="en-US" sz="1800" dirty="0">
                <a:solidFill>
                  <a:srgbClr val="A8D8C0"/>
                </a:solidFill>
              </a:rPr>
              <a:t>→</a:t>
            </a:r>
            <a:endParaRPr lang="en-US" sz="1800" dirty="0"/>
          </a:p>
        </p:txBody>
      </p:sp>
      <p:sp>
        <p:nvSpPr>
          <p:cNvPr id="29" name="Shape 27"/>
          <p:cNvSpPr/>
          <p:nvPr/>
        </p:nvSpPr>
        <p:spPr>
          <a:xfrm>
            <a:off x="6958584" y="987552"/>
            <a:ext cx="2084832" cy="1783080"/>
          </a:xfrm>
          <a:prstGeom prst="rect">
            <a:avLst/>
          </a:prstGeom>
          <a:solidFill>
            <a:srgbClr val="FEF0E8">
              <a:alpha val="12000"/>
            </a:srgbClr>
          </a:solidFill>
          <a:ln w="12700">
            <a:solidFill>
              <a:srgbClr val="F5C0A0"/>
            </a:solidFill>
            <a:prstDash val="solid"/>
          </a:ln>
        </p:spPr>
      </p:sp>
      <p:sp>
        <p:nvSpPr>
          <p:cNvPr id="30" name="Shape 28"/>
          <p:cNvSpPr/>
          <p:nvPr/>
        </p:nvSpPr>
        <p:spPr>
          <a:xfrm>
            <a:off x="6958584" y="987552"/>
            <a:ext cx="2084832" cy="54864"/>
          </a:xfrm>
          <a:prstGeom prst="rect">
            <a:avLst/>
          </a:prstGeom>
          <a:solidFill>
            <a:srgbClr val="F5C0A0"/>
          </a:solidFill>
          <a:ln w="12700">
            <a:solidFill>
              <a:srgbClr val="F5C0A0"/>
            </a:solidFill>
            <a:prstDash val="solid"/>
          </a:ln>
        </p:spPr>
      </p:sp>
      <p:sp>
        <p:nvSpPr>
          <p:cNvPr id="31" name="Shape 29"/>
          <p:cNvSpPr/>
          <p:nvPr/>
        </p:nvSpPr>
        <p:spPr>
          <a:xfrm>
            <a:off x="7068312" y="1124712"/>
            <a:ext cx="658368" cy="365760"/>
          </a:xfrm>
          <a:prstGeom prst="roundRect">
            <a:avLst>
              <a:gd name="adj" fmla="val 20000"/>
            </a:avLst>
          </a:prstGeom>
          <a:solidFill>
            <a:srgbClr val="F5C0A0">
              <a:alpha val="80000"/>
            </a:srgbClr>
          </a:solidFill>
          <a:ln w="12700">
            <a:solidFill>
              <a:srgbClr val="F5C0A0"/>
            </a:solidFill>
            <a:prstDash val="solid"/>
          </a:ln>
        </p:spPr>
      </p:sp>
      <p:sp>
        <p:nvSpPr>
          <p:cNvPr id="32" name="Text 30"/>
          <p:cNvSpPr/>
          <p:nvPr/>
        </p:nvSpPr>
        <p:spPr>
          <a:xfrm>
            <a:off x="7068312" y="1124712"/>
            <a:ext cx="658368" cy="365760"/>
          </a:xfrm>
          <a:prstGeom prst="rect">
            <a:avLst/>
          </a:prstGeom>
          <a:noFill/>
        </p:spPr>
        <p:txBody>
          <a:bodyPr wrap="square" lIns="0" tIns="0" rIns="0" bIns="0" rtlCol="0" anchor="ctr"/>
          <a:lstStyle/>
          <a:p>
            <a:pPr marL="0" indent="0" algn="ctr">
              <a:buNone/>
            </a:pPr>
            <a:r>
              <a:rPr lang="en-US" sz="1000" b="1" dirty="0">
                <a:solidFill>
                  <a:srgbClr val="FFFFFF"/>
                </a:solidFill>
              </a:rPr>
              <a:t>NB04</a:t>
            </a:r>
            <a:endParaRPr lang="en-US" sz="1000" dirty="0"/>
          </a:p>
        </p:txBody>
      </p:sp>
      <p:sp>
        <p:nvSpPr>
          <p:cNvPr id="33" name="Text 31"/>
          <p:cNvSpPr/>
          <p:nvPr/>
        </p:nvSpPr>
        <p:spPr>
          <a:xfrm>
            <a:off x="7050024" y="1581912"/>
            <a:ext cx="1920240" cy="320040"/>
          </a:xfrm>
          <a:prstGeom prst="rect">
            <a:avLst/>
          </a:prstGeom>
          <a:noFill/>
        </p:spPr>
        <p:txBody>
          <a:bodyPr wrap="square" lIns="0" tIns="0" rIns="0" bIns="0" rtlCol="0" anchor="ctr"/>
          <a:lstStyle/>
          <a:p>
            <a:pPr marL="0" indent="0" algn="ctr">
              <a:buNone/>
            </a:pPr>
            <a:r>
              <a:rPr lang="en-US" sz="1200" b="1" dirty="0">
                <a:solidFill>
                  <a:srgbClr val="FFFFFF"/>
                </a:solidFill>
              </a:rPr>
              <a:t>KNN Engine</a:t>
            </a:r>
            <a:endParaRPr lang="en-US" sz="1200" dirty="0"/>
          </a:p>
        </p:txBody>
      </p:sp>
      <p:sp>
        <p:nvSpPr>
          <p:cNvPr id="34" name="Text 32"/>
          <p:cNvSpPr/>
          <p:nvPr/>
        </p:nvSpPr>
        <p:spPr>
          <a:xfrm>
            <a:off x="7068312" y="1947672"/>
            <a:ext cx="1874520" cy="685800"/>
          </a:xfrm>
          <a:prstGeom prst="rect">
            <a:avLst/>
          </a:prstGeom>
          <a:noFill/>
        </p:spPr>
        <p:txBody>
          <a:bodyPr wrap="square" lIns="0" tIns="0" rIns="0" bIns="0" rtlCol="0" anchor="ctr"/>
          <a:lstStyle/>
          <a:p>
            <a:pPr marL="0" indent="0" algn="ctr">
              <a:buNone/>
            </a:pPr>
            <a:r>
              <a:rPr lang="en-US" sz="950" dirty="0">
                <a:solidFill>
                  <a:srgbClr val="F5C0A0"/>
                </a:solidFill>
                <a:latin typeface="Calibri" panose="020F0502020204030204" pitchFamily="34" charset="0"/>
                <a:ea typeface="Calibri" panose="020F0502020204030204" pitchFamily="34" charset="-122"/>
                <a:cs typeface="Calibri" panose="020F0502020204030204" pitchFamily="34" charset="-120"/>
              </a:rPr>
              <a:t>k=5 · 7 features · Precision@4=1.00 PASS</a:t>
            </a:r>
            <a:endParaRPr lang="en-US" sz="950" dirty="0"/>
          </a:p>
        </p:txBody>
      </p:sp>
      <p:sp>
        <p:nvSpPr>
          <p:cNvPr id="35" name="Shape 33"/>
          <p:cNvSpPr/>
          <p:nvPr/>
        </p:nvSpPr>
        <p:spPr>
          <a:xfrm>
            <a:off x="320040" y="3017520"/>
            <a:ext cx="2084832" cy="1783080"/>
          </a:xfrm>
          <a:prstGeom prst="rect">
            <a:avLst/>
          </a:prstGeom>
          <a:solidFill>
            <a:srgbClr val="E8F4FC">
              <a:alpha val="12000"/>
            </a:srgbClr>
          </a:solidFill>
          <a:ln w="12700">
            <a:solidFill>
              <a:srgbClr val="A0C8E8"/>
            </a:solidFill>
            <a:prstDash val="solid"/>
          </a:ln>
        </p:spPr>
      </p:sp>
      <p:sp>
        <p:nvSpPr>
          <p:cNvPr id="36" name="Shape 34"/>
          <p:cNvSpPr/>
          <p:nvPr/>
        </p:nvSpPr>
        <p:spPr>
          <a:xfrm>
            <a:off x="320040" y="3017520"/>
            <a:ext cx="2084832" cy="54864"/>
          </a:xfrm>
          <a:prstGeom prst="rect">
            <a:avLst/>
          </a:prstGeom>
          <a:solidFill>
            <a:srgbClr val="A0C8E8"/>
          </a:solidFill>
          <a:ln w="12700">
            <a:solidFill>
              <a:srgbClr val="A0C8E8"/>
            </a:solidFill>
            <a:prstDash val="solid"/>
          </a:ln>
        </p:spPr>
      </p:sp>
      <p:sp>
        <p:nvSpPr>
          <p:cNvPr id="37" name="Shape 35"/>
          <p:cNvSpPr/>
          <p:nvPr/>
        </p:nvSpPr>
        <p:spPr>
          <a:xfrm>
            <a:off x="429768" y="3154680"/>
            <a:ext cx="658368" cy="365760"/>
          </a:xfrm>
          <a:prstGeom prst="roundRect">
            <a:avLst>
              <a:gd name="adj" fmla="val 20000"/>
            </a:avLst>
          </a:prstGeom>
          <a:solidFill>
            <a:srgbClr val="A0C8E8">
              <a:alpha val="80000"/>
            </a:srgbClr>
          </a:solidFill>
          <a:ln w="12700">
            <a:solidFill>
              <a:srgbClr val="A0C8E8"/>
            </a:solidFill>
            <a:prstDash val="solid"/>
          </a:ln>
        </p:spPr>
      </p:sp>
      <p:sp>
        <p:nvSpPr>
          <p:cNvPr id="38" name="Text 36"/>
          <p:cNvSpPr/>
          <p:nvPr/>
        </p:nvSpPr>
        <p:spPr>
          <a:xfrm>
            <a:off x="429768" y="3154680"/>
            <a:ext cx="658368" cy="365760"/>
          </a:xfrm>
          <a:prstGeom prst="rect">
            <a:avLst/>
          </a:prstGeom>
          <a:noFill/>
        </p:spPr>
        <p:txBody>
          <a:bodyPr wrap="square" lIns="0" tIns="0" rIns="0" bIns="0" rtlCol="0" anchor="ctr"/>
          <a:lstStyle/>
          <a:p>
            <a:pPr marL="0" indent="0" algn="ctr">
              <a:buNone/>
            </a:pPr>
            <a:r>
              <a:rPr lang="en-US" sz="1000" b="1" dirty="0">
                <a:solidFill>
                  <a:srgbClr val="FFFFFF"/>
                </a:solidFill>
              </a:rPr>
              <a:t>NB05</a:t>
            </a:r>
            <a:endParaRPr lang="en-US" sz="1000" dirty="0"/>
          </a:p>
        </p:txBody>
      </p:sp>
      <p:sp>
        <p:nvSpPr>
          <p:cNvPr id="39" name="Text 37"/>
          <p:cNvSpPr/>
          <p:nvPr/>
        </p:nvSpPr>
        <p:spPr>
          <a:xfrm>
            <a:off x="411480" y="3611880"/>
            <a:ext cx="1920240" cy="320040"/>
          </a:xfrm>
          <a:prstGeom prst="rect">
            <a:avLst/>
          </a:prstGeom>
          <a:noFill/>
        </p:spPr>
        <p:txBody>
          <a:bodyPr wrap="square" lIns="0" tIns="0" rIns="0" bIns="0" rtlCol="0" anchor="ctr"/>
          <a:lstStyle/>
          <a:p>
            <a:pPr marL="0" indent="0" algn="ctr">
              <a:buNone/>
            </a:pPr>
            <a:r>
              <a:rPr lang="en-US" sz="1200" b="1" dirty="0">
                <a:solidFill>
                  <a:srgbClr val="FFFFFF"/>
                </a:solidFill>
              </a:rPr>
              <a:t>Recommender</a:t>
            </a:r>
            <a:endParaRPr lang="en-US" sz="1200" dirty="0"/>
          </a:p>
        </p:txBody>
      </p:sp>
      <p:sp>
        <p:nvSpPr>
          <p:cNvPr id="40" name="Text 38"/>
          <p:cNvSpPr/>
          <p:nvPr/>
        </p:nvSpPr>
        <p:spPr>
          <a:xfrm>
            <a:off x="429768" y="3977640"/>
            <a:ext cx="1874520" cy="685800"/>
          </a:xfrm>
          <a:prstGeom prst="rect">
            <a:avLst/>
          </a:prstGeom>
          <a:noFill/>
        </p:spPr>
        <p:txBody>
          <a:bodyPr wrap="square" lIns="0" tIns="0" rIns="0" bIns="0" rtlCol="0" anchor="ctr"/>
          <a:lstStyle/>
          <a:p>
            <a:pPr marL="0" indent="0" algn="ctr">
              <a:buNone/>
            </a:pPr>
            <a:r>
              <a:rPr lang="en-US" sz="950" dirty="0">
                <a:solidFill>
                  <a:srgbClr val="A0C8E8"/>
                </a:solidFill>
                <a:latin typeface="Calibri" panose="020F0502020204030204" pitchFamily="34" charset="0"/>
                <a:ea typeface="Calibri" panose="020F0502020204030204" pitchFamily="34" charset="-122"/>
                <a:cs typeface="Calibri" panose="020F0502020204030204" pitchFamily="34" charset="-120"/>
              </a:rPr>
              <a:t>6 rules · 100% coverage PASS</a:t>
            </a:r>
            <a:endParaRPr lang="en-US" sz="950" dirty="0"/>
          </a:p>
        </p:txBody>
      </p:sp>
      <p:sp>
        <p:nvSpPr>
          <p:cNvPr id="41" name="Text 39"/>
          <p:cNvSpPr/>
          <p:nvPr/>
        </p:nvSpPr>
        <p:spPr>
          <a:xfrm>
            <a:off x="2404872" y="3703320"/>
            <a:ext cx="128016" cy="365760"/>
          </a:xfrm>
          <a:prstGeom prst="rect">
            <a:avLst/>
          </a:prstGeom>
          <a:noFill/>
        </p:spPr>
        <p:txBody>
          <a:bodyPr wrap="square" lIns="0" tIns="0" rIns="0" bIns="0" rtlCol="0" anchor="ctr"/>
          <a:lstStyle/>
          <a:p>
            <a:pPr marL="0" indent="0" algn="ctr">
              <a:buNone/>
            </a:pPr>
            <a:r>
              <a:rPr lang="en-US" sz="1800" dirty="0">
                <a:solidFill>
                  <a:srgbClr val="A0C8E8"/>
                </a:solidFill>
              </a:rPr>
              <a:t>→</a:t>
            </a:r>
            <a:endParaRPr lang="en-US" sz="1800" dirty="0"/>
          </a:p>
        </p:txBody>
      </p:sp>
      <p:sp>
        <p:nvSpPr>
          <p:cNvPr id="42" name="Shape 40"/>
          <p:cNvSpPr/>
          <p:nvPr/>
        </p:nvSpPr>
        <p:spPr>
          <a:xfrm>
            <a:off x="2532888" y="3017520"/>
            <a:ext cx="2084832" cy="1783080"/>
          </a:xfrm>
          <a:prstGeom prst="rect">
            <a:avLst/>
          </a:prstGeom>
          <a:solidFill>
            <a:srgbClr val="FCE8F0">
              <a:alpha val="12000"/>
            </a:srgbClr>
          </a:solidFill>
          <a:ln w="12700">
            <a:solidFill>
              <a:srgbClr val="E8A0BF"/>
            </a:solidFill>
            <a:prstDash val="solid"/>
          </a:ln>
        </p:spPr>
      </p:sp>
      <p:sp>
        <p:nvSpPr>
          <p:cNvPr id="43" name="Shape 41"/>
          <p:cNvSpPr/>
          <p:nvPr/>
        </p:nvSpPr>
        <p:spPr>
          <a:xfrm>
            <a:off x="2532888" y="3017520"/>
            <a:ext cx="2084832" cy="54864"/>
          </a:xfrm>
          <a:prstGeom prst="rect">
            <a:avLst/>
          </a:prstGeom>
          <a:solidFill>
            <a:srgbClr val="E8A0BF"/>
          </a:solidFill>
          <a:ln w="12700">
            <a:solidFill>
              <a:srgbClr val="E8A0BF"/>
            </a:solidFill>
            <a:prstDash val="solid"/>
          </a:ln>
        </p:spPr>
      </p:sp>
      <p:sp>
        <p:nvSpPr>
          <p:cNvPr id="44" name="Shape 42"/>
          <p:cNvSpPr/>
          <p:nvPr/>
        </p:nvSpPr>
        <p:spPr>
          <a:xfrm>
            <a:off x="2642616" y="3154680"/>
            <a:ext cx="658368" cy="365760"/>
          </a:xfrm>
          <a:prstGeom prst="roundRect">
            <a:avLst>
              <a:gd name="adj" fmla="val 20000"/>
            </a:avLst>
          </a:prstGeom>
          <a:solidFill>
            <a:srgbClr val="E8A0BF">
              <a:alpha val="80000"/>
            </a:srgbClr>
          </a:solidFill>
          <a:ln w="12700">
            <a:solidFill>
              <a:srgbClr val="E8A0BF"/>
            </a:solidFill>
            <a:prstDash val="solid"/>
          </a:ln>
        </p:spPr>
      </p:sp>
      <p:sp>
        <p:nvSpPr>
          <p:cNvPr id="45" name="Text 43"/>
          <p:cNvSpPr/>
          <p:nvPr/>
        </p:nvSpPr>
        <p:spPr>
          <a:xfrm>
            <a:off x="2642616" y="3154680"/>
            <a:ext cx="658368" cy="365760"/>
          </a:xfrm>
          <a:prstGeom prst="rect">
            <a:avLst/>
          </a:prstGeom>
          <a:noFill/>
        </p:spPr>
        <p:txBody>
          <a:bodyPr wrap="square" lIns="0" tIns="0" rIns="0" bIns="0" rtlCol="0" anchor="ctr"/>
          <a:lstStyle/>
          <a:p>
            <a:pPr marL="0" indent="0" algn="ctr">
              <a:buNone/>
            </a:pPr>
            <a:r>
              <a:rPr lang="en-US" sz="1000" b="1" dirty="0">
                <a:solidFill>
                  <a:srgbClr val="FFFFFF"/>
                </a:solidFill>
              </a:rPr>
              <a:t>NB06</a:t>
            </a:r>
            <a:endParaRPr lang="en-US" sz="1000" dirty="0"/>
          </a:p>
        </p:txBody>
      </p:sp>
      <p:sp>
        <p:nvSpPr>
          <p:cNvPr id="46" name="Text 44"/>
          <p:cNvSpPr/>
          <p:nvPr/>
        </p:nvSpPr>
        <p:spPr>
          <a:xfrm>
            <a:off x="2624328" y="3611880"/>
            <a:ext cx="1920240" cy="320040"/>
          </a:xfrm>
          <a:prstGeom prst="rect">
            <a:avLst/>
          </a:prstGeom>
          <a:noFill/>
        </p:spPr>
        <p:txBody>
          <a:bodyPr wrap="square" lIns="0" tIns="0" rIns="0" bIns="0" rtlCol="0" anchor="ctr"/>
          <a:lstStyle/>
          <a:p>
            <a:pPr marL="0" indent="0" algn="ctr">
              <a:buNone/>
            </a:pPr>
            <a:r>
              <a:rPr lang="en-US" sz="1200" b="1" dirty="0">
                <a:solidFill>
                  <a:srgbClr val="FFFFFF"/>
                </a:solidFill>
              </a:rPr>
              <a:t>Zakat Audit</a:t>
            </a:r>
            <a:endParaRPr lang="en-US" sz="1200" dirty="0"/>
          </a:p>
        </p:txBody>
      </p:sp>
      <p:sp>
        <p:nvSpPr>
          <p:cNvPr id="47" name="Text 45"/>
          <p:cNvSpPr/>
          <p:nvPr/>
        </p:nvSpPr>
        <p:spPr>
          <a:xfrm>
            <a:off x="2642616" y="3977640"/>
            <a:ext cx="1874520" cy="685800"/>
          </a:xfrm>
          <a:prstGeom prst="rect">
            <a:avLst/>
          </a:prstGeom>
          <a:noFill/>
        </p:spPr>
        <p:txBody>
          <a:bodyPr wrap="square" lIns="0" tIns="0" rIns="0" bIns="0" rtlCol="0" anchor="ctr"/>
          <a:lstStyle/>
          <a:p>
            <a:pPr marL="0" indent="0" algn="ctr">
              <a:buNone/>
            </a:pPr>
            <a:r>
              <a:rPr lang="en-US" sz="950" dirty="0">
                <a:solidFill>
                  <a:srgbClr val="E8A0BF"/>
                </a:solidFill>
                <a:latin typeface="Calibri" panose="020F0502020204030204" pitchFamily="34" charset="0"/>
                <a:ea typeface="Calibri" panose="020F0502020204030204" pitchFamily="34" charset="-122"/>
                <a:cs typeface="Calibri" panose="020F0502020204030204" pitchFamily="34" charset="-120"/>
              </a:rPr>
              <a:t>42 violations detected &amp; corrected</a:t>
            </a:r>
            <a:endParaRPr lang="en-US" sz="950" dirty="0"/>
          </a:p>
        </p:txBody>
      </p:sp>
      <p:sp>
        <p:nvSpPr>
          <p:cNvPr id="48" name="Text 46"/>
          <p:cNvSpPr/>
          <p:nvPr/>
        </p:nvSpPr>
        <p:spPr>
          <a:xfrm>
            <a:off x="4617720" y="3703320"/>
            <a:ext cx="128016" cy="365760"/>
          </a:xfrm>
          <a:prstGeom prst="rect">
            <a:avLst/>
          </a:prstGeom>
          <a:noFill/>
        </p:spPr>
        <p:txBody>
          <a:bodyPr wrap="square" lIns="0" tIns="0" rIns="0" bIns="0" rtlCol="0" anchor="ctr"/>
          <a:lstStyle/>
          <a:p>
            <a:pPr marL="0" indent="0" algn="ctr">
              <a:buNone/>
            </a:pPr>
            <a:r>
              <a:rPr lang="en-US" sz="1800" dirty="0">
                <a:solidFill>
                  <a:srgbClr val="E8A0BF"/>
                </a:solidFill>
              </a:rPr>
              <a:t>→</a:t>
            </a:r>
            <a:endParaRPr lang="en-US" sz="1800" dirty="0"/>
          </a:p>
        </p:txBody>
      </p:sp>
      <p:sp>
        <p:nvSpPr>
          <p:cNvPr id="49" name="Shape 47"/>
          <p:cNvSpPr/>
          <p:nvPr/>
        </p:nvSpPr>
        <p:spPr>
          <a:xfrm>
            <a:off x="4745736" y="3017520"/>
            <a:ext cx="2084832" cy="1783080"/>
          </a:xfrm>
          <a:prstGeom prst="rect">
            <a:avLst/>
          </a:prstGeom>
          <a:solidFill>
            <a:srgbClr val="F0EAFA">
              <a:alpha val="12000"/>
            </a:srgbClr>
          </a:solidFill>
          <a:ln w="12700">
            <a:solidFill>
              <a:srgbClr val="B8A0D8"/>
            </a:solidFill>
            <a:prstDash val="solid"/>
          </a:ln>
        </p:spPr>
      </p:sp>
      <p:sp>
        <p:nvSpPr>
          <p:cNvPr id="50" name="Shape 48"/>
          <p:cNvSpPr/>
          <p:nvPr/>
        </p:nvSpPr>
        <p:spPr>
          <a:xfrm>
            <a:off x="4745736" y="3017520"/>
            <a:ext cx="2084832" cy="54864"/>
          </a:xfrm>
          <a:prstGeom prst="rect">
            <a:avLst/>
          </a:prstGeom>
          <a:solidFill>
            <a:srgbClr val="B8A0D8"/>
          </a:solidFill>
          <a:ln w="12700">
            <a:solidFill>
              <a:srgbClr val="B8A0D8"/>
            </a:solidFill>
            <a:prstDash val="solid"/>
          </a:ln>
        </p:spPr>
      </p:sp>
      <p:sp>
        <p:nvSpPr>
          <p:cNvPr id="51" name="Shape 49"/>
          <p:cNvSpPr/>
          <p:nvPr/>
        </p:nvSpPr>
        <p:spPr>
          <a:xfrm>
            <a:off x="4855464" y="3154680"/>
            <a:ext cx="658368" cy="365760"/>
          </a:xfrm>
          <a:prstGeom prst="roundRect">
            <a:avLst>
              <a:gd name="adj" fmla="val 20000"/>
            </a:avLst>
          </a:prstGeom>
          <a:solidFill>
            <a:srgbClr val="B8A0D8">
              <a:alpha val="80000"/>
            </a:srgbClr>
          </a:solidFill>
          <a:ln w="12700">
            <a:solidFill>
              <a:srgbClr val="B8A0D8"/>
            </a:solidFill>
            <a:prstDash val="solid"/>
          </a:ln>
        </p:spPr>
      </p:sp>
      <p:sp>
        <p:nvSpPr>
          <p:cNvPr id="52" name="Text 50"/>
          <p:cNvSpPr/>
          <p:nvPr/>
        </p:nvSpPr>
        <p:spPr>
          <a:xfrm>
            <a:off x="4855464" y="3154680"/>
            <a:ext cx="658368" cy="365760"/>
          </a:xfrm>
          <a:prstGeom prst="rect">
            <a:avLst/>
          </a:prstGeom>
          <a:noFill/>
        </p:spPr>
        <p:txBody>
          <a:bodyPr wrap="square" lIns="0" tIns="0" rIns="0" bIns="0" rtlCol="0" anchor="ctr"/>
          <a:lstStyle/>
          <a:p>
            <a:pPr marL="0" indent="0" algn="ctr">
              <a:buNone/>
            </a:pPr>
            <a:r>
              <a:rPr lang="en-US" sz="1000" b="1" dirty="0">
                <a:solidFill>
                  <a:srgbClr val="FFFFFF"/>
                </a:solidFill>
              </a:rPr>
              <a:t>TB</a:t>
            </a:r>
            <a:endParaRPr lang="en-US" sz="1000" dirty="0"/>
          </a:p>
        </p:txBody>
      </p:sp>
      <p:sp>
        <p:nvSpPr>
          <p:cNvPr id="53" name="Text 51"/>
          <p:cNvSpPr/>
          <p:nvPr/>
        </p:nvSpPr>
        <p:spPr>
          <a:xfrm>
            <a:off x="4837176" y="3611880"/>
            <a:ext cx="1920240" cy="320040"/>
          </a:xfrm>
          <a:prstGeom prst="rect">
            <a:avLst/>
          </a:prstGeom>
          <a:noFill/>
        </p:spPr>
        <p:txBody>
          <a:bodyPr wrap="square" lIns="0" tIns="0" rIns="0" bIns="0" rtlCol="0" anchor="ctr"/>
          <a:lstStyle/>
          <a:p>
            <a:pPr marL="0" indent="0" algn="ctr">
              <a:buNone/>
            </a:pPr>
            <a:r>
              <a:rPr lang="en-US" sz="1200" b="1" dirty="0">
                <a:solidFill>
                  <a:srgbClr val="FFFFFF"/>
                </a:solidFill>
              </a:rPr>
              <a:t>Tableau Suite</a:t>
            </a:r>
            <a:endParaRPr lang="en-US" sz="1200" dirty="0"/>
          </a:p>
        </p:txBody>
      </p:sp>
      <p:sp>
        <p:nvSpPr>
          <p:cNvPr id="54" name="Text 52"/>
          <p:cNvSpPr/>
          <p:nvPr/>
        </p:nvSpPr>
        <p:spPr>
          <a:xfrm>
            <a:off x="4855464" y="3977640"/>
            <a:ext cx="1874520" cy="685800"/>
          </a:xfrm>
          <a:prstGeom prst="rect">
            <a:avLst/>
          </a:prstGeom>
          <a:noFill/>
        </p:spPr>
        <p:txBody>
          <a:bodyPr wrap="square" lIns="0" tIns="0" rIns="0" bIns="0" rtlCol="0" anchor="ctr"/>
          <a:lstStyle/>
          <a:p>
            <a:pPr marL="0" indent="0" algn="ctr">
              <a:buNone/>
            </a:pPr>
            <a:r>
              <a:rPr lang="en-US" sz="950" dirty="0">
                <a:solidFill>
                  <a:srgbClr val="B8A0D8"/>
                </a:solidFill>
                <a:latin typeface="Calibri" panose="020F0502020204030204" pitchFamily="34" charset="0"/>
                <a:ea typeface="Calibri" panose="020F0502020204030204" pitchFamily="34" charset="-122"/>
                <a:cs typeface="Calibri" panose="020F0502020204030204" pitchFamily="34" charset="-120"/>
              </a:rPr>
              <a:t>4 dashboards · 3 CSVs · 4 audiences</a:t>
            </a:r>
            <a:endParaRPr lang="en-US" sz="950" dirty="0"/>
          </a:p>
        </p:txBody>
      </p:sp>
      <p:sp>
        <p:nvSpPr>
          <p:cNvPr id="55" name="Text 53"/>
          <p:cNvSpPr/>
          <p:nvPr/>
        </p:nvSpPr>
        <p:spPr>
          <a:xfrm>
            <a:off x="6830568" y="3703320"/>
            <a:ext cx="128016" cy="365760"/>
          </a:xfrm>
          <a:prstGeom prst="rect">
            <a:avLst/>
          </a:prstGeom>
          <a:noFill/>
        </p:spPr>
        <p:txBody>
          <a:bodyPr wrap="square" lIns="0" tIns="0" rIns="0" bIns="0" rtlCol="0" anchor="ctr"/>
          <a:lstStyle/>
          <a:p>
            <a:pPr marL="0" indent="0" algn="ctr">
              <a:buNone/>
            </a:pPr>
            <a:r>
              <a:rPr lang="en-US" sz="1800" dirty="0">
                <a:solidFill>
                  <a:srgbClr val="B8A0D8"/>
                </a:solidFill>
              </a:rPr>
              <a:t>→</a:t>
            </a:r>
            <a:endParaRPr lang="en-US" sz="1800" dirty="0"/>
          </a:p>
        </p:txBody>
      </p:sp>
      <p:sp>
        <p:nvSpPr>
          <p:cNvPr id="56" name="Shape 54"/>
          <p:cNvSpPr/>
          <p:nvPr/>
        </p:nvSpPr>
        <p:spPr>
          <a:xfrm>
            <a:off x="6958584" y="3017520"/>
            <a:ext cx="2084832" cy="1783080"/>
          </a:xfrm>
          <a:prstGeom prst="rect">
            <a:avLst/>
          </a:prstGeom>
          <a:solidFill>
            <a:srgbClr val="E8F8F0">
              <a:alpha val="12000"/>
            </a:srgbClr>
          </a:solidFill>
          <a:ln w="12700">
            <a:solidFill>
              <a:srgbClr val="A8D8C0"/>
            </a:solidFill>
            <a:prstDash val="solid"/>
          </a:ln>
        </p:spPr>
      </p:sp>
      <p:sp>
        <p:nvSpPr>
          <p:cNvPr id="57" name="Shape 55"/>
          <p:cNvSpPr/>
          <p:nvPr/>
        </p:nvSpPr>
        <p:spPr>
          <a:xfrm>
            <a:off x="6958584" y="3017520"/>
            <a:ext cx="2084832" cy="54864"/>
          </a:xfrm>
          <a:prstGeom prst="rect">
            <a:avLst/>
          </a:prstGeom>
          <a:solidFill>
            <a:srgbClr val="A8D8C0"/>
          </a:solidFill>
          <a:ln w="12700">
            <a:solidFill>
              <a:srgbClr val="A8D8C0"/>
            </a:solidFill>
            <a:prstDash val="solid"/>
          </a:ln>
        </p:spPr>
      </p:sp>
      <p:sp>
        <p:nvSpPr>
          <p:cNvPr id="58" name="Shape 56"/>
          <p:cNvSpPr/>
          <p:nvPr/>
        </p:nvSpPr>
        <p:spPr>
          <a:xfrm>
            <a:off x="7068312" y="3154680"/>
            <a:ext cx="658368" cy="365760"/>
          </a:xfrm>
          <a:prstGeom prst="roundRect">
            <a:avLst>
              <a:gd name="adj" fmla="val 20000"/>
            </a:avLst>
          </a:prstGeom>
          <a:solidFill>
            <a:srgbClr val="A8D8C0">
              <a:alpha val="80000"/>
            </a:srgbClr>
          </a:solidFill>
          <a:ln w="12700">
            <a:solidFill>
              <a:srgbClr val="A8D8C0"/>
            </a:solidFill>
            <a:prstDash val="solid"/>
          </a:ln>
        </p:spPr>
      </p:sp>
      <p:sp>
        <p:nvSpPr>
          <p:cNvPr id="59" name="Text 57"/>
          <p:cNvSpPr/>
          <p:nvPr/>
        </p:nvSpPr>
        <p:spPr>
          <a:xfrm>
            <a:off x="7068312" y="3154680"/>
            <a:ext cx="658368" cy="365760"/>
          </a:xfrm>
          <a:prstGeom prst="rect">
            <a:avLst/>
          </a:prstGeom>
          <a:noFill/>
        </p:spPr>
        <p:txBody>
          <a:bodyPr wrap="square" lIns="0" tIns="0" rIns="0" bIns="0" rtlCol="0" anchor="ctr"/>
          <a:lstStyle/>
          <a:p>
            <a:pPr marL="0" indent="0" algn="ctr">
              <a:buNone/>
            </a:pPr>
            <a:r>
              <a:rPr lang="en-US" sz="1000" b="1" dirty="0">
                <a:solidFill>
                  <a:srgbClr val="FFFFFF"/>
                </a:solidFill>
              </a:rPr>
              <a:t>APP</a:t>
            </a:r>
            <a:endParaRPr lang="en-US" sz="1000" dirty="0"/>
          </a:p>
        </p:txBody>
      </p:sp>
      <p:sp>
        <p:nvSpPr>
          <p:cNvPr id="60" name="Text 58"/>
          <p:cNvSpPr/>
          <p:nvPr/>
        </p:nvSpPr>
        <p:spPr>
          <a:xfrm>
            <a:off x="7050024" y="3611880"/>
            <a:ext cx="1920240" cy="320040"/>
          </a:xfrm>
          <a:prstGeom prst="rect">
            <a:avLst/>
          </a:prstGeom>
          <a:noFill/>
        </p:spPr>
        <p:txBody>
          <a:bodyPr wrap="square" lIns="0" tIns="0" rIns="0" bIns="0" rtlCol="0" anchor="ctr"/>
          <a:lstStyle/>
          <a:p>
            <a:pPr marL="0" indent="0" algn="ctr">
              <a:buNone/>
            </a:pPr>
            <a:r>
              <a:rPr lang="en-US" sz="1200" b="1" dirty="0">
                <a:solidFill>
                  <a:srgbClr val="FFFFFF"/>
                </a:solidFill>
              </a:rPr>
              <a:t>AidConnect</a:t>
            </a:r>
            <a:endParaRPr lang="en-US" sz="1200" dirty="0"/>
          </a:p>
        </p:txBody>
      </p:sp>
      <p:sp>
        <p:nvSpPr>
          <p:cNvPr id="61" name="Text 59"/>
          <p:cNvSpPr/>
          <p:nvPr/>
        </p:nvSpPr>
        <p:spPr>
          <a:xfrm>
            <a:off x="7068312" y="3977640"/>
            <a:ext cx="1874520" cy="685800"/>
          </a:xfrm>
          <a:prstGeom prst="rect">
            <a:avLst/>
          </a:prstGeom>
          <a:noFill/>
        </p:spPr>
        <p:txBody>
          <a:bodyPr wrap="square" lIns="0" tIns="0" rIns="0" bIns="0" rtlCol="0" anchor="ctr"/>
          <a:lstStyle/>
          <a:p>
            <a:pPr marL="0" indent="0" algn="ctr">
              <a:buNone/>
            </a:pPr>
            <a:r>
              <a:rPr lang="en-US" sz="950" dirty="0">
                <a:solidFill>
                  <a:srgbClr val="A8D8C0"/>
                </a:solidFill>
                <a:latin typeface="Calibri" panose="020F0502020204030204" pitchFamily="34" charset="0"/>
                <a:ea typeface="Calibri" panose="020F0502020204030204" pitchFamily="34" charset="-122"/>
                <a:cs typeface="Calibri" panose="020F0502020204030204" pitchFamily="34" charset="-120"/>
              </a:rPr>
              <a:t>8 screens · Full donor journey</a:t>
            </a:r>
            <a:endParaRPr lang="en-US" sz="950" dirty="0"/>
          </a:p>
        </p:txBody>
      </p:sp>
      <p:sp>
        <p:nvSpPr>
          <p:cNvPr id="62" name="Text 60"/>
          <p:cNvSpPr/>
          <p:nvPr/>
        </p:nvSpPr>
        <p:spPr>
          <a:xfrm>
            <a:off x="4297680" y="2816352"/>
            <a:ext cx="548640" cy="329184"/>
          </a:xfrm>
          <a:prstGeom prst="rect">
            <a:avLst/>
          </a:prstGeom>
          <a:noFill/>
        </p:spPr>
        <p:txBody>
          <a:bodyPr wrap="square" lIns="0" tIns="0" rIns="0" bIns="0" rtlCol="0" anchor="ctr"/>
          <a:lstStyle/>
          <a:p>
            <a:pPr marL="0" indent="0" algn="ctr">
              <a:buNone/>
            </a:pPr>
            <a:r>
              <a:rPr lang="en-US" sz="2200" dirty="0">
                <a:solidFill>
                  <a:srgbClr val="E8A0BF"/>
                </a:solidFill>
              </a:rPr>
              <a:t>↓</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144000" cy="5143500"/>
          <a:chOff x="0" y="0"/>
          <a:chExt cx="9144000" cy="5143500"/>
        </a:xfrm>
      </p:grpSpPr>
      <p:sp>
        <p:nvSpPr>
          <p:cNvPr id="2" name="Background"/>
          <p:cNvSpPr/>
          <p:nvPr/>
        </p:nvSpPr>
        <p:spPr>
          <a:xfrm>
            <a:off x="0" y="0"/>
            <a:ext cx="9144000" cy="5143500"/>
          </a:xfrm>
          <a:prstGeom prst="rect">
            <a:avLst/>
          </a:prstGeom>
          <a:solidFill>
            <a:srgbClr val="FDF8FA"/>
          </a:solidFill>
          <a:ln>
            <a:noFill/>
          </a:ln>
        </p:spPr>
        <p:txBody>
          <a:bodyPr/>
          <a:lstStyle/>
          <a:p/>
        </p:txBody>
      </p:sp>
      <p:sp>
        <p:nvSpPr>
          <p:cNvPr id="3" name="TopBand"/>
          <p:cNvSpPr/>
          <p:nvPr/>
        </p:nvSpPr>
        <p:spPr>
          <a:xfrm>
            <a:off x="0" y="0"/>
            <a:ext cx="9144000" cy="960120"/>
          </a:xfrm>
          <a:prstGeom prst="rect">
            <a:avLst/>
          </a:prstGeom>
          <a:solidFill>
            <a:srgbClr val="A0395A"/>
          </a:solidFill>
          <a:ln>
            <a:noFill/>
          </a:ln>
        </p:spPr>
        <p:txBody>
          <a:bodyPr/>
          <a:lstStyle/>
          <a:p/>
        </p:txBody>
      </p:sp>
      <p:sp>
        <p:nvSpPr>
          <p:cNvPr id="4" name="Title"/>
          <p:cNvSpPr txBox="1"/>
          <p:nvPr/>
        </p:nvSpPr>
        <p:spPr>
          <a:xfrm>
            <a:off x="411480" y="164592"/>
            <a:ext cx="7315200" cy="594360"/>
          </a:xfrm>
          <a:prstGeom prst="rect">
            <a:avLst/>
          </a:prstGeom>
          <a:noFill/>
        </p:spPr>
        <p:txBody>
          <a:bodyPr wrap="square" lIns="91440" tIns="45720" rIns="91440" bIns="45720" anchor="ctr"/>
          <a:lstStyle/>
          <a:p>
            <a:pPr algn="l"/>
            <a:r>
              <a:rPr lang="en-US" sz="2400" b="1" dirty="0">
                <a:solidFill>
                  <a:srgbClr val="FFFFFF"/>
                </a:solidFill>
                <a:latin typeface="Calibri" panose="020F0502020204030204"/>
              </a:rPr>
              <a:t>Tableau Dashboard Suite — Dashboards 1 &amp; 2</a:t>
            </a:r>
            <a:endParaRPr lang="en-US" sz="2400" b="1" dirty="0">
              <a:solidFill>
                <a:srgbClr val="FFFFFF"/>
              </a:solidFill>
              <a:latin typeface="Calibri" panose="020F0502020204030204"/>
            </a:endParaRPr>
          </a:p>
        </p:txBody>
      </p:sp>
      <p:sp>
        <p:nvSpPr>
          <p:cNvPr id="5" name="Sub"/>
          <p:cNvSpPr txBox="1"/>
          <p:nvPr/>
        </p:nvSpPr>
        <p:spPr>
          <a:xfrm>
            <a:off x="411480" y="669290"/>
            <a:ext cx="6858000" cy="256032"/>
          </a:xfrm>
          <a:prstGeom prst="rect">
            <a:avLst/>
          </a:prstGeom>
          <a:noFill/>
        </p:spPr>
        <p:txBody>
          <a:bodyPr wrap="square" lIns="91440" tIns="45720" rIns="91440" bIns="45720" anchor="ctr"/>
          <a:lstStyle/>
          <a:p>
            <a:pPr algn="l"/>
            <a:r>
              <a:rPr lang="en-US" sz="1100" b="0" dirty="0">
                <a:solidFill>
                  <a:srgbClr val="F2BBCC"/>
                </a:solidFill>
                <a:latin typeface="Calibri" panose="020F0502020204030204"/>
              </a:rPr>
              <a:t>4 interactive dashboards built from 3 verified CSV files with cross-filtering enabled</a:t>
            </a:r>
            <a:endParaRPr lang="en-US" sz="1100" b="0" dirty="0">
              <a:solidFill>
                <a:srgbClr val="F2BBCC"/>
              </a:solidFill>
              <a:latin typeface="Calibri" panose="020F0502020204030204"/>
            </a:endParaRPr>
          </a:p>
        </p:txBody>
      </p:sp>
      <p:sp>
        <p:nvSpPr>
          <p:cNvPr id="6" name="Footer"/>
          <p:cNvSpPr/>
          <p:nvPr/>
        </p:nvSpPr>
        <p:spPr>
          <a:xfrm>
            <a:off x="0" y="4892040"/>
            <a:ext cx="9144000" cy="251460"/>
          </a:xfrm>
          <a:prstGeom prst="rect">
            <a:avLst/>
          </a:prstGeom>
          <a:solidFill>
            <a:srgbClr val="A0395A"/>
          </a:solidFill>
          <a:ln>
            <a:noFill/>
          </a:ln>
        </p:spPr>
        <p:txBody>
          <a:bodyPr/>
          <a:lstStyle/>
          <a:p/>
        </p:txBody>
      </p:sp>
      <p:sp>
        <p:nvSpPr>
          <p:cNvPr id="7" name="FooterTxt"/>
          <p:cNvSpPr txBox="1"/>
          <p:nvPr/>
        </p:nvSpPr>
        <p:spPr>
          <a:xfrm>
            <a:off x="274320" y="4892040"/>
            <a:ext cx="8595360" cy="251460"/>
          </a:xfrm>
          <a:prstGeom prst="rect">
            <a:avLst/>
          </a:prstGeom>
          <a:noFill/>
        </p:spPr>
        <p:txBody>
          <a:bodyPr wrap="square" lIns="91440" tIns="45720" rIns="91440" bIns="45720" anchor="ctr"/>
          <a:lstStyle/>
          <a:p>
            <a:pPr algn="ctr"/>
            <a:r>
              <a:rPr lang="en-US" sz="850" b="0" dirty="0">
                <a:solidFill>
                  <a:srgbClr val="F2BBCC"/>
                </a:solidFill>
                <a:latin typeface="Calibri" panose="020F0502020204030204"/>
              </a:rPr>
              <a:t>KHCC AidConnect  ·  Graduation Project Defense  ·  Mallak Abu Sada &amp; Maya Abu Aslahamat  ·  2025/2026</a:t>
            </a:r>
            <a:endParaRPr lang="en-US" sz="850" b="0" dirty="0">
              <a:solidFill>
                <a:srgbClr val="F2BBCC"/>
              </a:solidFill>
              <a:latin typeface="Calibri" panose="020F0502020204030204"/>
            </a:endParaRPr>
          </a:p>
        </p:txBody>
      </p:sp>
      <p:sp>
        <p:nvSpPr>
          <p:cNvPr id="8" name="Chip"/>
          <p:cNvSpPr/>
          <p:nvPr/>
        </p:nvSpPr>
        <p:spPr>
          <a:xfrm>
            <a:off x="7790688" y="256032"/>
            <a:ext cx="1005840" cy="274320"/>
          </a:xfrm>
          <a:prstGeom prst="rect">
            <a:avLst/>
          </a:prstGeom>
          <a:solidFill>
            <a:srgbClr val="C9617A"/>
          </a:solidFill>
          <a:ln>
            <a:noFill/>
          </a:ln>
        </p:spPr>
        <p:txBody>
          <a:bodyPr/>
          <a:lstStyle/>
          <a:p/>
        </p:txBody>
      </p:sp>
      <p:sp>
        <p:nvSpPr>
          <p:cNvPr id="9" name="ChipTxt"/>
          <p:cNvSpPr txBox="1"/>
          <p:nvPr/>
        </p:nvSpPr>
        <p:spPr>
          <a:xfrm>
            <a:off x="7790688" y="256032"/>
            <a:ext cx="1005840" cy="274320"/>
          </a:xfrm>
          <a:prstGeom prst="rect">
            <a:avLst/>
          </a:prstGeom>
          <a:noFill/>
        </p:spPr>
        <p:txBody>
          <a:bodyPr wrap="square" lIns="91440" tIns="45720" rIns="91440" bIns="45720" anchor="ctr"/>
          <a:lstStyle/>
          <a:p>
            <a:pPr algn="ctr"/>
            <a:r>
              <a:rPr lang="en-US" sz="850" b="1" dirty="0">
                <a:solidFill>
                  <a:srgbClr val="FFFFFF"/>
                </a:solidFill>
                <a:latin typeface="Calibri" panose="020F0502020204030204"/>
              </a:rPr>
              <a:t>SLIDE 12 / 20</a:t>
            </a:r>
            <a:endParaRPr lang="en-US" sz="850" b="1" dirty="0">
              <a:solidFill>
                <a:srgbClr val="FFFFFF"/>
              </a:solidFill>
              <a:latin typeface="Calibri" panose="020F0502020204030204"/>
            </a:endParaRPr>
          </a:p>
        </p:txBody>
      </p:sp>
      <p:pic>
        <p:nvPicPr>
          <p:cNvPr id="101" name="DB1"/>
          <p:cNvPicPr>
            <a:picLocks noChangeAspect="1"/>
          </p:cNvPicPr>
          <p:nvPr/>
        </p:nvPicPr>
        <p:blipFill>
          <a:blip r:embed="rId1"/>
          <a:stretch>
            <a:fillRect/>
          </a:stretch>
        </p:blipFill>
        <p:spPr>
          <a:xfrm>
            <a:off x="320040" y="1051560"/>
            <a:ext cx="4160520" cy="2773680"/>
          </a:xfrm>
          <a:prstGeom prst="rect">
            <a:avLst/>
          </a:prstGeom>
        </p:spPr>
      </p:pic>
      <p:pic>
        <p:nvPicPr>
          <p:cNvPr id="102" name="DB2"/>
          <p:cNvPicPr>
            <a:picLocks noChangeAspect="1"/>
          </p:cNvPicPr>
          <p:nvPr/>
        </p:nvPicPr>
        <p:blipFill>
          <a:blip r:embed="rId2"/>
          <a:stretch>
            <a:fillRect/>
          </a:stretch>
        </p:blipFill>
        <p:spPr>
          <a:xfrm>
            <a:off x="4663440" y="1051560"/>
            <a:ext cx="4160520" cy="2773680"/>
          </a:xfrm>
          <a:prstGeom prst="rect">
            <a:avLst/>
          </a:prstGeom>
        </p:spPr>
      </p:pic>
      <p:sp>
        <p:nvSpPr>
          <p:cNvPr id="103" name="Cap1BG"/>
          <p:cNvSpPr/>
          <p:nvPr/>
        </p:nvSpPr>
        <p:spPr>
          <a:xfrm>
            <a:off x="320040" y="3825240"/>
            <a:ext cx="4160520" cy="475488"/>
          </a:xfrm>
          <a:prstGeom prst="rect">
            <a:avLst/>
          </a:prstGeom>
          <a:solidFill>
            <a:srgbClr val="A0395A"/>
          </a:solidFill>
          <a:ln>
            <a:noFill/>
          </a:ln>
        </p:spPr>
        <p:txBody>
          <a:bodyPr/>
          <a:lstStyle/>
          <a:p/>
        </p:txBody>
      </p:sp>
      <p:sp>
        <p:nvSpPr>
          <p:cNvPr id="104" name="Cap1"/>
          <p:cNvSpPr txBox="1"/>
          <p:nvPr/>
        </p:nvSpPr>
        <p:spPr>
          <a:xfrm>
            <a:off x="347472" y="3825240"/>
            <a:ext cx="4105656" cy="475488"/>
          </a:xfrm>
          <a:prstGeom prst="rect">
            <a:avLst/>
          </a:prstGeom>
          <a:noFill/>
        </p:spPr>
        <p:txBody>
          <a:bodyPr wrap="square" lIns="91440" tIns="45720" rIns="91440" bIns="45720" anchor="ctr"/>
          <a:lstStyle/>
          <a:p>
            <a:pPr algn="ctr"/>
            <a:r>
              <a:rPr lang="en-US" sz="880" b="0" dirty="0">
                <a:solidFill>
                  <a:srgbClr val="FFFFFF"/>
                </a:solidFill>
                <a:latin typeface="Calibri" panose="020F0502020204030204"/>
              </a:rPr>
              <a:t>Dashboard 1: Patient Need Overview
111 patients · 62 late-stage · 44 uninsured · Avg Need Score 0.52</a:t>
            </a:r>
            <a:endParaRPr lang="en-US" sz="880" b="0" dirty="0">
              <a:solidFill>
                <a:srgbClr val="FFFFFF"/>
              </a:solidFill>
              <a:latin typeface="Calibri" panose="020F0502020204030204"/>
            </a:endParaRPr>
          </a:p>
        </p:txBody>
      </p:sp>
      <p:sp>
        <p:nvSpPr>
          <p:cNvPr id="105" name="Cap2BG"/>
          <p:cNvSpPr/>
          <p:nvPr/>
        </p:nvSpPr>
        <p:spPr>
          <a:xfrm>
            <a:off x="4663440" y="3825240"/>
            <a:ext cx="4160520" cy="475488"/>
          </a:xfrm>
          <a:prstGeom prst="rect">
            <a:avLst/>
          </a:prstGeom>
          <a:solidFill>
            <a:srgbClr val="4A3575"/>
          </a:solidFill>
          <a:ln>
            <a:noFill/>
          </a:ln>
        </p:spPr>
        <p:txBody>
          <a:bodyPr/>
          <a:lstStyle/>
          <a:p/>
        </p:txBody>
      </p:sp>
      <p:sp>
        <p:nvSpPr>
          <p:cNvPr id="106" name="Cap2"/>
          <p:cNvSpPr txBox="1"/>
          <p:nvPr/>
        </p:nvSpPr>
        <p:spPr>
          <a:xfrm>
            <a:off x="4690872" y="3825240"/>
            <a:ext cx="4105656" cy="475488"/>
          </a:xfrm>
          <a:prstGeom prst="rect">
            <a:avLst/>
          </a:prstGeom>
          <a:noFill/>
        </p:spPr>
        <p:txBody>
          <a:bodyPr wrap="square" lIns="91440" tIns="45720" rIns="91440" bIns="45720" anchor="ctr"/>
          <a:lstStyle/>
          <a:p>
            <a:pPr algn="ctr"/>
            <a:r>
              <a:rPr lang="en-US" sz="880" b="0" dirty="0">
                <a:solidFill>
                  <a:srgbClr val="FFFFFF"/>
                </a:solidFill>
                <a:latin typeface="Calibri" panose="020F0502020204030204"/>
              </a:rPr>
              <a:t>Dashboard 2: Match Outcomes Overview
385 matches · 163 fully funded · 312K JD disbursed · 78 waitlisted</a:t>
            </a:r>
            <a:endParaRPr lang="en-US" sz="880" b="0" dirty="0">
              <a:solidFill>
                <a:srgbClr val="FFFFFF"/>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144000" cy="5143500"/>
          <a:chOff x="0" y="0"/>
          <a:chExt cx="9144000" cy="5143500"/>
        </a:xfrm>
      </p:grpSpPr>
      <p:sp>
        <p:nvSpPr>
          <p:cNvPr id="2" name="Background"/>
          <p:cNvSpPr/>
          <p:nvPr/>
        </p:nvSpPr>
        <p:spPr>
          <a:xfrm>
            <a:off x="0" y="0"/>
            <a:ext cx="9144000" cy="5143500"/>
          </a:xfrm>
          <a:prstGeom prst="rect">
            <a:avLst/>
          </a:prstGeom>
          <a:solidFill>
            <a:srgbClr val="FDF8FA"/>
          </a:solidFill>
          <a:ln>
            <a:noFill/>
          </a:ln>
        </p:spPr>
        <p:txBody>
          <a:bodyPr/>
          <a:lstStyle/>
          <a:p/>
        </p:txBody>
      </p:sp>
      <p:sp>
        <p:nvSpPr>
          <p:cNvPr id="3" name="TopBand"/>
          <p:cNvSpPr/>
          <p:nvPr/>
        </p:nvSpPr>
        <p:spPr>
          <a:xfrm>
            <a:off x="0" y="0"/>
            <a:ext cx="9144000" cy="960120"/>
          </a:xfrm>
          <a:prstGeom prst="rect">
            <a:avLst/>
          </a:prstGeom>
          <a:solidFill>
            <a:srgbClr val="4A3575"/>
          </a:solidFill>
          <a:ln>
            <a:noFill/>
          </a:ln>
        </p:spPr>
        <p:txBody>
          <a:bodyPr/>
          <a:lstStyle/>
          <a:p/>
        </p:txBody>
      </p:sp>
      <p:sp>
        <p:nvSpPr>
          <p:cNvPr id="4" name="Title"/>
          <p:cNvSpPr txBox="1"/>
          <p:nvPr/>
        </p:nvSpPr>
        <p:spPr>
          <a:xfrm>
            <a:off x="411480" y="164592"/>
            <a:ext cx="7315200" cy="594360"/>
          </a:xfrm>
          <a:prstGeom prst="rect">
            <a:avLst/>
          </a:prstGeom>
          <a:noFill/>
        </p:spPr>
        <p:txBody>
          <a:bodyPr wrap="square" lIns="91440" tIns="45720" rIns="91440" bIns="45720" anchor="ctr"/>
          <a:lstStyle/>
          <a:p>
            <a:pPr algn="l"/>
            <a:r>
              <a:rPr lang="en-US" sz="2400" b="1" dirty="0">
                <a:solidFill>
                  <a:srgbClr val="FFFFFF"/>
                </a:solidFill>
                <a:latin typeface="Calibri" panose="020F0502020204030204"/>
              </a:rPr>
              <a:t>Tableau Dashboard Suite — Dashboards 3 &amp; 4</a:t>
            </a:r>
            <a:endParaRPr lang="en-US" sz="2400" b="1" dirty="0">
              <a:solidFill>
                <a:srgbClr val="FFFFFF"/>
              </a:solidFill>
              <a:latin typeface="Calibri" panose="020F0502020204030204"/>
            </a:endParaRPr>
          </a:p>
        </p:txBody>
      </p:sp>
      <p:sp>
        <p:nvSpPr>
          <p:cNvPr id="5" name="Sub"/>
          <p:cNvSpPr txBox="1"/>
          <p:nvPr/>
        </p:nvSpPr>
        <p:spPr>
          <a:xfrm>
            <a:off x="411480" y="685165"/>
            <a:ext cx="6858000" cy="256032"/>
          </a:xfrm>
          <a:prstGeom prst="rect">
            <a:avLst/>
          </a:prstGeom>
          <a:noFill/>
        </p:spPr>
        <p:txBody>
          <a:bodyPr wrap="square" lIns="91440" tIns="45720" rIns="91440" bIns="45720" anchor="ctr"/>
          <a:lstStyle/>
          <a:p>
            <a:pPr algn="l"/>
            <a:r>
              <a:rPr lang="en-US" sz="1100" b="0" dirty="0">
                <a:solidFill>
                  <a:srgbClr val="F2BBCC"/>
                </a:solidFill>
                <a:latin typeface="Calibri" panose="020F0502020204030204"/>
              </a:rPr>
              <a:t>Programme Demand Analysis and Donor Impact &amp; Transparency dashboards</a:t>
            </a:r>
            <a:endParaRPr lang="en-US" sz="1100" b="0" dirty="0">
              <a:solidFill>
                <a:srgbClr val="F2BBCC"/>
              </a:solidFill>
              <a:latin typeface="Calibri" panose="020F0502020204030204"/>
            </a:endParaRPr>
          </a:p>
        </p:txBody>
      </p:sp>
      <p:sp>
        <p:nvSpPr>
          <p:cNvPr id="6" name="Footer"/>
          <p:cNvSpPr/>
          <p:nvPr/>
        </p:nvSpPr>
        <p:spPr>
          <a:xfrm>
            <a:off x="0" y="4892040"/>
            <a:ext cx="9144000" cy="251460"/>
          </a:xfrm>
          <a:prstGeom prst="rect">
            <a:avLst/>
          </a:prstGeom>
          <a:solidFill>
            <a:srgbClr val="A0395A"/>
          </a:solidFill>
          <a:ln>
            <a:noFill/>
          </a:ln>
        </p:spPr>
        <p:txBody>
          <a:bodyPr/>
          <a:lstStyle/>
          <a:p/>
        </p:txBody>
      </p:sp>
      <p:sp>
        <p:nvSpPr>
          <p:cNvPr id="7" name="FooterTxt"/>
          <p:cNvSpPr txBox="1"/>
          <p:nvPr/>
        </p:nvSpPr>
        <p:spPr>
          <a:xfrm>
            <a:off x="274320" y="4892040"/>
            <a:ext cx="8595360" cy="251460"/>
          </a:xfrm>
          <a:prstGeom prst="rect">
            <a:avLst/>
          </a:prstGeom>
          <a:noFill/>
        </p:spPr>
        <p:txBody>
          <a:bodyPr wrap="square" lIns="91440" tIns="45720" rIns="91440" bIns="45720" anchor="ctr"/>
          <a:lstStyle/>
          <a:p>
            <a:pPr algn="ctr"/>
            <a:r>
              <a:rPr lang="en-US" sz="850" b="0" dirty="0">
                <a:solidFill>
                  <a:srgbClr val="F2BBCC"/>
                </a:solidFill>
                <a:latin typeface="Calibri" panose="020F0502020204030204"/>
              </a:rPr>
              <a:t>KHCC AidConnect  ·  Graduation Project Defense  ·  Mallak Abu Sada &amp; Maya Abu Aslahamat  ·  2025/2026</a:t>
            </a:r>
            <a:endParaRPr lang="en-US" sz="850" b="0" dirty="0">
              <a:solidFill>
                <a:srgbClr val="F2BBCC"/>
              </a:solidFill>
              <a:latin typeface="Calibri" panose="020F0502020204030204"/>
            </a:endParaRPr>
          </a:p>
        </p:txBody>
      </p:sp>
      <p:sp>
        <p:nvSpPr>
          <p:cNvPr id="8" name="Chip"/>
          <p:cNvSpPr/>
          <p:nvPr/>
        </p:nvSpPr>
        <p:spPr>
          <a:xfrm>
            <a:off x="7790688" y="256032"/>
            <a:ext cx="1005840" cy="274320"/>
          </a:xfrm>
          <a:prstGeom prst="rect">
            <a:avLst/>
          </a:prstGeom>
          <a:solidFill>
            <a:srgbClr val="C9617A"/>
          </a:solidFill>
          <a:ln>
            <a:noFill/>
          </a:ln>
        </p:spPr>
        <p:txBody>
          <a:bodyPr/>
          <a:lstStyle/>
          <a:p/>
        </p:txBody>
      </p:sp>
      <p:sp>
        <p:nvSpPr>
          <p:cNvPr id="9" name="ChipTxt"/>
          <p:cNvSpPr txBox="1"/>
          <p:nvPr/>
        </p:nvSpPr>
        <p:spPr>
          <a:xfrm>
            <a:off x="7790688" y="256032"/>
            <a:ext cx="1005840" cy="274320"/>
          </a:xfrm>
          <a:prstGeom prst="rect">
            <a:avLst/>
          </a:prstGeom>
          <a:noFill/>
        </p:spPr>
        <p:txBody>
          <a:bodyPr wrap="square" lIns="91440" tIns="45720" rIns="91440" bIns="45720" anchor="ctr"/>
          <a:lstStyle/>
          <a:p>
            <a:pPr algn="ctr"/>
            <a:r>
              <a:rPr lang="en-US" sz="850" b="1" dirty="0">
                <a:solidFill>
                  <a:srgbClr val="FFFFFF"/>
                </a:solidFill>
                <a:latin typeface="Calibri" panose="020F0502020204030204"/>
              </a:rPr>
              <a:t>SLIDE 13 / 20</a:t>
            </a:r>
            <a:endParaRPr lang="en-US" sz="850" b="1" dirty="0">
              <a:solidFill>
                <a:srgbClr val="FFFFFF"/>
              </a:solidFill>
              <a:latin typeface="Calibri" panose="020F0502020204030204"/>
            </a:endParaRPr>
          </a:p>
        </p:txBody>
      </p:sp>
      <p:pic>
        <p:nvPicPr>
          <p:cNvPr id="101" name="DB3"/>
          <p:cNvPicPr>
            <a:picLocks noChangeAspect="1"/>
          </p:cNvPicPr>
          <p:nvPr/>
        </p:nvPicPr>
        <p:blipFill>
          <a:blip r:embed="rId1"/>
          <a:stretch>
            <a:fillRect/>
          </a:stretch>
        </p:blipFill>
        <p:spPr>
          <a:xfrm>
            <a:off x="320040" y="1051560"/>
            <a:ext cx="4160520" cy="2773680"/>
          </a:xfrm>
          <a:prstGeom prst="rect">
            <a:avLst/>
          </a:prstGeom>
        </p:spPr>
      </p:pic>
      <p:pic>
        <p:nvPicPr>
          <p:cNvPr id="102" name="DB4"/>
          <p:cNvPicPr>
            <a:picLocks noChangeAspect="1"/>
          </p:cNvPicPr>
          <p:nvPr/>
        </p:nvPicPr>
        <p:blipFill>
          <a:blip r:embed="rId2"/>
          <a:stretch>
            <a:fillRect/>
          </a:stretch>
        </p:blipFill>
        <p:spPr>
          <a:xfrm>
            <a:off x="4663440" y="1051560"/>
            <a:ext cx="4160520" cy="2773680"/>
          </a:xfrm>
          <a:prstGeom prst="rect">
            <a:avLst/>
          </a:prstGeom>
        </p:spPr>
      </p:pic>
      <p:sp>
        <p:nvSpPr>
          <p:cNvPr id="103" name="Cap3BG"/>
          <p:cNvSpPr/>
          <p:nvPr/>
        </p:nvSpPr>
        <p:spPr>
          <a:xfrm>
            <a:off x="320040" y="3825240"/>
            <a:ext cx="4160520" cy="475488"/>
          </a:xfrm>
          <a:prstGeom prst="rect">
            <a:avLst/>
          </a:prstGeom>
          <a:solidFill>
            <a:srgbClr val="2E7A58"/>
          </a:solidFill>
          <a:ln>
            <a:noFill/>
          </a:ln>
        </p:spPr>
        <p:txBody>
          <a:bodyPr/>
          <a:lstStyle/>
          <a:p/>
        </p:txBody>
      </p:sp>
      <p:sp>
        <p:nvSpPr>
          <p:cNvPr id="104" name="Cap3"/>
          <p:cNvSpPr txBox="1"/>
          <p:nvPr/>
        </p:nvSpPr>
        <p:spPr>
          <a:xfrm>
            <a:off x="347472" y="3825240"/>
            <a:ext cx="4105656" cy="475488"/>
          </a:xfrm>
          <a:prstGeom prst="rect">
            <a:avLst/>
          </a:prstGeom>
          <a:noFill/>
        </p:spPr>
        <p:txBody>
          <a:bodyPr wrap="square" lIns="91440" tIns="45720" rIns="91440" bIns="45720" anchor="ctr"/>
          <a:lstStyle/>
          <a:p>
            <a:pPr algn="ctr"/>
            <a:r>
              <a:rPr lang="en-US" sz="880" b="0" dirty="0">
                <a:solidFill>
                  <a:srgbClr val="FFFFFF"/>
                </a:solidFill>
                <a:latin typeface="Calibri" panose="020F0502020204030204"/>
              </a:rPr>
              <a:t>Dashboard 3: Programme Demand Analysis
38 urgent cases · 47-day avg waitlist · 2.8M JD est. treatment costs</a:t>
            </a:r>
            <a:endParaRPr lang="en-US" sz="880" b="0" dirty="0">
              <a:solidFill>
                <a:srgbClr val="FFFFFF"/>
              </a:solidFill>
              <a:latin typeface="Calibri" panose="020F0502020204030204"/>
            </a:endParaRPr>
          </a:p>
        </p:txBody>
      </p:sp>
      <p:sp>
        <p:nvSpPr>
          <p:cNvPr id="105" name="Cap4BG"/>
          <p:cNvSpPr/>
          <p:nvPr/>
        </p:nvSpPr>
        <p:spPr>
          <a:xfrm>
            <a:off x="4663440" y="3825240"/>
            <a:ext cx="4160520" cy="475488"/>
          </a:xfrm>
          <a:prstGeom prst="rect">
            <a:avLst/>
          </a:prstGeom>
          <a:solidFill>
            <a:srgbClr val="A04820"/>
          </a:solidFill>
          <a:ln>
            <a:noFill/>
          </a:ln>
        </p:spPr>
        <p:txBody>
          <a:bodyPr/>
          <a:lstStyle/>
          <a:p/>
        </p:txBody>
      </p:sp>
      <p:sp>
        <p:nvSpPr>
          <p:cNvPr id="106" name="Cap4"/>
          <p:cNvSpPr txBox="1"/>
          <p:nvPr/>
        </p:nvSpPr>
        <p:spPr>
          <a:xfrm>
            <a:off x="4690872" y="3825240"/>
            <a:ext cx="4105656" cy="475488"/>
          </a:xfrm>
          <a:prstGeom prst="rect">
            <a:avLst/>
          </a:prstGeom>
          <a:noFill/>
        </p:spPr>
        <p:txBody>
          <a:bodyPr wrap="square" lIns="91440" tIns="45720" rIns="91440" bIns="45720" anchor="ctr"/>
          <a:lstStyle/>
          <a:p>
            <a:pPr algn="ctr"/>
            <a:r>
              <a:rPr lang="en-US" sz="880" b="0" dirty="0">
                <a:solidFill>
                  <a:srgbClr val="FFFFFF"/>
                </a:solidFill>
                <a:latin typeface="Calibri" panose="020F0502020204030204"/>
              </a:rPr>
              <a:t>Dashboard 4: Donor Impact &amp; Transparency
85 donors · 34 recurring · 27 Zakat-only · Compliance bubble chart</a:t>
            </a:r>
            <a:endParaRPr lang="en-US" sz="880" b="0" dirty="0">
              <a:solidFill>
                <a:srgbClr val="FFFFFF"/>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144000" cy="5143500"/>
          <a:chOff x="0" y="0"/>
          <a:chExt cx="9144000" cy="5143500"/>
        </a:xfrm>
      </p:grpSpPr>
      <p:sp>
        <p:nvSpPr>
          <p:cNvPr id="2" name="R2"/>
          <p:cNvSpPr/>
          <p:nvPr/>
        </p:nvSpPr>
        <p:spPr>
          <a:xfrm>
            <a:off x="0" y="0"/>
            <a:ext cx="9144000" cy="5143500"/>
          </a:xfrm>
          <a:prstGeom prst="rect">
            <a:avLst/>
          </a:prstGeom>
          <a:solidFill>
            <a:srgbClr val="FDF8FA"/>
          </a:solidFill>
          <a:ln>
            <a:noFill/>
          </a:ln>
        </p:spPr>
        <p:txBody>
          <a:bodyPr/>
          <a:lstStyle/>
          <a:p/>
        </p:txBody>
      </p:sp>
      <p:sp>
        <p:nvSpPr>
          <p:cNvPr id="3" name="R3"/>
          <p:cNvSpPr/>
          <p:nvPr/>
        </p:nvSpPr>
        <p:spPr>
          <a:xfrm>
            <a:off x="0" y="0"/>
            <a:ext cx="9144000" cy="960120"/>
          </a:xfrm>
          <a:prstGeom prst="rect">
            <a:avLst/>
          </a:prstGeom>
          <a:solidFill>
            <a:srgbClr val="A0395A"/>
          </a:solidFill>
          <a:ln>
            <a:noFill/>
          </a:ln>
        </p:spPr>
        <p:txBody>
          <a:bodyPr/>
          <a:lstStyle/>
          <a:p/>
        </p:txBody>
      </p:sp>
      <p:sp>
        <p:nvSpPr>
          <p:cNvPr id="4" name="T4"/>
          <p:cNvSpPr txBox="1"/>
          <p:nvPr/>
        </p:nvSpPr>
        <p:spPr>
          <a:xfrm>
            <a:off x="292608" y="91440"/>
            <a:ext cx="6126480" cy="502920"/>
          </a:xfrm>
          <a:prstGeom prst="rect">
            <a:avLst/>
          </a:prstGeom>
          <a:noFill/>
        </p:spPr>
        <p:txBody>
          <a:bodyPr wrap="square" lIns="91440" tIns="45720" rIns="91440" bIns="45720" anchor="ctr"/>
          <a:lstStyle/>
          <a:p>
            <a:pPr algn="l"/>
            <a:r>
              <a:rPr lang="en-US" sz="2600" b="1" dirty="0">
                <a:solidFill>
                  <a:srgbClr val="FFFFFF"/>
                </a:solidFill>
                <a:latin typeface="Calibri" panose="020F0502020204030204"/>
              </a:rPr>
              <a:t>AidConnect App — Home Dashboard &amp; Patient Detail</a:t>
            </a:r>
            <a:endParaRPr lang="en-US" sz="2600" b="1" dirty="0">
              <a:solidFill>
                <a:srgbClr val="FFFFFF"/>
              </a:solidFill>
              <a:latin typeface="Calibri" panose="020F0502020204030204"/>
            </a:endParaRPr>
          </a:p>
        </p:txBody>
      </p:sp>
      <p:sp>
        <p:nvSpPr>
          <p:cNvPr id="5" name="T5"/>
          <p:cNvSpPr txBox="1"/>
          <p:nvPr/>
        </p:nvSpPr>
        <p:spPr>
          <a:xfrm>
            <a:off x="292608" y="658368"/>
            <a:ext cx="6126480" cy="256032"/>
          </a:xfrm>
          <a:prstGeom prst="rect">
            <a:avLst/>
          </a:prstGeom>
          <a:noFill/>
        </p:spPr>
        <p:txBody>
          <a:bodyPr wrap="square" lIns="91440" tIns="45720" rIns="91440" bIns="45720" anchor="ctr"/>
          <a:lstStyle/>
          <a:p>
            <a:pPr algn="l"/>
            <a:r>
              <a:rPr lang="en-US" sz="1000" b="0" dirty="0">
                <a:solidFill>
                  <a:srgbClr val="F2BBCC"/>
                </a:solidFill>
                <a:latin typeface="Calibri" panose="020F0502020204030204"/>
              </a:rPr>
              <a:t>Slides 14 of 21  ·  Screen 1 and Screen 5 of the 8-screen donor journey</a:t>
            </a:r>
            <a:endParaRPr lang="en-US" sz="1000" b="0" dirty="0">
              <a:solidFill>
                <a:srgbClr val="F2BBCC"/>
              </a:solidFill>
              <a:latin typeface="Calibri" panose="020F0502020204030204"/>
            </a:endParaRPr>
          </a:p>
        </p:txBody>
      </p:sp>
      <p:sp>
        <p:nvSpPr>
          <p:cNvPr id="6" name="R6"/>
          <p:cNvSpPr/>
          <p:nvPr/>
        </p:nvSpPr>
        <p:spPr>
          <a:xfrm>
            <a:off x="0" y="4892040"/>
            <a:ext cx="9144000" cy="251460"/>
          </a:xfrm>
          <a:prstGeom prst="rect">
            <a:avLst/>
          </a:prstGeom>
          <a:solidFill>
            <a:srgbClr val="A0395A"/>
          </a:solidFill>
          <a:ln>
            <a:noFill/>
          </a:ln>
        </p:spPr>
        <p:txBody>
          <a:bodyPr/>
          <a:lstStyle/>
          <a:p/>
        </p:txBody>
      </p:sp>
      <p:sp>
        <p:nvSpPr>
          <p:cNvPr id="7" name="T7"/>
          <p:cNvSpPr txBox="1"/>
          <p:nvPr/>
        </p:nvSpPr>
        <p:spPr>
          <a:xfrm>
            <a:off x="274320" y="4892040"/>
            <a:ext cx="8595360" cy="251460"/>
          </a:xfrm>
          <a:prstGeom prst="rect">
            <a:avLst/>
          </a:prstGeom>
          <a:noFill/>
        </p:spPr>
        <p:txBody>
          <a:bodyPr wrap="square" lIns="91440" tIns="45720" rIns="91440" bIns="45720" anchor="ctr"/>
          <a:lstStyle/>
          <a:p>
            <a:pPr algn="ctr"/>
            <a:r>
              <a:rPr lang="en-US" sz="850" b="0" dirty="0">
                <a:solidFill>
                  <a:srgbClr val="F2BBCC"/>
                </a:solidFill>
                <a:latin typeface="Calibri" panose="020F0502020204030204"/>
              </a:rPr>
              <a:t>KHCC AidConnect  ·  Graduation Project Defense  ·  Mallak Abu Sada &amp; Maya Abu Aslahamat  ·  2025/2026</a:t>
            </a:r>
            <a:endParaRPr lang="en-US" sz="850" b="0" dirty="0">
              <a:solidFill>
                <a:srgbClr val="F2BBCC"/>
              </a:solidFill>
              <a:latin typeface="Calibri" panose="020F0502020204030204"/>
            </a:endParaRPr>
          </a:p>
        </p:txBody>
      </p:sp>
      <p:sp>
        <p:nvSpPr>
          <p:cNvPr id="8" name="R8"/>
          <p:cNvSpPr/>
          <p:nvPr/>
        </p:nvSpPr>
        <p:spPr>
          <a:xfrm>
            <a:off x="7790688" y="246888"/>
            <a:ext cx="1005840" cy="292608"/>
          </a:xfrm>
          <a:prstGeom prst="rect">
            <a:avLst/>
          </a:prstGeom>
          <a:solidFill>
            <a:srgbClr val="C9617A"/>
          </a:solidFill>
          <a:ln>
            <a:noFill/>
          </a:ln>
        </p:spPr>
        <p:txBody>
          <a:bodyPr/>
          <a:lstStyle/>
          <a:p/>
        </p:txBody>
      </p:sp>
      <p:sp>
        <p:nvSpPr>
          <p:cNvPr id="9" name="T9"/>
          <p:cNvSpPr txBox="1"/>
          <p:nvPr/>
        </p:nvSpPr>
        <p:spPr>
          <a:xfrm>
            <a:off x="7790688" y="246888"/>
            <a:ext cx="1005840" cy="292608"/>
          </a:xfrm>
          <a:prstGeom prst="rect">
            <a:avLst/>
          </a:prstGeom>
          <a:noFill/>
        </p:spPr>
        <p:txBody>
          <a:bodyPr wrap="square" lIns="91440" tIns="45720" rIns="91440" bIns="45720" anchor="ctr"/>
          <a:lstStyle/>
          <a:p>
            <a:pPr algn="ctr"/>
            <a:r>
              <a:rPr lang="en-US" sz="850" b="1" dirty="0">
                <a:solidFill>
                  <a:srgbClr val="FFFFFF"/>
                </a:solidFill>
                <a:latin typeface="Calibri" panose="020F0502020204030204"/>
              </a:rPr>
              <a:t>SLIDE 14 / 21</a:t>
            </a:r>
            <a:endParaRPr lang="en-US" sz="850" b="1" dirty="0">
              <a:solidFill>
                <a:srgbClr val="FFFFFF"/>
              </a:solidFill>
              <a:latin typeface="Calibri" panose="020F0502020204030204"/>
            </a:endParaRPr>
          </a:p>
        </p:txBody>
      </p:sp>
      <p:sp>
        <p:nvSpPr>
          <p:cNvPr id="20" name="R20"/>
          <p:cNvSpPr/>
          <p:nvPr/>
        </p:nvSpPr>
        <p:spPr>
          <a:xfrm>
            <a:off x="182880" y="987552"/>
            <a:ext cx="4206240" cy="347472"/>
          </a:xfrm>
          <a:prstGeom prst="rect">
            <a:avLst/>
          </a:prstGeom>
          <a:solidFill>
            <a:srgbClr val="A0395A"/>
          </a:solidFill>
          <a:ln>
            <a:noFill/>
          </a:ln>
        </p:spPr>
        <p:txBody>
          <a:bodyPr/>
          <a:lstStyle/>
          <a:p/>
        </p:txBody>
      </p:sp>
      <p:sp>
        <p:nvSpPr>
          <p:cNvPr id="21" name="T21"/>
          <p:cNvSpPr txBox="1"/>
          <p:nvPr/>
        </p:nvSpPr>
        <p:spPr>
          <a:xfrm>
            <a:off x="292608" y="987552"/>
            <a:ext cx="4069079" cy="347472"/>
          </a:xfrm>
          <a:prstGeom prst="rect">
            <a:avLst/>
          </a:prstGeom>
          <a:noFill/>
        </p:spPr>
        <p:txBody>
          <a:bodyPr wrap="square" lIns="91440" tIns="45720" rIns="91440" bIns="45720" anchor="ctr"/>
          <a:lstStyle/>
          <a:p>
            <a:pPr algn="l"/>
            <a:r>
              <a:rPr lang="en-US" sz="1250" b="1" dirty="0">
                <a:solidFill>
                  <a:srgbClr val="FFFFFF"/>
                </a:solidFill>
                <a:latin typeface="Calibri" panose="020F0502020204030204"/>
              </a:rPr>
              <a:t>Screen 1: Home Dashboard</a:t>
            </a:r>
            <a:endParaRPr lang="en-US" sz="1250" b="1" dirty="0">
              <a:solidFill>
                <a:srgbClr val="FFFFFF"/>
              </a:solidFill>
              <a:latin typeface="Calibri" panose="020F0502020204030204"/>
            </a:endParaRPr>
          </a:p>
        </p:txBody>
      </p:sp>
      <p:pic>
        <p:nvPicPr>
          <p:cNvPr id="22" name="Phone20"/>
          <p:cNvPicPr>
            <a:picLocks noChangeAspect="1"/>
          </p:cNvPicPr>
          <p:nvPr/>
        </p:nvPicPr>
        <p:blipFill>
          <a:blip r:embed="rId1"/>
          <a:stretch>
            <a:fillRect/>
          </a:stretch>
        </p:blipFill>
        <p:spPr>
          <a:xfrm>
            <a:off x="1526281" y="1403604"/>
            <a:ext cx="1519436" cy="3008376"/>
          </a:xfrm>
          <a:prstGeom prst="rect">
            <a:avLst/>
          </a:prstGeom>
        </p:spPr>
      </p:pic>
      <p:sp>
        <p:nvSpPr>
          <p:cNvPr id="23" name="R23"/>
          <p:cNvSpPr/>
          <p:nvPr/>
        </p:nvSpPr>
        <p:spPr>
          <a:xfrm>
            <a:off x="308610" y="4412615"/>
            <a:ext cx="3930650" cy="479425"/>
          </a:xfrm>
          <a:prstGeom prst="rect">
            <a:avLst/>
          </a:prstGeom>
          <a:solidFill>
            <a:srgbClr val="A0395A"/>
          </a:solidFill>
          <a:ln>
            <a:noFill/>
          </a:ln>
        </p:spPr>
        <p:txBody>
          <a:bodyPr/>
          <a:lstStyle/>
          <a:p/>
        </p:txBody>
      </p:sp>
      <p:sp>
        <p:nvSpPr>
          <p:cNvPr id="24" name="T24"/>
          <p:cNvSpPr txBox="1"/>
          <p:nvPr/>
        </p:nvSpPr>
        <p:spPr>
          <a:xfrm>
            <a:off x="250825" y="4443730"/>
            <a:ext cx="4110990" cy="416560"/>
          </a:xfrm>
          <a:prstGeom prst="rect">
            <a:avLst/>
          </a:prstGeom>
          <a:noFill/>
        </p:spPr>
        <p:txBody>
          <a:bodyPr wrap="square" lIns="91440" tIns="45720" rIns="91440" bIns="45720" anchor="ctr"/>
          <a:lstStyle/>
          <a:p>
            <a:pPr algn="ctr"/>
            <a:r>
              <a:rPr lang="en-US" sz="920" b="0" dirty="0">
                <a:solidFill>
                  <a:srgbClr val="FFFFFF"/>
                </a:solidFill>
                <a:latin typeface="Calibri" panose="020F0502020204030204"/>
              </a:rPr>
              <a:t>Live KPIs: 111 patients, 301,935 JD distributed, 100% programme coverage  ·  Zakat Fund (70 eligible), Goodwill Fund (25), Medical Equipment (7)  ·  Recent matches: Hikma 100 JD, Samir 400 JD, Rana 250 JD</a:t>
            </a:r>
            <a:endParaRPr lang="en-US" sz="920" b="0" dirty="0">
              <a:solidFill>
                <a:srgbClr val="FFFFFF"/>
              </a:solidFill>
              <a:latin typeface="Calibri" panose="020F0502020204030204"/>
            </a:endParaRPr>
          </a:p>
        </p:txBody>
      </p:sp>
      <p:sp>
        <p:nvSpPr>
          <p:cNvPr id="30" name="R30"/>
          <p:cNvSpPr/>
          <p:nvPr/>
        </p:nvSpPr>
        <p:spPr>
          <a:xfrm>
            <a:off x="4754880" y="987552"/>
            <a:ext cx="4206240" cy="347472"/>
          </a:xfrm>
          <a:prstGeom prst="rect">
            <a:avLst/>
          </a:prstGeom>
          <a:solidFill>
            <a:srgbClr val="4A3575"/>
          </a:solidFill>
          <a:ln>
            <a:noFill/>
          </a:ln>
        </p:spPr>
        <p:txBody>
          <a:bodyPr/>
          <a:lstStyle/>
          <a:p/>
        </p:txBody>
      </p:sp>
      <p:sp>
        <p:nvSpPr>
          <p:cNvPr id="31" name="T31"/>
          <p:cNvSpPr txBox="1"/>
          <p:nvPr/>
        </p:nvSpPr>
        <p:spPr>
          <a:xfrm>
            <a:off x="4864608" y="987552"/>
            <a:ext cx="4069079" cy="347472"/>
          </a:xfrm>
          <a:prstGeom prst="rect">
            <a:avLst/>
          </a:prstGeom>
          <a:noFill/>
        </p:spPr>
        <p:txBody>
          <a:bodyPr wrap="square" lIns="91440" tIns="45720" rIns="91440" bIns="45720" anchor="ctr"/>
          <a:lstStyle/>
          <a:p>
            <a:pPr algn="l"/>
            <a:r>
              <a:rPr lang="en-US" sz="1250" b="1" dirty="0">
                <a:solidFill>
                  <a:srgbClr val="FFFFFF"/>
                </a:solidFill>
                <a:latin typeface="Calibri" panose="020F0502020204030204"/>
              </a:rPr>
              <a:t>Screen 5: Patient Detail — Lina Khaled (P001)</a:t>
            </a:r>
            <a:endParaRPr lang="en-US" sz="1250" b="1" dirty="0">
              <a:solidFill>
                <a:srgbClr val="FFFFFF"/>
              </a:solidFill>
              <a:latin typeface="Calibri" panose="020F0502020204030204"/>
            </a:endParaRPr>
          </a:p>
        </p:txBody>
      </p:sp>
      <p:pic>
        <p:nvPicPr>
          <p:cNvPr id="32" name="Phone30"/>
          <p:cNvPicPr>
            <a:picLocks noChangeAspect="1"/>
          </p:cNvPicPr>
          <p:nvPr/>
        </p:nvPicPr>
        <p:blipFill>
          <a:blip r:embed="rId2"/>
          <a:stretch>
            <a:fillRect/>
          </a:stretch>
        </p:blipFill>
        <p:spPr>
          <a:xfrm>
            <a:off x="6177591" y="1403604"/>
            <a:ext cx="1360816" cy="3008376"/>
          </a:xfrm>
          <a:prstGeom prst="rect">
            <a:avLst/>
          </a:prstGeom>
        </p:spPr>
      </p:pic>
      <p:sp>
        <p:nvSpPr>
          <p:cNvPr id="33" name="R33"/>
          <p:cNvSpPr/>
          <p:nvPr/>
        </p:nvSpPr>
        <p:spPr>
          <a:xfrm>
            <a:off x="4864735" y="4427220"/>
            <a:ext cx="4096385" cy="466090"/>
          </a:xfrm>
          <a:prstGeom prst="rect">
            <a:avLst/>
          </a:prstGeom>
          <a:solidFill>
            <a:srgbClr val="4A3575"/>
          </a:solidFill>
          <a:ln>
            <a:noFill/>
          </a:ln>
        </p:spPr>
        <p:txBody>
          <a:bodyPr/>
          <a:lstStyle/>
          <a:p/>
        </p:txBody>
      </p:sp>
      <p:sp>
        <p:nvSpPr>
          <p:cNvPr id="34" name="T34"/>
          <p:cNvSpPr txBox="1"/>
          <p:nvPr/>
        </p:nvSpPr>
        <p:spPr>
          <a:xfrm>
            <a:off x="4864735" y="4480560"/>
            <a:ext cx="4069079" cy="347472"/>
          </a:xfrm>
          <a:prstGeom prst="rect">
            <a:avLst/>
          </a:prstGeom>
          <a:noFill/>
        </p:spPr>
        <p:txBody>
          <a:bodyPr wrap="square" lIns="91440" tIns="45720" rIns="91440" bIns="45720" anchor="ctr"/>
          <a:lstStyle/>
          <a:p>
            <a:pPr algn="ctr"/>
            <a:r>
              <a:rPr lang="en-US" sz="920" b="0" dirty="0">
                <a:solidFill>
                  <a:srgbClr val="FFFFFF"/>
                </a:solidFill>
                <a:latin typeface="Calibri" panose="020F0502020204030204"/>
              </a:rPr>
              <a:t>Need Score 89%  ·  Stage IV Breast Cancer  ·  Income: 0 JD  ·  Uninsured  ·  4 dependents  ·  67 days waiting  ·  High Urgency  ·  Top Recommendation: Zakat Fund 95% confidence</a:t>
            </a:r>
            <a:endParaRPr lang="en-US" sz="920" b="0" dirty="0">
              <a:solidFill>
                <a:srgbClr val="FFFFFF"/>
              </a:solidFill>
              <a:latin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144000" cy="5143500"/>
          <a:chOff x="0" y="0"/>
          <a:chExt cx="9144000" cy="5143500"/>
        </a:xfrm>
      </p:grpSpPr>
      <p:sp>
        <p:nvSpPr>
          <p:cNvPr id="2" name="R2"/>
          <p:cNvSpPr/>
          <p:nvPr/>
        </p:nvSpPr>
        <p:spPr>
          <a:xfrm>
            <a:off x="0" y="0"/>
            <a:ext cx="9144000" cy="5143500"/>
          </a:xfrm>
          <a:prstGeom prst="rect">
            <a:avLst/>
          </a:prstGeom>
          <a:solidFill>
            <a:srgbClr val="FDF8FA"/>
          </a:solidFill>
          <a:ln>
            <a:noFill/>
          </a:ln>
        </p:spPr>
        <p:txBody>
          <a:bodyPr/>
          <a:lstStyle/>
          <a:p/>
        </p:txBody>
      </p:sp>
      <p:sp>
        <p:nvSpPr>
          <p:cNvPr id="3" name="R3"/>
          <p:cNvSpPr/>
          <p:nvPr/>
        </p:nvSpPr>
        <p:spPr>
          <a:xfrm>
            <a:off x="0" y="0"/>
            <a:ext cx="9144000" cy="960120"/>
          </a:xfrm>
          <a:prstGeom prst="rect">
            <a:avLst/>
          </a:prstGeom>
          <a:solidFill>
            <a:srgbClr val="2E7A58"/>
          </a:solidFill>
          <a:ln>
            <a:noFill/>
          </a:ln>
        </p:spPr>
        <p:txBody>
          <a:bodyPr/>
          <a:lstStyle/>
          <a:p/>
        </p:txBody>
      </p:sp>
      <p:sp>
        <p:nvSpPr>
          <p:cNvPr id="4" name="T4"/>
          <p:cNvSpPr txBox="1"/>
          <p:nvPr/>
        </p:nvSpPr>
        <p:spPr>
          <a:xfrm>
            <a:off x="292608" y="91440"/>
            <a:ext cx="6126480" cy="502920"/>
          </a:xfrm>
          <a:prstGeom prst="rect">
            <a:avLst/>
          </a:prstGeom>
          <a:noFill/>
        </p:spPr>
        <p:txBody>
          <a:bodyPr wrap="square" lIns="91440" tIns="45720" rIns="91440" bIns="45720" anchor="ctr"/>
          <a:lstStyle/>
          <a:p>
            <a:pPr algn="l"/>
            <a:r>
              <a:rPr lang="en-US" sz="2600" b="1" dirty="0">
                <a:solidFill>
                  <a:srgbClr val="FFFFFF"/>
                </a:solidFill>
                <a:latin typeface="Calibri" panose="020F0502020204030204"/>
              </a:rPr>
              <a:t>AidConnect App — KNN Matching Results &amp; Donation Confirmation</a:t>
            </a:r>
            <a:endParaRPr lang="en-US" sz="2600" b="1" dirty="0">
              <a:solidFill>
                <a:srgbClr val="FFFFFF"/>
              </a:solidFill>
              <a:latin typeface="Calibri" panose="020F0502020204030204"/>
            </a:endParaRPr>
          </a:p>
        </p:txBody>
      </p:sp>
      <p:sp>
        <p:nvSpPr>
          <p:cNvPr id="5" name="T5"/>
          <p:cNvSpPr txBox="1"/>
          <p:nvPr/>
        </p:nvSpPr>
        <p:spPr>
          <a:xfrm>
            <a:off x="292608" y="658368"/>
            <a:ext cx="6126480" cy="256032"/>
          </a:xfrm>
          <a:prstGeom prst="rect">
            <a:avLst/>
          </a:prstGeom>
          <a:noFill/>
        </p:spPr>
        <p:txBody>
          <a:bodyPr wrap="square" lIns="91440" tIns="45720" rIns="91440" bIns="45720" anchor="ctr"/>
          <a:lstStyle/>
          <a:p>
            <a:pPr algn="l"/>
            <a:r>
              <a:rPr lang="en-US" sz="1000" b="0" dirty="0">
                <a:solidFill>
                  <a:srgbClr val="F2BBCC"/>
                </a:solidFill>
                <a:latin typeface="Calibri" panose="020F0502020204030204"/>
              </a:rPr>
              <a:t>Slide 15 of 21  ·  Screen 3 and Screen 4 — the AI engine in action and final donor confirmation</a:t>
            </a:r>
            <a:endParaRPr lang="en-US" sz="1000" b="0" dirty="0">
              <a:solidFill>
                <a:srgbClr val="F2BBCC"/>
              </a:solidFill>
              <a:latin typeface="Calibri" panose="020F0502020204030204"/>
            </a:endParaRPr>
          </a:p>
        </p:txBody>
      </p:sp>
      <p:sp>
        <p:nvSpPr>
          <p:cNvPr id="6" name="R6"/>
          <p:cNvSpPr/>
          <p:nvPr/>
        </p:nvSpPr>
        <p:spPr>
          <a:xfrm>
            <a:off x="0" y="4892040"/>
            <a:ext cx="9144000" cy="251460"/>
          </a:xfrm>
          <a:prstGeom prst="rect">
            <a:avLst/>
          </a:prstGeom>
          <a:solidFill>
            <a:srgbClr val="A0395A"/>
          </a:solidFill>
          <a:ln>
            <a:noFill/>
          </a:ln>
        </p:spPr>
        <p:txBody>
          <a:bodyPr/>
          <a:lstStyle/>
          <a:p/>
        </p:txBody>
      </p:sp>
      <p:sp>
        <p:nvSpPr>
          <p:cNvPr id="7" name="T7"/>
          <p:cNvSpPr txBox="1"/>
          <p:nvPr/>
        </p:nvSpPr>
        <p:spPr>
          <a:xfrm>
            <a:off x="274320" y="4892040"/>
            <a:ext cx="8595360" cy="251460"/>
          </a:xfrm>
          <a:prstGeom prst="rect">
            <a:avLst/>
          </a:prstGeom>
          <a:noFill/>
        </p:spPr>
        <p:txBody>
          <a:bodyPr wrap="square" lIns="91440" tIns="45720" rIns="91440" bIns="45720" anchor="ctr"/>
          <a:lstStyle/>
          <a:p>
            <a:pPr algn="ctr"/>
            <a:r>
              <a:rPr lang="en-US" sz="850" b="0" dirty="0">
                <a:solidFill>
                  <a:srgbClr val="F2BBCC"/>
                </a:solidFill>
                <a:latin typeface="Calibri" panose="020F0502020204030204"/>
              </a:rPr>
              <a:t>KHCC AidConnect  ·  Graduation Project Defense  ·  Mallak Abu Sada &amp; Maya Abu Aslahamat  ·  2025/2026</a:t>
            </a:r>
            <a:endParaRPr lang="en-US" sz="850" b="0" dirty="0">
              <a:solidFill>
                <a:srgbClr val="F2BBCC"/>
              </a:solidFill>
              <a:latin typeface="Calibri" panose="020F0502020204030204"/>
            </a:endParaRPr>
          </a:p>
        </p:txBody>
      </p:sp>
      <p:sp>
        <p:nvSpPr>
          <p:cNvPr id="8" name="R8"/>
          <p:cNvSpPr/>
          <p:nvPr/>
        </p:nvSpPr>
        <p:spPr>
          <a:xfrm>
            <a:off x="8015478" y="149098"/>
            <a:ext cx="1005840" cy="292608"/>
          </a:xfrm>
          <a:prstGeom prst="rect">
            <a:avLst/>
          </a:prstGeom>
          <a:solidFill>
            <a:srgbClr val="C9617A"/>
          </a:solidFill>
          <a:ln>
            <a:noFill/>
          </a:ln>
        </p:spPr>
        <p:txBody>
          <a:bodyPr/>
          <a:lstStyle/>
          <a:p/>
        </p:txBody>
      </p:sp>
      <p:sp>
        <p:nvSpPr>
          <p:cNvPr id="9" name="T9"/>
          <p:cNvSpPr txBox="1"/>
          <p:nvPr/>
        </p:nvSpPr>
        <p:spPr>
          <a:xfrm>
            <a:off x="8015478" y="149098"/>
            <a:ext cx="1005840" cy="292608"/>
          </a:xfrm>
          <a:prstGeom prst="rect">
            <a:avLst/>
          </a:prstGeom>
          <a:noFill/>
        </p:spPr>
        <p:txBody>
          <a:bodyPr wrap="square" lIns="91440" tIns="45720" rIns="91440" bIns="45720" anchor="ctr"/>
          <a:lstStyle/>
          <a:p>
            <a:pPr algn="ctr"/>
            <a:r>
              <a:rPr lang="en-US" sz="850" b="1" dirty="0">
                <a:solidFill>
                  <a:srgbClr val="FFFFFF"/>
                </a:solidFill>
                <a:latin typeface="Calibri" panose="020F0502020204030204"/>
              </a:rPr>
              <a:t>SLIDE 15 / 21</a:t>
            </a:r>
            <a:endParaRPr lang="en-US" sz="850" b="1" dirty="0">
              <a:solidFill>
                <a:srgbClr val="FFFFFF"/>
              </a:solidFill>
              <a:latin typeface="Calibri" panose="020F0502020204030204"/>
            </a:endParaRPr>
          </a:p>
        </p:txBody>
      </p:sp>
      <p:sp>
        <p:nvSpPr>
          <p:cNvPr id="20" name="R20"/>
          <p:cNvSpPr/>
          <p:nvPr/>
        </p:nvSpPr>
        <p:spPr>
          <a:xfrm>
            <a:off x="182880" y="987552"/>
            <a:ext cx="4206240" cy="347472"/>
          </a:xfrm>
          <a:prstGeom prst="rect">
            <a:avLst/>
          </a:prstGeom>
          <a:solidFill>
            <a:srgbClr val="2E7A58"/>
          </a:solidFill>
          <a:ln>
            <a:noFill/>
          </a:ln>
        </p:spPr>
        <p:txBody>
          <a:bodyPr/>
          <a:lstStyle/>
          <a:p/>
        </p:txBody>
      </p:sp>
      <p:sp>
        <p:nvSpPr>
          <p:cNvPr id="21" name="T21"/>
          <p:cNvSpPr txBox="1"/>
          <p:nvPr/>
        </p:nvSpPr>
        <p:spPr>
          <a:xfrm>
            <a:off x="292608" y="987552"/>
            <a:ext cx="4069079" cy="347472"/>
          </a:xfrm>
          <a:prstGeom prst="rect">
            <a:avLst/>
          </a:prstGeom>
          <a:noFill/>
        </p:spPr>
        <p:txBody>
          <a:bodyPr wrap="square" lIns="91440" tIns="45720" rIns="91440" bIns="45720" anchor="ctr"/>
          <a:lstStyle/>
          <a:p>
            <a:pPr algn="l"/>
            <a:r>
              <a:rPr lang="en-US" sz="1250" b="1" dirty="0">
                <a:solidFill>
                  <a:srgbClr val="FFFFFF"/>
                </a:solidFill>
                <a:latin typeface="Calibri" panose="020F0502020204030204"/>
              </a:rPr>
              <a:t>Screen 3: KNN Matching Results (Step 3 of 4)</a:t>
            </a:r>
            <a:endParaRPr lang="en-US" sz="1250" b="1" dirty="0">
              <a:solidFill>
                <a:srgbClr val="FFFFFF"/>
              </a:solidFill>
              <a:latin typeface="Calibri" panose="020F0502020204030204"/>
            </a:endParaRPr>
          </a:p>
        </p:txBody>
      </p:sp>
      <p:pic>
        <p:nvPicPr>
          <p:cNvPr id="22" name="Phone20"/>
          <p:cNvPicPr>
            <a:picLocks noChangeAspect="1"/>
          </p:cNvPicPr>
          <p:nvPr/>
        </p:nvPicPr>
        <p:blipFill>
          <a:blip r:embed="rId1"/>
          <a:stretch>
            <a:fillRect/>
          </a:stretch>
        </p:blipFill>
        <p:spPr>
          <a:xfrm>
            <a:off x="1561975" y="1403604"/>
            <a:ext cx="1448049" cy="3008376"/>
          </a:xfrm>
          <a:prstGeom prst="rect">
            <a:avLst/>
          </a:prstGeom>
        </p:spPr>
      </p:pic>
      <p:sp>
        <p:nvSpPr>
          <p:cNvPr id="23" name="R23"/>
          <p:cNvSpPr/>
          <p:nvPr/>
        </p:nvSpPr>
        <p:spPr>
          <a:xfrm>
            <a:off x="182880" y="4457065"/>
            <a:ext cx="4208780" cy="434340"/>
          </a:xfrm>
          <a:prstGeom prst="rect">
            <a:avLst/>
          </a:prstGeom>
          <a:solidFill>
            <a:srgbClr val="2E7A58"/>
          </a:solidFill>
          <a:ln>
            <a:noFill/>
          </a:ln>
        </p:spPr>
        <p:txBody>
          <a:bodyPr/>
          <a:lstStyle/>
          <a:p/>
        </p:txBody>
      </p:sp>
      <p:sp>
        <p:nvSpPr>
          <p:cNvPr id="24" name="T24"/>
          <p:cNvSpPr txBox="1"/>
          <p:nvPr/>
        </p:nvSpPr>
        <p:spPr>
          <a:xfrm>
            <a:off x="274320" y="4500880"/>
            <a:ext cx="4069079" cy="347472"/>
          </a:xfrm>
          <a:prstGeom prst="rect">
            <a:avLst/>
          </a:prstGeom>
          <a:noFill/>
        </p:spPr>
        <p:txBody>
          <a:bodyPr wrap="square" lIns="91440" tIns="45720" rIns="91440" bIns="45720" anchor="ctr"/>
          <a:lstStyle/>
          <a:p>
            <a:pPr algn="ctr"/>
            <a:r>
              <a:rPr lang="en-US" sz="920" b="0" dirty="0">
                <a:solidFill>
                  <a:srgbClr val="FFFFFF"/>
                </a:solidFill>
                <a:latin typeface="Calibri" panose="020F0502020204030204"/>
              </a:rPr>
              <a:t>Algorithm steps: Matrix loaded (111x7)  ·  Euclidean distances computed  ·  Zakat &amp; programme filters applied  ·  Ranked by Need Score  ·  P001 Lina Khaled Best Match 71.2%  ·  P045 68.5%  ·  P007 65.3%  ·  P089 62.1%</a:t>
            </a:r>
            <a:endParaRPr lang="en-US" sz="920" b="0" dirty="0">
              <a:solidFill>
                <a:srgbClr val="FFFFFF"/>
              </a:solidFill>
              <a:latin typeface="Calibri" panose="020F0502020204030204"/>
            </a:endParaRPr>
          </a:p>
        </p:txBody>
      </p:sp>
      <p:sp>
        <p:nvSpPr>
          <p:cNvPr id="30" name="R30"/>
          <p:cNvSpPr/>
          <p:nvPr/>
        </p:nvSpPr>
        <p:spPr>
          <a:xfrm>
            <a:off x="4754880" y="987552"/>
            <a:ext cx="4206240" cy="347472"/>
          </a:xfrm>
          <a:prstGeom prst="rect">
            <a:avLst/>
          </a:prstGeom>
          <a:solidFill>
            <a:srgbClr val="A04820"/>
          </a:solidFill>
          <a:ln>
            <a:noFill/>
          </a:ln>
        </p:spPr>
        <p:txBody>
          <a:bodyPr/>
          <a:lstStyle/>
          <a:p/>
        </p:txBody>
      </p:sp>
      <p:sp>
        <p:nvSpPr>
          <p:cNvPr id="31" name="T31"/>
          <p:cNvSpPr txBox="1"/>
          <p:nvPr/>
        </p:nvSpPr>
        <p:spPr>
          <a:xfrm>
            <a:off x="4864608" y="987552"/>
            <a:ext cx="4069079" cy="347472"/>
          </a:xfrm>
          <a:prstGeom prst="rect">
            <a:avLst/>
          </a:prstGeom>
          <a:noFill/>
        </p:spPr>
        <p:txBody>
          <a:bodyPr wrap="square" lIns="91440" tIns="45720" rIns="91440" bIns="45720" anchor="ctr"/>
          <a:lstStyle/>
          <a:p>
            <a:pPr algn="l"/>
            <a:r>
              <a:rPr lang="en-US" sz="1250" b="1" dirty="0">
                <a:solidFill>
                  <a:srgbClr val="FFFFFF"/>
                </a:solidFill>
                <a:latin typeface="Calibri" panose="020F0502020204030204"/>
              </a:rPr>
              <a:t>Screen 4: Confirm Donation (Step 4 of 4)</a:t>
            </a:r>
            <a:endParaRPr lang="en-US" sz="1250" b="1" dirty="0">
              <a:solidFill>
                <a:srgbClr val="FFFFFF"/>
              </a:solidFill>
              <a:latin typeface="Calibri" panose="020F0502020204030204"/>
            </a:endParaRPr>
          </a:p>
        </p:txBody>
      </p:sp>
      <p:pic>
        <p:nvPicPr>
          <p:cNvPr id="32" name="Phone30"/>
          <p:cNvPicPr>
            <a:picLocks noChangeAspect="1"/>
          </p:cNvPicPr>
          <p:nvPr/>
        </p:nvPicPr>
        <p:blipFill>
          <a:blip r:embed="rId2"/>
          <a:stretch>
            <a:fillRect/>
          </a:stretch>
        </p:blipFill>
        <p:spPr>
          <a:xfrm>
            <a:off x="5999189" y="1403604"/>
            <a:ext cx="1717620" cy="3008376"/>
          </a:xfrm>
          <a:prstGeom prst="rect">
            <a:avLst/>
          </a:prstGeom>
        </p:spPr>
      </p:pic>
      <p:sp>
        <p:nvSpPr>
          <p:cNvPr id="33" name="R33"/>
          <p:cNvSpPr/>
          <p:nvPr/>
        </p:nvSpPr>
        <p:spPr>
          <a:xfrm>
            <a:off x="4812665" y="4457700"/>
            <a:ext cx="4148455" cy="434340"/>
          </a:xfrm>
          <a:prstGeom prst="rect">
            <a:avLst/>
          </a:prstGeom>
          <a:solidFill>
            <a:srgbClr val="A04820"/>
          </a:solidFill>
          <a:ln>
            <a:noFill/>
          </a:ln>
        </p:spPr>
        <p:txBody>
          <a:bodyPr/>
          <a:lstStyle/>
          <a:p/>
        </p:txBody>
      </p:sp>
      <p:sp>
        <p:nvSpPr>
          <p:cNvPr id="34" name="T34"/>
          <p:cNvSpPr txBox="1"/>
          <p:nvPr/>
        </p:nvSpPr>
        <p:spPr>
          <a:xfrm>
            <a:off x="4846320" y="4500880"/>
            <a:ext cx="4069079" cy="347472"/>
          </a:xfrm>
          <a:prstGeom prst="rect">
            <a:avLst/>
          </a:prstGeom>
          <a:noFill/>
        </p:spPr>
        <p:txBody>
          <a:bodyPr wrap="square" lIns="91440" tIns="45720" rIns="91440" bIns="45720" anchor="ctr"/>
          <a:lstStyle/>
          <a:p>
            <a:pPr algn="ctr"/>
            <a:r>
              <a:rPr lang="en-US" sz="920" b="0" dirty="0">
                <a:solidFill>
                  <a:srgbClr val="FFFFFF"/>
                </a:solidFill>
                <a:latin typeface="Calibri" panose="020F0502020204030204"/>
              </a:rPr>
              <a:t>Donor: Ahmad Al-Khalidi  ·  Amount: 500 JD  ·  Patient: Lina Khaled  ·  Programme: Zakat Fund  ·  Similarity: 71.2%  ·  YOUR IMPACT: 500 JD covers 4.2% of 12,000 JD treatment  ·  Zakat Validation: PASSED</a:t>
            </a:r>
            <a:endParaRPr lang="en-US" sz="920" b="0" dirty="0">
              <a:solidFill>
                <a:srgbClr val="FFFFFF"/>
              </a:solidFill>
              <a:latin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A1A35"/>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A0395A"/>
          </a:solidFill>
          <a:ln w="12700">
            <a:solidFill>
              <a:srgbClr val="A0395A"/>
            </a:solidFill>
            <a:prstDash val="solid"/>
          </a:ln>
        </p:spPr>
      </p:sp>
      <p:sp>
        <p:nvSpPr>
          <p:cNvPr id="3" name="Text 1"/>
          <p:cNvSpPr/>
          <p:nvPr/>
        </p:nvSpPr>
        <p:spPr>
          <a:xfrm>
            <a:off x="274320" y="4892040"/>
            <a:ext cx="8595360" cy="251460"/>
          </a:xfrm>
          <a:prstGeom prst="rect">
            <a:avLst/>
          </a:prstGeom>
          <a:noFill/>
        </p:spPr>
        <p:txBody>
          <a:bodyPr wrap="square" lIns="0" tIns="0" rIns="0" bIns="0" rtlCol="0" anchor="ctr"/>
          <a:lstStyle/>
          <a:p>
            <a:pPr marL="0" indent="0" algn="ctr">
              <a:buNone/>
            </a:pPr>
            <a:r>
              <a:rPr lang="en-US" sz="850" dirty="0">
                <a:solidFill>
                  <a:srgbClr val="F2BBCC"/>
                </a:solidFill>
                <a:latin typeface="Calibri" panose="020F0502020204030204" pitchFamily="34" charset="0"/>
                <a:ea typeface="Calibri" panose="020F0502020204030204" pitchFamily="34" charset="-122"/>
                <a:cs typeface="Calibri" panose="020F0502020204030204" pitchFamily="34" charset="-120"/>
              </a:rPr>
              <a:t>KHCC AidConnect  ·  Graduation Project Defense  ·  Mallak Abu Sada &amp; Maya Abu Aslahamat  ·  2025/2026</a:t>
            </a:r>
            <a:endParaRPr lang="en-US" sz="850" dirty="0"/>
          </a:p>
        </p:txBody>
      </p:sp>
      <p:sp>
        <p:nvSpPr>
          <p:cNvPr id="4" name="Shape 2"/>
          <p:cNvSpPr/>
          <p:nvPr/>
        </p:nvSpPr>
        <p:spPr>
          <a:xfrm>
            <a:off x="7790688" y="256032"/>
            <a:ext cx="1005840" cy="274320"/>
          </a:xfrm>
          <a:prstGeom prst="roundRect">
            <a:avLst>
              <a:gd name="adj" fmla="val 20000"/>
            </a:avLst>
          </a:prstGeom>
          <a:solidFill>
            <a:srgbClr val="E8855A"/>
          </a:solidFill>
          <a:ln w="12700">
            <a:solidFill>
              <a:srgbClr val="E8855A"/>
            </a:solidFill>
            <a:prstDash val="solid"/>
          </a:ln>
        </p:spPr>
      </p:sp>
      <p:sp>
        <p:nvSpPr>
          <p:cNvPr id="5" name="Text 3"/>
          <p:cNvSpPr/>
          <p:nvPr/>
        </p:nvSpPr>
        <p:spPr>
          <a:xfrm>
            <a:off x="7790688" y="256032"/>
            <a:ext cx="1005840" cy="274320"/>
          </a:xfrm>
          <a:prstGeom prst="rect">
            <a:avLst/>
          </a:prstGeom>
          <a:noFill/>
        </p:spPr>
        <p:txBody>
          <a:bodyPr wrap="square" lIns="0" tIns="0" rIns="0" bIns="0" rtlCol="0" anchor="ctr"/>
          <a:lstStyle/>
          <a:p>
            <a:pPr marL="0" indent="0" algn="ctr">
              <a:buNone/>
            </a:pPr>
            <a:r>
              <a:rPr lang="en-US" sz="850" b="1" kern="0" spc="50" dirty="0">
                <a:solidFill>
                  <a:srgbClr val="FFFFFF"/>
                </a:solidFill>
              </a:rPr>
              <a:t>SLIDE 15 / 20</a:t>
            </a:r>
            <a:endParaRPr lang="en-US" sz="850" dirty="0"/>
          </a:p>
        </p:txBody>
      </p:sp>
      <p:sp>
        <p:nvSpPr>
          <p:cNvPr id="6" name="Shape 4"/>
          <p:cNvSpPr/>
          <p:nvPr/>
        </p:nvSpPr>
        <p:spPr>
          <a:xfrm>
            <a:off x="0" y="0"/>
            <a:ext cx="9144000" cy="54864"/>
          </a:xfrm>
          <a:prstGeom prst="rect">
            <a:avLst/>
          </a:prstGeom>
          <a:solidFill>
            <a:srgbClr val="A8D8C0"/>
          </a:solidFill>
          <a:ln w="12700">
            <a:solidFill>
              <a:srgbClr val="A8D8C0"/>
            </a:solidFill>
            <a:prstDash val="solid"/>
          </a:ln>
        </p:spPr>
      </p:sp>
      <p:sp>
        <p:nvSpPr>
          <p:cNvPr id="7" name="Text 5"/>
          <p:cNvSpPr/>
          <p:nvPr/>
        </p:nvSpPr>
        <p:spPr>
          <a:xfrm>
            <a:off x="411480" y="164592"/>
            <a:ext cx="7772400" cy="594360"/>
          </a:xfrm>
          <a:prstGeom prst="rect">
            <a:avLst/>
          </a:prstGeom>
          <a:noFill/>
        </p:spPr>
        <p:txBody>
          <a:bodyPr wrap="square" lIns="0" tIns="0" rIns="0" bIns="0" rtlCol="0" anchor="ctr"/>
          <a:lstStyle/>
          <a:p>
            <a:pPr marL="0" indent="0" algn="l">
              <a:buNone/>
            </a:pPr>
            <a:r>
              <a:rPr lang="en-US" sz="2600" b="1" dirty="0">
                <a:solidFill>
                  <a:srgbClr val="FFFFFF"/>
                </a:solidFill>
                <a:latin typeface="Georgia" panose="02040502050405020303" pitchFamily="34" charset="0"/>
                <a:ea typeface="Georgia" panose="02040502050405020303" pitchFamily="34" charset="-122"/>
                <a:cs typeface="Georgia" panose="02040502050405020303" pitchFamily="34" charset="-120"/>
              </a:rPr>
              <a:t>Empirical Results — Performance Metrics</a:t>
            </a:r>
            <a:endParaRPr lang="en-US" sz="2600" dirty="0"/>
          </a:p>
        </p:txBody>
      </p:sp>
      <p:sp>
        <p:nvSpPr>
          <p:cNvPr id="8" name="Shape 6"/>
          <p:cNvSpPr/>
          <p:nvPr/>
        </p:nvSpPr>
        <p:spPr>
          <a:xfrm>
            <a:off x="320040" y="987552"/>
            <a:ext cx="2029968" cy="1417320"/>
          </a:xfrm>
          <a:prstGeom prst="rect">
            <a:avLst/>
          </a:prstGeom>
          <a:solidFill>
            <a:srgbClr val="FFFFFF">
              <a:alpha val="12000"/>
            </a:srgbClr>
          </a:solidFill>
          <a:ln w="12700">
            <a:solidFill>
              <a:srgbClr val="E8A0BF"/>
            </a:solidFill>
            <a:prstDash val="solid"/>
          </a:ln>
          <a:effectLst>
            <a:outerShdw blurRad="127000" dist="38100" dir="8100000" algn="bl" rotWithShape="0">
              <a:srgbClr val="C9617A">
                <a:alpha val="15000"/>
              </a:srgbClr>
            </a:outerShdw>
          </a:effectLst>
        </p:spPr>
      </p:sp>
      <p:sp>
        <p:nvSpPr>
          <p:cNvPr id="9" name="Shape 7"/>
          <p:cNvSpPr/>
          <p:nvPr/>
        </p:nvSpPr>
        <p:spPr>
          <a:xfrm>
            <a:off x="320040" y="987552"/>
            <a:ext cx="2029968" cy="54864"/>
          </a:xfrm>
          <a:prstGeom prst="rect">
            <a:avLst/>
          </a:prstGeom>
          <a:solidFill>
            <a:srgbClr val="E8A0BF"/>
          </a:solidFill>
          <a:ln w="12700">
            <a:solidFill>
              <a:srgbClr val="E8A0BF"/>
            </a:solidFill>
            <a:prstDash val="solid"/>
          </a:ln>
        </p:spPr>
      </p:sp>
      <p:sp>
        <p:nvSpPr>
          <p:cNvPr id="10" name="Text 8"/>
          <p:cNvSpPr/>
          <p:nvPr/>
        </p:nvSpPr>
        <p:spPr>
          <a:xfrm>
            <a:off x="320040" y="1060704"/>
            <a:ext cx="2029968" cy="685800"/>
          </a:xfrm>
          <a:prstGeom prst="rect">
            <a:avLst/>
          </a:prstGeom>
          <a:noFill/>
        </p:spPr>
        <p:txBody>
          <a:bodyPr wrap="square" lIns="0" tIns="0" rIns="0" bIns="0" rtlCol="0" anchor="ctr"/>
          <a:lstStyle/>
          <a:p>
            <a:pPr marL="0" indent="0" algn="ctr">
              <a:buNone/>
            </a:pPr>
            <a:r>
              <a:rPr lang="en-US" sz="4000" b="1" dirty="0">
                <a:solidFill>
                  <a:srgbClr val="E8A0BF"/>
                </a:solidFill>
                <a:latin typeface="Georgia" panose="02040502050405020303" pitchFamily="34" charset="0"/>
                <a:ea typeface="Georgia" panose="02040502050405020303" pitchFamily="34" charset="-122"/>
                <a:cs typeface="Georgia" panose="02040502050405020303" pitchFamily="34" charset="-120"/>
              </a:rPr>
              <a:t>1.00</a:t>
            </a:r>
            <a:endParaRPr lang="en-US" sz="4000" dirty="0"/>
          </a:p>
        </p:txBody>
      </p:sp>
      <p:sp>
        <p:nvSpPr>
          <p:cNvPr id="11" name="Text 9"/>
          <p:cNvSpPr/>
          <p:nvPr/>
        </p:nvSpPr>
        <p:spPr>
          <a:xfrm>
            <a:off x="320040" y="1755648"/>
            <a:ext cx="2029968" cy="274320"/>
          </a:xfrm>
          <a:prstGeom prst="rect">
            <a:avLst/>
          </a:prstGeom>
          <a:noFill/>
        </p:spPr>
        <p:txBody>
          <a:bodyPr wrap="square" lIns="0" tIns="0" rIns="0" bIns="0" rtlCol="0" anchor="ctr"/>
          <a:lstStyle/>
          <a:p>
            <a:pPr marL="0" indent="0" algn="ctr">
              <a:buNone/>
            </a:pPr>
            <a:r>
              <a:rPr lang="en-US" sz="1300" b="1" dirty="0">
                <a:solidFill>
                  <a:srgbClr val="FFFFFF"/>
                </a:solidFill>
              </a:rPr>
              <a:t>Precision</a:t>
            </a:r>
            <a:endParaRPr lang="en-US" sz="1300" dirty="0"/>
          </a:p>
        </p:txBody>
      </p:sp>
      <p:sp>
        <p:nvSpPr>
          <p:cNvPr id="12" name="Text 10"/>
          <p:cNvSpPr/>
          <p:nvPr/>
        </p:nvSpPr>
        <p:spPr>
          <a:xfrm>
            <a:off x="320040" y="2048256"/>
            <a:ext cx="2029968" cy="320040"/>
          </a:xfrm>
          <a:prstGeom prst="rect">
            <a:avLst/>
          </a:prstGeom>
          <a:noFill/>
        </p:spPr>
        <p:txBody>
          <a:bodyPr wrap="square" lIns="0" tIns="0" rIns="0" bIns="0" rtlCol="0" anchor="ctr"/>
          <a:lstStyle/>
          <a:p>
            <a:pPr marL="0" indent="0" algn="ctr">
              <a:buNone/>
            </a:pPr>
            <a:r>
              <a:rPr lang="en-US" sz="900" dirty="0">
                <a:solidFill>
                  <a:srgbClr val="F2BBCC"/>
                </a:solidFill>
                <a:latin typeface="Calibri" panose="020F0502020204030204" pitchFamily="34" charset="0"/>
                <a:ea typeface="Calibri" panose="020F0502020204030204" pitchFamily="34" charset="-122"/>
                <a:cs typeface="Calibri" panose="020F0502020204030204" pitchFamily="34" charset="-120"/>
              </a:rPr>
              <a:t>TP/(TP+FP)</a:t>
            </a:r>
            <a:endParaRPr lang="en-US" sz="900" dirty="0"/>
          </a:p>
          <a:p>
            <a:pPr marL="0" indent="0" algn="ctr">
              <a:buNone/>
            </a:pPr>
            <a:r>
              <a:rPr lang="en-US" sz="900" dirty="0">
                <a:solidFill>
                  <a:srgbClr val="F2BBCC"/>
                </a:solidFill>
                <a:latin typeface="Calibri" panose="020F0502020204030204" pitchFamily="34" charset="0"/>
                <a:ea typeface="Calibri" panose="020F0502020204030204" pitchFamily="34" charset="-122"/>
                <a:cs typeface="Calibri" panose="020F0502020204030204" pitchFamily="34" charset="-120"/>
              </a:rPr>
              <a:t>200/200</a:t>
            </a:r>
            <a:endParaRPr lang="en-US" sz="900" dirty="0"/>
          </a:p>
        </p:txBody>
      </p:sp>
      <p:sp>
        <p:nvSpPr>
          <p:cNvPr id="13" name="Shape 11"/>
          <p:cNvSpPr/>
          <p:nvPr/>
        </p:nvSpPr>
        <p:spPr>
          <a:xfrm>
            <a:off x="2514600" y="987552"/>
            <a:ext cx="2029968" cy="1417320"/>
          </a:xfrm>
          <a:prstGeom prst="rect">
            <a:avLst/>
          </a:prstGeom>
          <a:solidFill>
            <a:srgbClr val="FFFFFF">
              <a:alpha val="12000"/>
            </a:srgbClr>
          </a:solidFill>
          <a:ln w="12700">
            <a:solidFill>
              <a:srgbClr val="B8A0D8"/>
            </a:solidFill>
            <a:prstDash val="solid"/>
          </a:ln>
          <a:effectLst>
            <a:outerShdw blurRad="127000" dist="38100" dir="8100000" algn="bl" rotWithShape="0">
              <a:srgbClr val="C9617A">
                <a:alpha val="15000"/>
              </a:srgbClr>
            </a:outerShdw>
          </a:effectLst>
        </p:spPr>
      </p:sp>
      <p:sp>
        <p:nvSpPr>
          <p:cNvPr id="14" name="Shape 12"/>
          <p:cNvSpPr/>
          <p:nvPr/>
        </p:nvSpPr>
        <p:spPr>
          <a:xfrm>
            <a:off x="2514600" y="987552"/>
            <a:ext cx="2029968" cy="54864"/>
          </a:xfrm>
          <a:prstGeom prst="rect">
            <a:avLst/>
          </a:prstGeom>
          <a:solidFill>
            <a:srgbClr val="B8A0D8"/>
          </a:solidFill>
          <a:ln w="12700">
            <a:solidFill>
              <a:srgbClr val="B8A0D8"/>
            </a:solidFill>
            <a:prstDash val="solid"/>
          </a:ln>
        </p:spPr>
      </p:sp>
      <p:sp>
        <p:nvSpPr>
          <p:cNvPr id="15" name="Text 13"/>
          <p:cNvSpPr/>
          <p:nvPr/>
        </p:nvSpPr>
        <p:spPr>
          <a:xfrm>
            <a:off x="2514600" y="1060704"/>
            <a:ext cx="2029968" cy="685800"/>
          </a:xfrm>
          <a:prstGeom prst="rect">
            <a:avLst/>
          </a:prstGeom>
          <a:noFill/>
        </p:spPr>
        <p:txBody>
          <a:bodyPr wrap="square" lIns="0" tIns="0" rIns="0" bIns="0" rtlCol="0" anchor="ctr"/>
          <a:lstStyle/>
          <a:p>
            <a:pPr marL="0" indent="0" algn="ctr">
              <a:buNone/>
            </a:pPr>
            <a:r>
              <a:rPr lang="en-US" sz="4000" b="1" dirty="0">
                <a:solidFill>
                  <a:srgbClr val="B8A0D8"/>
                </a:solidFill>
                <a:latin typeface="Georgia" panose="02040502050405020303" pitchFamily="34" charset="0"/>
                <a:ea typeface="Georgia" panose="02040502050405020303" pitchFamily="34" charset="-122"/>
                <a:cs typeface="Georgia" panose="02040502050405020303" pitchFamily="34" charset="-120"/>
              </a:rPr>
              <a:t>1.00</a:t>
            </a:r>
            <a:endParaRPr lang="en-US" sz="4000" dirty="0"/>
          </a:p>
        </p:txBody>
      </p:sp>
      <p:sp>
        <p:nvSpPr>
          <p:cNvPr id="16" name="Text 14"/>
          <p:cNvSpPr/>
          <p:nvPr/>
        </p:nvSpPr>
        <p:spPr>
          <a:xfrm>
            <a:off x="2514600" y="1755648"/>
            <a:ext cx="2029968" cy="274320"/>
          </a:xfrm>
          <a:prstGeom prst="rect">
            <a:avLst/>
          </a:prstGeom>
          <a:noFill/>
        </p:spPr>
        <p:txBody>
          <a:bodyPr wrap="square" lIns="0" tIns="0" rIns="0" bIns="0" rtlCol="0" anchor="ctr"/>
          <a:lstStyle/>
          <a:p>
            <a:pPr marL="0" indent="0" algn="ctr">
              <a:buNone/>
            </a:pPr>
            <a:r>
              <a:rPr lang="en-US" sz="1300" b="1" dirty="0">
                <a:solidFill>
                  <a:srgbClr val="FFFFFF"/>
                </a:solidFill>
              </a:rPr>
              <a:t>Recall</a:t>
            </a:r>
            <a:endParaRPr lang="en-US" sz="1300" dirty="0"/>
          </a:p>
        </p:txBody>
      </p:sp>
      <p:sp>
        <p:nvSpPr>
          <p:cNvPr id="17" name="Text 15"/>
          <p:cNvSpPr/>
          <p:nvPr/>
        </p:nvSpPr>
        <p:spPr>
          <a:xfrm>
            <a:off x="2514600" y="2048256"/>
            <a:ext cx="2029968" cy="320040"/>
          </a:xfrm>
          <a:prstGeom prst="rect">
            <a:avLst/>
          </a:prstGeom>
          <a:noFill/>
        </p:spPr>
        <p:txBody>
          <a:bodyPr wrap="square" lIns="0" tIns="0" rIns="0" bIns="0" rtlCol="0" anchor="ctr"/>
          <a:lstStyle/>
          <a:p>
            <a:pPr marL="0" indent="0" algn="ctr">
              <a:buNone/>
            </a:pPr>
            <a:r>
              <a:rPr lang="en-US" sz="900" dirty="0">
                <a:solidFill>
                  <a:srgbClr val="F2BBCC"/>
                </a:solidFill>
                <a:latin typeface="Calibri" panose="020F0502020204030204" pitchFamily="34" charset="0"/>
                <a:ea typeface="Calibri" panose="020F0502020204030204" pitchFamily="34" charset="-122"/>
                <a:cs typeface="Calibri" panose="020F0502020204030204" pitchFamily="34" charset="-120"/>
              </a:rPr>
              <a:t>TP/(TP+FN)</a:t>
            </a:r>
            <a:endParaRPr lang="en-US" sz="900" dirty="0"/>
          </a:p>
          <a:p>
            <a:pPr marL="0" indent="0" algn="ctr">
              <a:buNone/>
            </a:pPr>
            <a:r>
              <a:rPr lang="en-US" sz="900" dirty="0">
                <a:solidFill>
                  <a:srgbClr val="F2BBCC"/>
                </a:solidFill>
                <a:latin typeface="Calibri" panose="020F0502020204030204" pitchFamily="34" charset="0"/>
                <a:ea typeface="Calibri" panose="020F0502020204030204" pitchFamily="34" charset="-122"/>
                <a:cs typeface="Calibri" panose="020F0502020204030204" pitchFamily="34" charset="-120"/>
              </a:rPr>
              <a:t>200/200</a:t>
            </a:r>
            <a:endParaRPr lang="en-US" sz="900" dirty="0"/>
          </a:p>
        </p:txBody>
      </p:sp>
      <p:sp>
        <p:nvSpPr>
          <p:cNvPr id="18" name="Shape 16"/>
          <p:cNvSpPr/>
          <p:nvPr/>
        </p:nvSpPr>
        <p:spPr>
          <a:xfrm>
            <a:off x="4709160" y="987552"/>
            <a:ext cx="2029968" cy="1417320"/>
          </a:xfrm>
          <a:prstGeom prst="rect">
            <a:avLst/>
          </a:prstGeom>
          <a:solidFill>
            <a:srgbClr val="FFFFFF">
              <a:alpha val="12000"/>
            </a:srgbClr>
          </a:solidFill>
          <a:ln w="12700">
            <a:solidFill>
              <a:srgbClr val="A8D8C0"/>
            </a:solidFill>
            <a:prstDash val="solid"/>
          </a:ln>
          <a:effectLst>
            <a:outerShdw blurRad="127000" dist="38100" dir="8100000" algn="bl" rotWithShape="0">
              <a:srgbClr val="C9617A">
                <a:alpha val="15000"/>
              </a:srgbClr>
            </a:outerShdw>
          </a:effectLst>
        </p:spPr>
      </p:sp>
      <p:sp>
        <p:nvSpPr>
          <p:cNvPr id="19" name="Shape 17"/>
          <p:cNvSpPr/>
          <p:nvPr/>
        </p:nvSpPr>
        <p:spPr>
          <a:xfrm>
            <a:off x="4709160" y="987552"/>
            <a:ext cx="2029968" cy="54864"/>
          </a:xfrm>
          <a:prstGeom prst="rect">
            <a:avLst/>
          </a:prstGeom>
          <a:solidFill>
            <a:srgbClr val="A8D8C0"/>
          </a:solidFill>
          <a:ln w="12700">
            <a:solidFill>
              <a:srgbClr val="A8D8C0"/>
            </a:solidFill>
            <a:prstDash val="solid"/>
          </a:ln>
        </p:spPr>
      </p:sp>
      <p:sp>
        <p:nvSpPr>
          <p:cNvPr id="20" name="Text 18"/>
          <p:cNvSpPr/>
          <p:nvPr/>
        </p:nvSpPr>
        <p:spPr>
          <a:xfrm>
            <a:off x="4709160" y="1060704"/>
            <a:ext cx="2029968" cy="685800"/>
          </a:xfrm>
          <a:prstGeom prst="rect">
            <a:avLst/>
          </a:prstGeom>
          <a:noFill/>
        </p:spPr>
        <p:txBody>
          <a:bodyPr wrap="square" lIns="0" tIns="0" rIns="0" bIns="0" rtlCol="0" anchor="ctr"/>
          <a:lstStyle/>
          <a:p>
            <a:pPr marL="0" indent="0" algn="ctr">
              <a:buNone/>
            </a:pPr>
            <a:r>
              <a:rPr lang="en-US" sz="4000" b="1" dirty="0">
                <a:solidFill>
                  <a:srgbClr val="A8D8C0"/>
                </a:solidFill>
                <a:latin typeface="Georgia" panose="02040502050405020303" pitchFamily="34" charset="0"/>
                <a:ea typeface="Georgia" panose="02040502050405020303" pitchFamily="34" charset="-122"/>
                <a:cs typeface="Georgia" panose="02040502050405020303" pitchFamily="34" charset="-120"/>
              </a:rPr>
              <a:t>1.00</a:t>
            </a:r>
            <a:endParaRPr lang="en-US" sz="4000" dirty="0"/>
          </a:p>
        </p:txBody>
      </p:sp>
      <p:sp>
        <p:nvSpPr>
          <p:cNvPr id="21" name="Text 19"/>
          <p:cNvSpPr/>
          <p:nvPr/>
        </p:nvSpPr>
        <p:spPr>
          <a:xfrm>
            <a:off x="4709160" y="1755648"/>
            <a:ext cx="2029968" cy="274320"/>
          </a:xfrm>
          <a:prstGeom prst="rect">
            <a:avLst/>
          </a:prstGeom>
          <a:noFill/>
        </p:spPr>
        <p:txBody>
          <a:bodyPr wrap="square" lIns="0" tIns="0" rIns="0" bIns="0" rtlCol="0" anchor="ctr"/>
          <a:lstStyle/>
          <a:p>
            <a:pPr marL="0" indent="0" algn="ctr">
              <a:buNone/>
            </a:pPr>
            <a:r>
              <a:rPr lang="en-US" sz="1300" b="1" dirty="0">
                <a:solidFill>
                  <a:srgbClr val="FFFFFF"/>
                </a:solidFill>
              </a:rPr>
              <a:t>F1-Score</a:t>
            </a:r>
            <a:endParaRPr lang="en-US" sz="1300" dirty="0"/>
          </a:p>
        </p:txBody>
      </p:sp>
      <p:sp>
        <p:nvSpPr>
          <p:cNvPr id="22" name="Text 20"/>
          <p:cNvSpPr/>
          <p:nvPr/>
        </p:nvSpPr>
        <p:spPr>
          <a:xfrm>
            <a:off x="4709160" y="2048256"/>
            <a:ext cx="2029968" cy="320040"/>
          </a:xfrm>
          <a:prstGeom prst="rect">
            <a:avLst/>
          </a:prstGeom>
          <a:noFill/>
        </p:spPr>
        <p:txBody>
          <a:bodyPr wrap="square" lIns="0" tIns="0" rIns="0" bIns="0" rtlCol="0" anchor="ctr"/>
          <a:lstStyle/>
          <a:p>
            <a:pPr marL="0" indent="0" algn="ctr">
              <a:buNone/>
            </a:pPr>
            <a:r>
              <a:rPr lang="en-US" sz="900" dirty="0">
                <a:solidFill>
                  <a:srgbClr val="F2BBCC"/>
                </a:solidFill>
                <a:latin typeface="Calibri" panose="020F0502020204030204" pitchFamily="34" charset="0"/>
                <a:ea typeface="Calibri" panose="020F0502020204030204" pitchFamily="34" charset="-122"/>
                <a:cs typeface="Calibri" panose="020F0502020204030204" pitchFamily="34" charset="-120"/>
              </a:rPr>
              <a:t>2×(P×R)/(P+R)</a:t>
            </a:r>
            <a:endParaRPr lang="en-US" sz="900" dirty="0"/>
          </a:p>
          <a:p>
            <a:pPr marL="0" indent="0" algn="ctr">
              <a:buNone/>
            </a:pPr>
            <a:r>
              <a:rPr lang="en-US" sz="900" dirty="0">
                <a:solidFill>
                  <a:srgbClr val="F2BBCC"/>
                </a:solidFill>
                <a:latin typeface="Calibri" panose="020F0502020204030204" pitchFamily="34" charset="0"/>
                <a:ea typeface="Calibri" panose="020F0502020204030204" pitchFamily="34" charset="-122"/>
                <a:cs typeface="Calibri" panose="020F0502020204030204" pitchFamily="34" charset="-120"/>
              </a:rPr>
              <a:t>= 1.00</a:t>
            </a:r>
            <a:endParaRPr lang="en-US" sz="900" dirty="0"/>
          </a:p>
        </p:txBody>
      </p:sp>
      <p:sp>
        <p:nvSpPr>
          <p:cNvPr id="23" name="Shape 21"/>
          <p:cNvSpPr/>
          <p:nvPr/>
        </p:nvSpPr>
        <p:spPr>
          <a:xfrm>
            <a:off x="6903720" y="987552"/>
            <a:ext cx="2029968" cy="1417320"/>
          </a:xfrm>
          <a:prstGeom prst="rect">
            <a:avLst/>
          </a:prstGeom>
          <a:solidFill>
            <a:srgbClr val="FFFFFF">
              <a:alpha val="12000"/>
            </a:srgbClr>
          </a:solidFill>
          <a:ln w="12700">
            <a:solidFill>
              <a:srgbClr val="F5C0A0"/>
            </a:solidFill>
            <a:prstDash val="solid"/>
          </a:ln>
          <a:effectLst>
            <a:outerShdw blurRad="127000" dist="38100" dir="8100000" algn="bl" rotWithShape="0">
              <a:srgbClr val="C9617A">
                <a:alpha val="15000"/>
              </a:srgbClr>
            </a:outerShdw>
          </a:effectLst>
        </p:spPr>
      </p:sp>
      <p:sp>
        <p:nvSpPr>
          <p:cNvPr id="24" name="Shape 22"/>
          <p:cNvSpPr/>
          <p:nvPr/>
        </p:nvSpPr>
        <p:spPr>
          <a:xfrm>
            <a:off x="6903720" y="987552"/>
            <a:ext cx="2029968" cy="54864"/>
          </a:xfrm>
          <a:prstGeom prst="rect">
            <a:avLst/>
          </a:prstGeom>
          <a:solidFill>
            <a:srgbClr val="F5C0A0"/>
          </a:solidFill>
          <a:ln w="12700">
            <a:solidFill>
              <a:srgbClr val="F5C0A0"/>
            </a:solidFill>
            <a:prstDash val="solid"/>
          </a:ln>
        </p:spPr>
      </p:sp>
      <p:sp>
        <p:nvSpPr>
          <p:cNvPr id="25" name="Text 23"/>
          <p:cNvSpPr/>
          <p:nvPr/>
        </p:nvSpPr>
        <p:spPr>
          <a:xfrm>
            <a:off x="6903720" y="1060704"/>
            <a:ext cx="2029968" cy="685800"/>
          </a:xfrm>
          <a:prstGeom prst="rect">
            <a:avLst/>
          </a:prstGeom>
          <a:noFill/>
        </p:spPr>
        <p:txBody>
          <a:bodyPr wrap="square" lIns="0" tIns="0" rIns="0" bIns="0" rtlCol="0" anchor="ctr"/>
          <a:lstStyle/>
          <a:p>
            <a:pPr marL="0" indent="0" algn="ctr">
              <a:buNone/>
            </a:pPr>
            <a:r>
              <a:rPr lang="en-US" sz="4000" b="1" dirty="0">
                <a:solidFill>
                  <a:srgbClr val="F5C0A0"/>
                </a:solidFill>
                <a:latin typeface="Georgia" panose="02040502050405020303" pitchFamily="34" charset="0"/>
                <a:ea typeface="Georgia" panose="02040502050405020303" pitchFamily="34" charset="-122"/>
                <a:cs typeface="Georgia" panose="02040502050405020303" pitchFamily="34" charset="-120"/>
              </a:rPr>
              <a:t>100%</a:t>
            </a:r>
            <a:endParaRPr lang="en-US" sz="4000" dirty="0"/>
          </a:p>
        </p:txBody>
      </p:sp>
      <p:sp>
        <p:nvSpPr>
          <p:cNvPr id="26" name="Text 24"/>
          <p:cNvSpPr/>
          <p:nvPr/>
        </p:nvSpPr>
        <p:spPr>
          <a:xfrm>
            <a:off x="6903720" y="1755648"/>
            <a:ext cx="2029968" cy="274320"/>
          </a:xfrm>
          <a:prstGeom prst="rect">
            <a:avLst/>
          </a:prstGeom>
          <a:noFill/>
        </p:spPr>
        <p:txBody>
          <a:bodyPr wrap="square" lIns="0" tIns="0" rIns="0" bIns="0" rtlCol="0" anchor="ctr"/>
          <a:lstStyle/>
          <a:p>
            <a:pPr marL="0" indent="0" algn="ctr">
              <a:buNone/>
            </a:pPr>
            <a:r>
              <a:rPr lang="en-US" sz="1300" b="1" dirty="0">
                <a:solidFill>
                  <a:srgbClr val="FFFFFF"/>
                </a:solidFill>
              </a:rPr>
              <a:t>Accuracy</a:t>
            </a:r>
            <a:endParaRPr lang="en-US" sz="1300" dirty="0"/>
          </a:p>
        </p:txBody>
      </p:sp>
      <p:sp>
        <p:nvSpPr>
          <p:cNvPr id="27" name="Text 25"/>
          <p:cNvSpPr/>
          <p:nvPr/>
        </p:nvSpPr>
        <p:spPr>
          <a:xfrm>
            <a:off x="6903720" y="2048256"/>
            <a:ext cx="2029968" cy="320040"/>
          </a:xfrm>
          <a:prstGeom prst="rect">
            <a:avLst/>
          </a:prstGeom>
          <a:noFill/>
        </p:spPr>
        <p:txBody>
          <a:bodyPr wrap="square" lIns="0" tIns="0" rIns="0" bIns="0" rtlCol="0" anchor="ctr"/>
          <a:lstStyle/>
          <a:p>
            <a:pPr marL="0" indent="0" algn="ctr">
              <a:buNone/>
            </a:pPr>
            <a:r>
              <a:rPr lang="en-US" sz="900" dirty="0">
                <a:solidFill>
                  <a:srgbClr val="F2BBCC"/>
                </a:solidFill>
                <a:latin typeface="Calibri" panose="020F0502020204030204" pitchFamily="34" charset="0"/>
                <a:ea typeface="Calibri" panose="020F0502020204030204" pitchFamily="34" charset="-122"/>
                <a:cs typeface="Calibri" panose="020F0502020204030204" pitchFamily="34" charset="-120"/>
              </a:rPr>
              <a:t>200/200 correct</a:t>
            </a:r>
            <a:endParaRPr lang="en-US" sz="900" dirty="0"/>
          </a:p>
          <a:p>
            <a:pPr marL="0" indent="0" algn="ctr">
              <a:buNone/>
            </a:pPr>
            <a:r>
              <a:rPr lang="en-US" sz="900" dirty="0">
                <a:solidFill>
                  <a:srgbClr val="F2BBCC"/>
                </a:solidFill>
                <a:latin typeface="Calibri" panose="020F0502020204030204" pitchFamily="34" charset="0"/>
                <a:ea typeface="Calibri" panose="020F0502020204030204" pitchFamily="34" charset="-122"/>
                <a:cs typeface="Calibri" panose="020F0502020204030204" pitchFamily="34" charset="-120"/>
              </a:rPr>
              <a:t>retrievals</a:t>
            </a:r>
            <a:endParaRPr lang="en-US" sz="900" dirty="0"/>
          </a:p>
        </p:txBody>
      </p:sp>
      <p:sp>
        <p:nvSpPr>
          <p:cNvPr id="28" name="Text 26"/>
          <p:cNvSpPr/>
          <p:nvPr/>
        </p:nvSpPr>
        <p:spPr>
          <a:xfrm>
            <a:off x="320040" y="2514600"/>
            <a:ext cx="8503920" cy="320040"/>
          </a:xfrm>
          <a:prstGeom prst="rect">
            <a:avLst/>
          </a:prstGeom>
          <a:noFill/>
        </p:spPr>
        <p:txBody>
          <a:bodyPr wrap="square" lIns="0" tIns="0" rIns="0" bIns="0" rtlCol="0" anchor="ctr"/>
          <a:lstStyle/>
          <a:p>
            <a:pPr marL="0" indent="0" algn="l">
              <a:buNone/>
            </a:pPr>
            <a:r>
              <a:rPr lang="en-US" sz="1400" b="1" dirty="0">
                <a:solidFill>
                  <a:srgbClr val="FFFFFF"/>
                </a:solidFill>
              </a:rPr>
              <a:t>Combined System Performance Summary</a:t>
            </a:r>
            <a:endParaRPr lang="en-US" sz="1400" dirty="0"/>
          </a:p>
        </p:txBody>
      </p:sp>
      <p:graphicFrame>
        <p:nvGraphicFramePr>
          <p:cNvPr id="29" name="Table 0"/>
          <p:cNvGraphicFramePr>
            <a:graphicFrameLocks noGrp="1"/>
          </p:cNvGraphicFramePr>
          <p:nvPr/>
        </p:nvGraphicFramePr>
        <p:xfrm>
          <a:off x="320040" y="2880360"/>
          <a:ext cx="8503920" cy="1901952"/>
        </p:xfrm>
        <a:graphic>
          <a:graphicData uri="http://schemas.openxmlformats.org/drawingml/2006/table">
            <a:tbl>
              <a:tblPr/>
              <a:tblGrid>
                <a:gridCol w="1737360"/>
                <a:gridCol w="2286000"/>
                <a:gridCol w="2560320"/>
                <a:gridCol w="1920240"/>
              </a:tblGrid>
              <a:tr h="271707">
                <a:tc>
                  <a:txBody>
                    <a:bodyPr/>
                    <a:lstStyle/>
                    <a:p>
                      <a:pPr marL="0" indent="0">
                        <a:buNone/>
                      </a:pPr>
                      <a:r>
                        <a:rPr lang="en-US" sz="1100" b="1" dirty="0">
                          <a:solidFill>
                            <a:srgbClr val="FFFFFF"/>
                          </a:solidFill>
                        </a:rPr>
                        <a:t>Component</a:t>
                      </a:r>
                      <a:endParaRPr lang="en-US" sz="11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A0395A"/>
                    </a:solidFill>
                  </a:tcPr>
                </a:tc>
                <a:tc>
                  <a:txBody>
                    <a:bodyPr/>
                    <a:lstStyle/>
                    <a:p>
                      <a:pPr marL="0" indent="0">
                        <a:buNone/>
                      </a:pPr>
                      <a:r>
                        <a:rPr lang="en-US" sz="1100" b="1" dirty="0">
                          <a:solidFill>
                            <a:srgbClr val="FFFFFF"/>
                          </a:solidFill>
                        </a:rPr>
                        <a:t>Metric</a:t>
                      </a:r>
                      <a:endParaRPr lang="en-US" sz="11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A0395A"/>
                    </a:solidFill>
                  </a:tcPr>
                </a:tc>
                <a:tc>
                  <a:txBody>
                    <a:bodyPr/>
                    <a:lstStyle/>
                    <a:p>
                      <a:pPr marL="0" indent="0">
                        <a:buNone/>
                      </a:pPr>
                      <a:r>
                        <a:rPr lang="en-US" sz="1100" b="1" dirty="0">
                          <a:solidFill>
                            <a:srgbClr val="FFFFFF"/>
                          </a:solidFill>
                        </a:rPr>
                        <a:t>Result</a:t>
                      </a:r>
                      <a:endParaRPr lang="en-US" sz="11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A0395A"/>
                    </a:solidFill>
                  </a:tcPr>
                </a:tc>
                <a:tc>
                  <a:txBody>
                    <a:bodyPr/>
                    <a:lstStyle/>
                    <a:p>
                      <a:pPr marL="0" indent="0">
                        <a:buNone/>
                      </a:pPr>
                      <a:r>
                        <a:rPr lang="en-US" sz="1100" b="1" dirty="0">
                          <a:solidFill>
                            <a:srgbClr val="FFFFFF"/>
                          </a:solidFill>
                        </a:rPr>
                        <a:t>Status</a:t>
                      </a:r>
                      <a:endParaRPr lang="en-US" sz="11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A0395A"/>
                    </a:solidFill>
                  </a:tcPr>
                </a:tc>
              </a:tr>
              <a:tr h="271707">
                <a:tc>
                  <a:txBody>
                    <a:bodyPr/>
                    <a:lstStyle/>
                    <a:p>
                      <a:pPr marL="0" indent="0">
                        <a:buNone/>
                      </a:pPr>
                      <a:r>
                        <a:rPr lang="en-US" sz="1000" b="1" dirty="0">
                          <a:solidFill>
                            <a:srgbClr val="000000"/>
                          </a:solidFill>
                        </a:rPr>
                        <a:t>KNN Engine</a:t>
                      </a:r>
                      <a:endParaRPr lang="en-US" sz="10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CE8F0"/>
                    </a:solidFill>
                  </a:tcPr>
                </a:tc>
                <a:tc>
                  <a:txBody>
                    <a:bodyPr/>
                    <a:lstStyle/>
                    <a:p>
                      <a:pPr marL="0" indent="0">
                        <a:buNone/>
                      </a:pPr>
                      <a:r>
                        <a:rPr lang="en-US" sz="1000" dirty="0">
                          <a:solidFill>
                            <a:srgbClr val="000000"/>
                          </a:solidFill>
                        </a:rPr>
                        <a:t>Mean Precision@4</a:t>
                      </a:r>
                      <a:endParaRPr lang="en-US" sz="10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CE8F0"/>
                    </a:solidFill>
                  </a:tcPr>
                </a:tc>
                <a:tc>
                  <a:txBody>
                    <a:bodyPr/>
                    <a:lstStyle/>
                    <a:p>
                      <a:pPr marL="0" indent="0">
                        <a:buNone/>
                      </a:pPr>
                      <a:r>
                        <a:rPr lang="en-US" sz="1100" b="1" dirty="0">
                          <a:solidFill>
                            <a:srgbClr val="5FAF8A"/>
                          </a:solidFill>
                        </a:rPr>
                        <a:t>1.00 (100%)</a:t>
                      </a:r>
                      <a:endParaRPr lang="en-US" sz="11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CE8F0"/>
                    </a:solidFill>
                  </a:tcPr>
                </a:tc>
                <a:tc>
                  <a:txBody>
                    <a:bodyPr/>
                    <a:lstStyle/>
                    <a:p>
                      <a:pPr marL="0" indent="0">
                        <a:buNone/>
                      </a:pPr>
                      <a:r>
                        <a:rPr lang="en-US" sz="1000" b="1" dirty="0">
                          <a:solidFill>
                            <a:srgbClr val="5FAF8A"/>
                          </a:solidFill>
                        </a:rPr>
                        <a:t>✓ PASS</a:t>
                      </a:r>
                      <a:endParaRPr lang="en-US" sz="10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CE8F0"/>
                    </a:solidFill>
                  </a:tcPr>
                </a:tc>
              </a:tr>
              <a:tr h="271707">
                <a:tc>
                  <a:txBody>
                    <a:bodyPr/>
                    <a:lstStyle/>
                    <a:p>
                      <a:pPr marL="0" indent="0">
                        <a:buNone/>
                      </a:pPr>
                      <a:r>
                        <a:rPr lang="en-US" sz="1000" b="1" i="1" dirty="0">
                          <a:solidFill>
                            <a:schemeClr val="accent6">
                              <a:lumMod val="60000"/>
                              <a:lumOff val="40000"/>
                            </a:schemeClr>
                          </a:solidFill>
                        </a:rPr>
                        <a:t>KNN Engine</a:t>
                      </a:r>
                      <a:endParaRPr lang="en-US" sz="1000" b="1" i="1" dirty="0">
                        <a:solidFill>
                          <a:schemeClr val="accent6">
                            <a:lumMod val="60000"/>
                            <a:lumOff val="40000"/>
                          </a:schemeClr>
                        </a:solidFill>
                      </a:endParaRPr>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tcPr>
                </a:tc>
                <a:tc>
                  <a:txBody>
                    <a:bodyPr/>
                    <a:lstStyle/>
                    <a:p>
                      <a:pPr marL="0" indent="0">
                        <a:buNone/>
                      </a:pPr>
                      <a:r>
                        <a:rPr lang="en-US" sz="1000" b="1" i="1" dirty="0">
                          <a:solidFill>
                            <a:schemeClr val="accent6">
                              <a:lumMod val="60000"/>
                              <a:lumOff val="40000"/>
                            </a:schemeClr>
                          </a:solidFill>
                        </a:rPr>
                        <a:t>50 Test Queries</a:t>
                      </a:r>
                      <a:endParaRPr lang="en-US" sz="1000" b="1" i="1" dirty="0">
                        <a:solidFill>
                          <a:schemeClr val="accent6">
                            <a:lumMod val="60000"/>
                            <a:lumOff val="40000"/>
                          </a:schemeClr>
                        </a:solidFill>
                      </a:endParaRPr>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tcPr>
                </a:tc>
                <a:tc>
                  <a:txBody>
                    <a:bodyPr/>
                    <a:lstStyle/>
                    <a:p>
                      <a:pPr marL="0" indent="0">
                        <a:buNone/>
                      </a:pPr>
                      <a:r>
                        <a:rPr lang="en-US" sz="1100" b="1" i="1" dirty="0">
                          <a:solidFill>
                            <a:schemeClr val="accent6">
                              <a:lumMod val="60000"/>
                              <a:lumOff val="40000"/>
                            </a:schemeClr>
                          </a:solidFill>
                        </a:rPr>
                        <a:t>200/200 correct</a:t>
                      </a:r>
                      <a:endParaRPr lang="en-US" sz="1100" b="1" i="1" dirty="0">
                        <a:solidFill>
                          <a:schemeClr val="accent6">
                            <a:lumMod val="60000"/>
                            <a:lumOff val="40000"/>
                          </a:schemeClr>
                        </a:solidFill>
                      </a:endParaRPr>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tcPr>
                </a:tc>
                <a:tc>
                  <a:txBody>
                    <a:bodyPr/>
                    <a:lstStyle/>
                    <a:p>
                      <a:pPr marL="0" indent="0">
                        <a:buNone/>
                      </a:pPr>
                      <a:r>
                        <a:rPr lang="en-US" sz="1000" b="1" dirty="0">
                          <a:solidFill>
                            <a:schemeClr val="accent6">
                              <a:lumMod val="60000"/>
                              <a:lumOff val="40000"/>
                            </a:schemeClr>
                          </a:solidFill>
                        </a:rPr>
                        <a:t>✓ PASS</a:t>
                      </a:r>
                      <a:endParaRPr lang="en-US" sz="1000" b="1" dirty="0">
                        <a:solidFill>
                          <a:schemeClr val="accent6">
                            <a:lumMod val="60000"/>
                            <a:lumOff val="40000"/>
                          </a:schemeClr>
                        </a:solidFill>
                      </a:endParaRPr>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tcPr>
                </a:tc>
              </a:tr>
              <a:tr h="271707">
                <a:tc>
                  <a:txBody>
                    <a:bodyPr/>
                    <a:lstStyle/>
                    <a:p>
                      <a:pPr marL="0" indent="0">
                        <a:buNone/>
                      </a:pPr>
                      <a:r>
                        <a:rPr lang="en-US" sz="1000" b="1" dirty="0">
                          <a:solidFill>
                            <a:srgbClr val="000000"/>
                          </a:solidFill>
                        </a:rPr>
                        <a:t>Recommender</a:t>
                      </a:r>
                      <a:endParaRPr lang="en-US" sz="10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0EAFA"/>
                    </a:solidFill>
                  </a:tcPr>
                </a:tc>
                <a:tc>
                  <a:txBody>
                    <a:bodyPr/>
                    <a:lstStyle/>
                    <a:p>
                      <a:pPr marL="0" indent="0">
                        <a:buNone/>
                      </a:pPr>
                      <a:r>
                        <a:rPr lang="en-US" sz="1000" dirty="0">
                          <a:solidFill>
                            <a:srgbClr val="000000"/>
                          </a:solidFill>
                        </a:rPr>
                        <a:t>Patient Coverage</a:t>
                      </a:r>
                      <a:endParaRPr lang="en-US" sz="10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0EAFA"/>
                    </a:solidFill>
                  </a:tcPr>
                </a:tc>
                <a:tc>
                  <a:txBody>
                    <a:bodyPr/>
                    <a:lstStyle/>
                    <a:p>
                      <a:pPr marL="0" indent="0">
                        <a:buNone/>
                      </a:pPr>
                      <a:r>
                        <a:rPr lang="en-US" sz="1100" b="1" dirty="0">
                          <a:solidFill>
                            <a:srgbClr val="5FAF8A"/>
                          </a:solidFill>
                        </a:rPr>
                        <a:t>111/111 = 100%</a:t>
                      </a:r>
                      <a:endParaRPr lang="en-US" sz="11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0EAFA"/>
                    </a:solidFill>
                  </a:tcPr>
                </a:tc>
                <a:tc>
                  <a:txBody>
                    <a:bodyPr/>
                    <a:lstStyle/>
                    <a:p>
                      <a:pPr marL="0" indent="0">
                        <a:buNone/>
                      </a:pPr>
                      <a:r>
                        <a:rPr lang="en-US" sz="1000" b="1" dirty="0">
                          <a:solidFill>
                            <a:srgbClr val="5FAF8A"/>
                          </a:solidFill>
                        </a:rPr>
                        <a:t>✓ PASS</a:t>
                      </a:r>
                      <a:endParaRPr lang="en-US" sz="10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0EAFA"/>
                    </a:solidFill>
                  </a:tcPr>
                </a:tc>
              </a:tr>
              <a:tr h="271707">
                <a:tc>
                  <a:txBody>
                    <a:bodyPr/>
                    <a:lstStyle/>
                    <a:p>
                      <a:pPr marL="0" indent="0">
                        <a:buNone/>
                      </a:pPr>
                      <a:r>
                        <a:rPr lang="en-US" sz="1000" b="1" i="1" dirty="0">
                          <a:solidFill>
                            <a:schemeClr val="accent6">
                              <a:lumMod val="60000"/>
                              <a:lumOff val="40000"/>
                            </a:schemeClr>
                          </a:solidFill>
                        </a:rPr>
                        <a:t>Hypothesis H1</a:t>
                      </a:r>
                      <a:endParaRPr lang="en-US" sz="1000" b="1" i="1" dirty="0">
                        <a:solidFill>
                          <a:schemeClr val="accent6">
                            <a:lumMod val="60000"/>
                            <a:lumOff val="40000"/>
                          </a:schemeClr>
                        </a:solidFill>
                      </a:endParaRPr>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tcPr>
                </a:tc>
                <a:tc>
                  <a:txBody>
                    <a:bodyPr/>
                    <a:lstStyle/>
                    <a:p>
                      <a:pPr marL="0" indent="0">
                        <a:buNone/>
                      </a:pPr>
                      <a:r>
                        <a:rPr lang="en-US" sz="1000" dirty="0">
                          <a:solidFill>
                            <a:schemeClr val="accent6">
                              <a:lumMod val="60000"/>
                              <a:lumOff val="40000"/>
                            </a:schemeClr>
                          </a:solidFill>
                        </a:rPr>
                        <a:t>T-test Stage vs Need</a:t>
                      </a:r>
                      <a:endParaRPr lang="en-US" sz="1000" dirty="0">
                        <a:solidFill>
                          <a:schemeClr val="accent6">
                            <a:lumMod val="60000"/>
                            <a:lumOff val="40000"/>
                          </a:schemeClr>
                        </a:solidFill>
                      </a:endParaRPr>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tcPr>
                </a:tc>
                <a:tc>
                  <a:txBody>
                    <a:bodyPr/>
                    <a:lstStyle/>
                    <a:p>
                      <a:pPr marL="0" indent="0">
                        <a:buNone/>
                      </a:pPr>
                      <a:r>
                        <a:rPr lang="en-US" sz="1100" b="1" dirty="0">
                          <a:solidFill>
                            <a:schemeClr val="accent6">
                              <a:lumMod val="60000"/>
                              <a:lumOff val="40000"/>
                            </a:schemeClr>
                          </a:solidFill>
                        </a:rPr>
                        <a:t>p &lt; 0.0001</a:t>
                      </a:r>
                      <a:endParaRPr lang="en-US" sz="1100" b="1" dirty="0">
                        <a:solidFill>
                          <a:schemeClr val="accent6">
                            <a:lumMod val="60000"/>
                            <a:lumOff val="40000"/>
                          </a:schemeClr>
                        </a:solidFill>
                      </a:endParaRPr>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tcPr>
                </a:tc>
                <a:tc>
                  <a:txBody>
                    <a:bodyPr/>
                    <a:lstStyle/>
                    <a:p>
                      <a:pPr marL="0" indent="0">
                        <a:buNone/>
                      </a:pPr>
                      <a:r>
                        <a:rPr lang="en-US" sz="1000" b="1" dirty="0">
                          <a:solidFill>
                            <a:schemeClr val="accent6">
                              <a:lumMod val="60000"/>
                              <a:lumOff val="40000"/>
                            </a:schemeClr>
                          </a:solidFill>
                        </a:rPr>
                        <a:t>✓ PASS</a:t>
                      </a:r>
                      <a:endParaRPr lang="en-US" sz="1000" b="1" dirty="0">
                        <a:solidFill>
                          <a:schemeClr val="accent6">
                            <a:lumMod val="60000"/>
                            <a:lumOff val="40000"/>
                          </a:schemeClr>
                        </a:solidFill>
                      </a:endParaRPr>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tcPr>
                </a:tc>
              </a:tr>
              <a:tr h="271707">
                <a:tc>
                  <a:txBody>
                    <a:bodyPr/>
                    <a:lstStyle/>
                    <a:p>
                      <a:pPr marL="0" indent="0">
                        <a:buNone/>
                      </a:pPr>
                      <a:r>
                        <a:rPr lang="en-US" sz="1000" dirty="0">
                          <a:solidFill>
                            <a:srgbClr val="000000"/>
                          </a:solidFill>
                        </a:rPr>
                        <a:t>Hypothesis H3</a:t>
                      </a:r>
                      <a:endParaRPr lang="en-US" sz="10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0EAFA"/>
                    </a:solidFill>
                  </a:tcPr>
                </a:tc>
                <a:tc>
                  <a:txBody>
                    <a:bodyPr/>
                    <a:lstStyle/>
                    <a:p>
                      <a:pPr marL="0" indent="0">
                        <a:buNone/>
                      </a:pPr>
                      <a:r>
                        <a:rPr lang="en-US" sz="1000" dirty="0">
                          <a:solidFill>
                            <a:srgbClr val="000000"/>
                          </a:solidFill>
                        </a:rPr>
                        <a:t>Pearson r Income/Need</a:t>
                      </a:r>
                      <a:endParaRPr lang="en-US" sz="10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0EAFA"/>
                    </a:solidFill>
                  </a:tcPr>
                </a:tc>
                <a:tc>
                  <a:txBody>
                    <a:bodyPr/>
                    <a:lstStyle/>
                    <a:p>
                      <a:pPr marL="0" indent="0">
                        <a:buNone/>
                      </a:pPr>
                      <a:r>
                        <a:rPr lang="en-US" sz="1100" b="1" dirty="0">
                          <a:solidFill>
                            <a:srgbClr val="000000"/>
                          </a:solidFill>
                        </a:rPr>
                        <a:t>r = -0.69</a:t>
                      </a:r>
                      <a:endParaRPr lang="en-US" sz="11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0EAFA"/>
                    </a:solidFill>
                  </a:tcPr>
                </a:tc>
                <a:tc>
                  <a:txBody>
                    <a:bodyPr/>
                    <a:lstStyle/>
                    <a:p>
                      <a:pPr marL="0" indent="0">
                        <a:buNone/>
                      </a:pPr>
                      <a:r>
                        <a:rPr lang="en-US" sz="1000" b="1" dirty="0">
                          <a:solidFill>
                            <a:srgbClr val="5FAF8A"/>
                          </a:solidFill>
                        </a:rPr>
                        <a:t>✓ PASS</a:t>
                      </a:r>
                      <a:endParaRPr lang="en-US" sz="10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0EAFA"/>
                    </a:solidFill>
                  </a:tcPr>
                </a:tc>
              </a:tr>
              <a:tr h="271707">
                <a:tc>
                  <a:txBody>
                    <a:bodyPr/>
                    <a:lstStyle/>
                    <a:p>
                      <a:pPr marL="0" indent="0">
                        <a:buNone/>
                      </a:pPr>
                      <a:r>
                        <a:rPr lang="en-US" sz="1000" dirty="0">
                          <a:solidFill>
                            <a:srgbClr val="000000"/>
                          </a:solidFill>
                        </a:rPr>
                        <a:t>Zakat Audit</a:t>
                      </a:r>
                      <a:endParaRPr lang="en-US" sz="10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EF0E8"/>
                    </a:solidFill>
                  </a:tcPr>
                </a:tc>
                <a:tc>
                  <a:txBody>
                    <a:bodyPr/>
                    <a:lstStyle/>
                    <a:p>
                      <a:pPr marL="0" indent="0">
                        <a:buNone/>
                      </a:pPr>
                      <a:r>
                        <a:rPr lang="en-US" sz="1000" dirty="0">
                          <a:solidFill>
                            <a:srgbClr val="000000"/>
                          </a:solidFill>
                        </a:rPr>
                        <a:t>Violations Detected</a:t>
                      </a:r>
                      <a:endParaRPr lang="en-US" sz="10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EF0E8"/>
                    </a:solidFill>
                  </a:tcPr>
                </a:tc>
                <a:tc>
                  <a:txBody>
                    <a:bodyPr/>
                    <a:lstStyle/>
                    <a:p>
                      <a:pPr marL="0" indent="0">
                        <a:buNone/>
                      </a:pPr>
                      <a:r>
                        <a:rPr lang="en-US" sz="1100" b="1" dirty="0">
                          <a:solidFill>
                            <a:srgbClr val="E8855A"/>
                          </a:solidFill>
                        </a:rPr>
                        <a:t>42/44 = 95.5%</a:t>
                      </a:r>
                      <a:endParaRPr lang="en-US" sz="11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EF0E8"/>
                    </a:solidFill>
                  </a:tcPr>
                </a:tc>
                <a:tc>
                  <a:txBody>
                    <a:bodyPr/>
                    <a:lstStyle/>
                    <a:p>
                      <a:pPr marL="0" indent="0">
                        <a:buNone/>
                      </a:pPr>
                      <a:r>
                        <a:rPr lang="en-US" sz="1000" b="1" dirty="0">
                          <a:solidFill>
                            <a:srgbClr val="E8855A"/>
                          </a:solidFill>
                        </a:rPr>
                        <a:t>CORRECTED</a:t>
                      </a:r>
                      <a:endParaRPr lang="en-US" sz="10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EF0E8"/>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F5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7B5EA7"/>
          </a:solidFill>
          <a:ln w="12700">
            <a:solidFill>
              <a:srgbClr val="7B5EA7"/>
            </a:solidFill>
            <a:prstDash val="solid"/>
          </a:ln>
        </p:spPr>
      </p:sp>
      <p:sp>
        <p:nvSpPr>
          <p:cNvPr id="3" name="Shape 1"/>
          <p:cNvSpPr/>
          <p:nvPr/>
        </p:nvSpPr>
        <p:spPr>
          <a:xfrm>
            <a:off x="0" y="4892040"/>
            <a:ext cx="9144000" cy="251460"/>
          </a:xfrm>
          <a:prstGeom prst="rect">
            <a:avLst/>
          </a:prstGeom>
          <a:solidFill>
            <a:srgbClr val="A0395A"/>
          </a:solidFill>
          <a:ln w="12700">
            <a:solidFill>
              <a:srgbClr val="A0395A"/>
            </a:solidFill>
            <a:prstDash val="solid"/>
          </a:ln>
        </p:spPr>
      </p:sp>
      <p:sp>
        <p:nvSpPr>
          <p:cNvPr id="4" name="Text 2"/>
          <p:cNvSpPr/>
          <p:nvPr/>
        </p:nvSpPr>
        <p:spPr>
          <a:xfrm>
            <a:off x="274320" y="4892040"/>
            <a:ext cx="8595360" cy="251460"/>
          </a:xfrm>
          <a:prstGeom prst="rect">
            <a:avLst/>
          </a:prstGeom>
          <a:noFill/>
        </p:spPr>
        <p:txBody>
          <a:bodyPr wrap="square" lIns="0" tIns="0" rIns="0" bIns="0" rtlCol="0" anchor="ctr"/>
          <a:lstStyle/>
          <a:p>
            <a:pPr marL="0" indent="0" algn="ctr">
              <a:buNone/>
            </a:pPr>
            <a:r>
              <a:rPr lang="en-US" sz="850" dirty="0">
                <a:solidFill>
                  <a:srgbClr val="F2BBCC"/>
                </a:solidFill>
                <a:latin typeface="Calibri" panose="020F0502020204030204" pitchFamily="34" charset="0"/>
                <a:ea typeface="Calibri" panose="020F0502020204030204" pitchFamily="34" charset="-122"/>
                <a:cs typeface="Calibri" panose="020F0502020204030204" pitchFamily="34" charset="-120"/>
              </a:rPr>
              <a:t>KHCC AidConnect  ·  Graduation Project Defense  ·  Mallak Abu Sada &amp; Maya Abu Aslahamat  ·  2025/2026</a:t>
            </a:r>
            <a:endParaRPr lang="en-US" sz="850" dirty="0"/>
          </a:p>
        </p:txBody>
      </p:sp>
      <p:sp>
        <p:nvSpPr>
          <p:cNvPr id="5" name="Shape 3"/>
          <p:cNvSpPr/>
          <p:nvPr/>
        </p:nvSpPr>
        <p:spPr>
          <a:xfrm>
            <a:off x="7992618" y="96647"/>
            <a:ext cx="1005840" cy="274320"/>
          </a:xfrm>
          <a:prstGeom prst="roundRect">
            <a:avLst>
              <a:gd name="adj" fmla="val 20000"/>
            </a:avLst>
          </a:prstGeom>
          <a:solidFill>
            <a:srgbClr val="E8855A"/>
          </a:solidFill>
          <a:ln w="12700">
            <a:solidFill>
              <a:srgbClr val="E8855A"/>
            </a:solidFill>
            <a:prstDash val="solid"/>
          </a:ln>
        </p:spPr>
      </p:sp>
      <p:sp>
        <p:nvSpPr>
          <p:cNvPr id="6" name="Text 4"/>
          <p:cNvSpPr/>
          <p:nvPr/>
        </p:nvSpPr>
        <p:spPr>
          <a:xfrm>
            <a:off x="8012938" y="96647"/>
            <a:ext cx="1005840" cy="274320"/>
          </a:xfrm>
          <a:prstGeom prst="rect">
            <a:avLst/>
          </a:prstGeom>
          <a:noFill/>
        </p:spPr>
        <p:txBody>
          <a:bodyPr wrap="square" lIns="0" tIns="0" rIns="0" bIns="0" rtlCol="0" anchor="ctr"/>
          <a:lstStyle/>
          <a:p>
            <a:pPr marL="0" indent="0" algn="ctr">
              <a:buNone/>
            </a:pPr>
            <a:r>
              <a:rPr lang="en-US" sz="850" b="1" kern="0" spc="50" dirty="0">
                <a:solidFill>
                  <a:srgbClr val="FFFFFF"/>
                </a:solidFill>
              </a:rPr>
              <a:t>SLIDE 16 / 20</a:t>
            </a:r>
            <a:endParaRPr lang="en-US" sz="850" dirty="0"/>
          </a:p>
        </p:txBody>
      </p:sp>
      <p:sp>
        <p:nvSpPr>
          <p:cNvPr id="7" name="Text 5"/>
          <p:cNvSpPr/>
          <p:nvPr/>
        </p:nvSpPr>
        <p:spPr>
          <a:xfrm>
            <a:off x="411480" y="164592"/>
            <a:ext cx="7772400" cy="594360"/>
          </a:xfrm>
          <a:prstGeom prst="rect">
            <a:avLst/>
          </a:prstGeom>
          <a:noFill/>
        </p:spPr>
        <p:txBody>
          <a:bodyPr wrap="square" lIns="0" tIns="0" rIns="0" bIns="0" rtlCol="0" anchor="ctr"/>
          <a:lstStyle/>
          <a:p>
            <a:pPr marL="0" indent="0" algn="l">
              <a:buNone/>
            </a:pPr>
            <a:r>
              <a:rPr lang="en-US" sz="2400" b="1" dirty="0">
                <a:solidFill>
                  <a:srgbClr val="FFFFFF"/>
                </a:solidFill>
                <a:latin typeface="Georgia" panose="02040502050405020303" pitchFamily="34" charset="0"/>
                <a:ea typeface="Georgia" panose="02040502050405020303" pitchFamily="34" charset="-122"/>
                <a:cs typeface="Georgia" panose="02040502050405020303" pitchFamily="34" charset="-120"/>
              </a:rPr>
              <a:t>Evaluation — Confusion Matrix &amp; Visualisations</a:t>
            </a:r>
            <a:endParaRPr lang="en-US" sz="2400" dirty="0"/>
          </a:p>
        </p:txBody>
      </p:sp>
      <p:sp>
        <p:nvSpPr>
          <p:cNvPr id="8" name="Text 6"/>
          <p:cNvSpPr/>
          <p:nvPr/>
        </p:nvSpPr>
        <p:spPr>
          <a:xfrm>
            <a:off x="320040" y="1078992"/>
            <a:ext cx="4800600" cy="292608"/>
          </a:xfrm>
          <a:prstGeom prst="rect">
            <a:avLst/>
          </a:prstGeom>
          <a:noFill/>
        </p:spPr>
        <p:txBody>
          <a:bodyPr wrap="square" lIns="0" tIns="0" rIns="0" bIns="0" rtlCol="0" anchor="ctr"/>
          <a:lstStyle/>
          <a:p>
            <a:pPr marL="0" indent="0" algn="l">
              <a:buNone/>
            </a:pPr>
            <a:r>
              <a:rPr lang="en-US" sz="1150" b="1" dirty="0">
                <a:solidFill>
                  <a:srgbClr val="4A3575"/>
                </a:solidFill>
              </a:rPr>
              <a:t>Retrieval Confusion Matrix — 50 queries × 4 results = 200 total retrieved</a:t>
            </a:r>
            <a:endParaRPr lang="en-US" sz="1150" dirty="0"/>
          </a:p>
        </p:txBody>
      </p:sp>
      <p:graphicFrame>
        <p:nvGraphicFramePr>
          <p:cNvPr id="17" name="Table 0"/>
          <p:cNvGraphicFramePr>
            <a:graphicFrameLocks noGrp="1"/>
          </p:cNvGraphicFramePr>
          <p:nvPr/>
        </p:nvGraphicFramePr>
        <p:xfrm>
          <a:off x="320040" y="1417320"/>
          <a:ext cx="4754880" cy="2450592"/>
        </p:xfrm>
        <a:graphic>
          <a:graphicData uri="http://schemas.openxmlformats.org/drawingml/2006/table">
            <a:tbl>
              <a:tblPr/>
              <a:tblGrid>
                <a:gridCol w="1371600"/>
                <a:gridCol w="1691640"/>
                <a:gridCol w="1691640"/>
              </a:tblGrid>
              <a:tr h="816864">
                <a:tc>
                  <a:txBody>
                    <a:bodyPr/>
                    <a:lstStyle/>
                    <a:p>
                      <a:pPr marL="0" indent="0">
                        <a:buNone/>
                      </a:pPr>
                      <a:endParaRPr lang="en-US" sz="12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0EAFA"/>
                    </a:solidFill>
                  </a:tcPr>
                </a:tc>
                <a:tc>
                  <a:txBody>
                    <a:bodyPr/>
                    <a:lstStyle/>
                    <a:p>
                      <a:pPr marL="0" indent="0" algn="ctr">
                        <a:buNone/>
                      </a:pPr>
                      <a:r>
                        <a:rPr lang="en-US" sz="1100" b="1" dirty="0">
                          <a:solidFill>
                            <a:srgbClr val="FFFFFF"/>
                          </a:solidFill>
                        </a:rPr>
                        <a:t>Predicted</a:t>
                      </a:r>
                      <a:endParaRPr lang="en-US" sz="1100" dirty="0"/>
                    </a:p>
                    <a:p>
                      <a:pPr marL="0" indent="0" algn="ctr">
                        <a:buNone/>
                      </a:pPr>
                      <a:r>
                        <a:rPr lang="en-US" sz="1100" b="1" dirty="0">
                          <a:solidFill>
                            <a:srgbClr val="FFFFFF"/>
                          </a:solidFill>
                        </a:rPr>
                        <a:t>Relevant</a:t>
                      </a:r>
                      <a:endParaRPr lang="en-US" sz="11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7B5EA7"/>
                    </a:solidFill>
                  </a:tcPr>
                </a:tc>
                <a:tc>
                  <a:txBody>
                    <a:bodyPr/>
                    <a:lstStyle/>
                    <a:p>
                      <a:pPr marL="0" indent="0" algn="ctr">
                        <a:buNone/>
                      </a:pPr>
                      <a:r>
                        <a:rPr lang="en-US" sz="1100" b="1" dirty="0">
                          <a:solidFill>
                            <a:srgbClr val="FFFFFF"/>
                          </a:solidFill>
                        </a:rPr>
                        <a:t>Predicted</a:t>
                      </a:r>
                      <a:endParaRPr lang="en-US" sz="1100" dirty="0"/>
                    </a:p>
                    <a:p>
                      <a:pPr marL="0" indent="0" algn="ctr">
                        <a:buNone/>
                      </a:pPr>
                      <a:r>
                        <a:rPr lang="en-US" sz="1100" b="1" dirty="0">
                          <a:solidFill>
                            <a:srgbClr val="FFFFFF"/>
                          </a:solidFill>
                        </a:rPr>
                        <a:t>Not Relevant</a:t>
                      </a:r>
                      <a:endParaRPr lang="en-US" sz="11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7B5EA7"/>
                    </a:solidFill>
                  </a:tcPr>
                </a:tc>
              </a:tr>
              <a:tr h="816864">
                <a:tc>
                  <a:txBody>
                    <a:bodyPr/>
                    <a:lstStyle/>
                    <a:p>
                      <a:pPr marL="0" indent="0">
                        <a:buNone/>
                      </a:pPr>
                      <a:r>
                        <a:rPr lang="en-US" sz="1100" b="1" dirty="0">
                          <a:solidFill>
                            <a:srgbClr val="FFFFFF"/>
                          </a:solidFill>
                        </a:rPr>
                        <a:t>Actually</a:t>
                      </a:r>
                      <a:endParaRPr lang="en-US" sz="1100" dirty="0"/>
                    </a:p>
                    <a:p>
                      <a:pPr marL="0" indent="0">
                        <a:buNone/>
                      </a:pPr>
                      <a:r>
                        <a:rPr lang="en-US" sz="1100" b="1" dirty="0">
                          <a:solidFill>
                            <a:srgbClr val="FFFFFF"/>
                          </a:solidFill>
                        </a:rPr>
                        <a:t>Relevant</a:t>
                      </a:r>
                      <a:endParaRPr lang="en-US" sz="11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7B5EA7"/>
                    </a:solidFill>
                  </a:tcPr>
                </a:tc>
                <a:tc>
                  <a:txBody>
                    <a:bodyPr/>
                    <a:lstStyle/>
                    <a:p>
                      <a:pPr marL="0" indent="0" algn="ctr">
                        <a:buNone/>
                      </a:pPr>
                      <a:r>
                        <a:rPr lang="en-US" sz="2200" b="1" dirty="0">
                          <a:solidFill>
                            <a:srgbClr val="5FAF8A"/>
                          </a:solidFill>
                        </a:rPr>
                        <a:t>TP = 200</a:t>
                      </a:r>
                      <a:endParaRPr lang="en-US" sz="22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E8F8F0"/>
                    </a:solidFill>
                  </a:tcPr>
                </a:tc>
                <a:tc>
                  <a:txBody>
                    <a:bodyPr/>
                    <a:lstStyle/>
                    <a:p>
                      <a:pPr marL="0" indent="0" algn="ctr">
                        <a:buNone/>
                      </a:pPr>
                      <a:r>
                        <a:rPr lang="en-US" sz="1800" dirty="0">
                          <a:solidFill>
                            <a:srgbClr val="9A7A90"/>
                          </a:solidFill>
                        </a:rPr>
                        <a:t>FN = 0</a:t>
                      </a:r>
                      <a:endParaRPr lang="en-US" sz="18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DF8FA"/>
                    </a:solidFill>
                  </a:tcPr>
                </a:tc>
              </a:tr>
              <a:tr h="816864">
                <a:tc>
                  <a:txBody>
                    <a:bodyPr/>
                    <a:lstStyle/>
                    <a:p>
                      <a:pPr marL="0" indent="0">
                        <a:buNone/>
                      </a:pPr>
                      <a:r>
                        <a:rPr lang="en-US" sz="1100" b="1" dirty="0">
                          <a:solidFill>
                            <a:srgbClr val="FFFFFF"/>
                          </a:solidFill>
                        </a:rPr>
                        <a:t>Actually</a:t>
                      </a:r>
                      <a:endParaRPr lang="en-US" sz="1100" dirty="0"/>
                    </a:p>
                    <a:p>
                      <a:pPr marL="0" indent="0">
                        <a:buNone/>
                      </a:pPr>
                      <a:r>
                        <a:rPr lang="en-US" sz="1100" b="1" dirty="0">
                          <a:solidFill>
                            <a:srgbClr val="FFFFFF"/>
                          </a:solidFill>
                        </a:rPr>
                        <a:t>Not Relevant</a:t>
                      </a:r>
                      <a:endParaRPr lang="en-US" sz="11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7B5EA7"/>
                    </a:solidFill>
                  </a:tcPr>
                </a:tc>
                <a:tc>
                  <a:txBody>
                    <a:bodyPr/>
                    <a:lstStyle/>
                    <a:p>
                      <a:pPr marL="0" indent="0" algn="ctr">
                        <a:buNone/>
                      </a:pPr>
                      <a:r>
                        <a:rPr lang="en-US" sz="1800" dirty="0">
                          <a:solidFill>
                            <a:srgbClr val="9A7A90"/>
                          </a:solidFill>
                        </a:rPr>
                        <a:t>FP = 0</a:t>
                      </a:r>
                      <a:endParaRPr lang="en-US" sz="18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DF8FA"/>
                    </a:solidFill>
                  </a:tcPr>
                </a:tc>
                <a:tc>
                  <a:txBody>
                    <a:bodyPr/>
                    <a:lstStyle/>
                    <a:p>
                      <a:pPr marL="0" indent="0" algn="ctr">
                        <a:buNone/>
                      </a:pPr>
                      <a:r>
                        <a:rPr lang="en-US" sz="1400" dirty="0">
                          <a:solidFill>
                            <a:srgbClr val="9A7A90"/>
                          </a:solidFill>
                        </a:rPr>
                        <a:t>TN = N/A</a:t>
                      </a:r>
                      <a:endParaRPr lang="en-US" sz="1400" dirty="0"/>
                    </a:p>
                  </a:txBody>
                  <a:tcPr>
                    <a:lnL w="12700" cap="flat" cmpd="sng" algn="ctr">
                      <a:solidFill>
                        <a:srgbClr val="EDE0E8"/>
                      </a:solidFill>
                      <a:prstDash val="solid"/>
                      <a:round/>
                      <a:headEnd type="none" w="med" len="med"/>
                      <a:tailEnd type="none" w="med" len="med"/>
                    </a:lnL>
                    <a:lnR w="12700" cap="flat" cmpd="sng" algn="ctr">
                      <a:solidFill>
                        <a:srgbClr val="EDE0E8"/>
                      </a:solidFill>
                      <a:prstDash val="solid"/>
                      <a:round/>
                      <a:headEnd type="none" w="med" len="med"/>
                      <a:tailEnd type="none" w="med" len="med"/>
                    </a:lnR>
                    <a:lnT w="12700" cap="flat" cmpd="sng" algn="ctr">
                      <a:solidFill>
                        <a:srgbClr val="EDE0E8"/>
                      </a:solidFill>
                      <a:prstDash val="solid"/>
                      <a:round/>
                      <a:headEnd type="none" w="med" len="med"/>
                      <a:tailEnd type="none" w="med" len="med"/>
                    </a:lnT>
                    <a:lnB w="12700" cap="flat" cmpd="sng" algn="ctr">
                      <a:solidFill>
                        <a:srgbClr val="EDE0E8"/>
                      </a:solidFill>
                      <a:prstDash val="solid"/>
                      <a:round/>
                      <a:headEnd type="none" w="med" len="med"/>
                      <a:tailEnd type="none" w="med" len="med"/>
                    </a:lnB>
                    <a:solidFill>
                      <a:srgbClr val="FDF8FA"/>
                    </a:solidFill>
                  </a:tcPr>
                </a:tc>
              </a:tr>
            </a:tbl>
          </a:graphicData>
        </a:graphic>
      </p:graphicFrame>
      <p:sp>
        <p:nvSpPr>
          <p:cNvPr id="10" name="Text 7"/>
          <p:cNvSpPr/>
          <p:nvPr/>
        </p:nvSpPr>
        <p:spPr>
          <a:xfrm>
            <a:off x="320040" y="3931920"/>
            <a:ext cx="4754880" cy="256032"/>
          </a:xfrm>
          <a:prstGeom prst="rect">
            <a:avLst/>
          </a:prstGeom>
          <a:noFill/>
        </p:spPr>
        <p:txBody>
          <a:bodyPr wrap="square" lIns="0" tIns="0" rIns="0" bIns="0" rtlCol="0" anchor="ctr"/>
          <a:lstStyle/>
          <a:p>
            <a:pPr marL="0" indent="0" algn="l">
              <a:buNone/>
            </a:pPr>
            <a:r>
              <a:rPr lang="en-US" sz="1100" b="1" dirty="0">
                <a:solidFill>
                  <a:srgbClr val="A0395A"/>
                </a:solidFill>
              </a:rPr>
              <a:t>What TP=200, FP=0, FN=0 means:</a:t>
            </a:r>
            <a:endParaRPr lang="en-US" sz="1100" dirty="0"/>
          </a:p>
        </p:txBody>
      </p:sp>
      <p:sp>
        <p:nvSpPr>
          <p:cNvPr id="11" name="Text 8"/>
          <p:cNvSpPr/>
          <p:nvPr/>
        </p:nvSpPr>
        <p:spPr>
          <a:xfrm>
            <a:off x="320040" y="4206240"/>
            <a:ext cx="4754880" cy="594360"/>
          </a:xfrm>
          <a:prstGeom prst="rect">
            <a:avLst/>
          </a:prstGeom>
          <a:noFill/>
        </p:spPr>
        <p:txBody>
          <a:bodyPr wrap="square" lIns="0" tIns="0" rIns="0" bIns="0" rtlCol="0" anchor="ctr"/>
          <a:lstStyle/>
          <a:p>
            <a:pPr marL="0" indent="0" algn="l">
              <a:buNone/>
            </a:pPr>
            <a:r>
              <a:rPr lang="en-US" sz="1050" dirty="0">
                <a:solidFill>
                  <a:srgbClr val="5A4058"/>
                </a:solidFill>
                <a:latin typeface="Calibri" panose="020F0502020204030204" pitchFamily="34" charset="0"/>
                <a:ea typeface="Calibri" panose="020F0502020204030204" pitchFamily="34" charset="-122"/>
                <a:cs typeface="Calibri" panose="020F0502020204030204" pitchFamily="34" charset="-120"/>
              </a:rPr>
              <a:t>Every one of the 200 retrieved patients was clinically relevant. No irrelevant patient was ever returned. No relevant patient was ever missed.</a:t>
            </a:r>
            <a:endParaRPr lang="en-US" sz="1050" dirty="0"/>
          </a:p>
        </p:txBody>
      </p:sp>
      <p:sp>
        <p:nvSpPr>
          <p:cNvPr id="12" name="Text 9"/>
          <p:cNvSpPr/>
          <p:nvPr/>
        </p:nvSpPr>
        <p:spPr>
          <a:xfrm>
            <a:off x="5212080" y="1078992"/>
            <a:ext cx="3611880" cy="292608"/>
          </a:xfrm>
          <a:prstGeom prst="rect">
            <a:avLst/>
          </a:prstGeom>
          <a:noFill/>
        </p:spPr>
        <p:txBody>
          <a:bodyPr wrap="square" lIns="0" tIns="0" rIns="0" bIns="0" rtlCol="0" anchor="ctr"/>
          <a:lstStyle/>
          <a:p>
            <a:pPr marL="0" indent="0" algn="l">
              <a:buNone/>
            </a:pPr>
            <a:r>
              <a:rPr lang="en-US" sz="1200" b="1" dirty="0">
                <a:solidFill>
                  <a:srgbClr val="4A3575"/>
                </a:solidFill>
              </a:rPr>
              <a:t>Precision@4 by Stage Group</a:t>
            </a:r>
            <a:endParaRPr lang="en-US" sz="1200" dirty="0"/>
          </a:p>
        </p:txBody>
      </p:sp>
      <p:graphicFrame>
        <p:nvGraphicFramePr>
          <p:cNvPr id="13" name="Chart 0"/>
          <p:cNvGraphicFramePr/>
          <p:nvPr/>
        </p:nvGraphicFramePr>
        <p:xfrm>
          <a:off x="5212080" y="1417320"/>
          <a:ext cx="3611880" cy="2450592"/>
        </p:xfrm>
        <a:graphic>
          <a:graphicData uri="http://schemas.openxmlformats.org/drawingml/2006/chart">
            <c:chart xmlns:c="http://schemas.openxmlformats.org/drawingml/2006/chart" xmlns:r="http://schemas.openxmlformats.org/officeDocument/2006/relationships" r:id="rId1"/>
          </a:graphicData>
        </a:graphic>
      </p:graphicFrame>
      <p:sp>
        <p:nvSpPr>
          <p:cNvPr id="14" name="Shape 10"/>
          <p:cNvSpPr/>
          <p:nvPr/>
        </p:nvSpPr>
        <p:spPr>
          <a:xfrm>
            <a:off x="5212080" y="3931920"/>
            <a:ext cx="3611880" cy="841248"/>
          </a:xfrm>
          <a:prstGeom prst="rect">
            <a:avLst/>
          </a:prstGeom>
          <a:solidFill>
            <a:srgbClr val="E8F8F0"/>
          </a:solidFill>
          <a:ln w="12700">
            <a:solidFill>
              <a:srgbClr val="5FAF8A"/>
            </a:solidFill>
            <a:prstDash val="solid"/>
          </a:ln>
        </p:spPr>
      </p:sp>
      <p:sp>
        <p:nvSpPr>
          <p:cNvPr id="15" name="Text 11"/>
          <p:cNvSpPr/>
          <p:nvPr/>
        </p:nvSpPr>
        <p:spPr>
          <a:xfrm>
            <a:off x="5321808" y="3968496"/>
            <a:ext cx="3401568" cy="731520"/>
          </a:xfrm>
          <a:prstGeom prst="rect">
            <a:avLst/>
          </a:prstGeom>
          <a:noFill/>
        </p:spPr>
        <p:txBody>
          <a:bodyPr wrap="square" lIns="0" tIns="0" rIns="0" bIns="0" rtlCol="0" anchor="ctr"/>
          <a:lstStyle/>
          <a:p>
            <a:pPr marL="0" indent="0" algn="l">
              <a:buNone/>
            </a:pPr>
            <a:r>
              <a:rPr lang="en-US" sz="1050" dirty="0">
                <a:solidFill>
                  <a:srgbClr val="2E7A58"/>
                </a:solidFill>
                <a:latin typeface="Calibri" panose="020F0502020204030204" pitchFamily="34" charset="0"/>
                <a:ea typeface="Calibri" panose="020F0502020204030204" pitchFamily="34" charset="-122"/>
                <a:cs typeface="Calibri" panose="020F0502020204030204" pitchFamily="34" charset="-120"/>
              </a:rPr>
              <a:t>Target: Precision@4 ≥ 0.75</a:t>
            </a:r>
            <a:endParaRPr lang="en-US" sz="1050" dirty="0"/>
          </a:p>
          <a:p>
            <a:pPr marL="0" indent="0" algn="l">
              <a:buNone/>
            </a:pPr>
            <a:r>
              <a:rPr lang="en-US" sz="1050" dirty="0">
                <a:solidFill>
                  <a:srgbClr val="2E7A58"/>
                </a:solidFill>
                <a:latin typeface="Calibri" panose="020F0502020204030204" pitchFamily="34" charset="0"/>
                <a:ea typeface="Calibri" panose="020F0502020204030204" pitchFamily="34" charset="-122"/>
                <a:cs typeface="Calibri" panose="020F0502020204030204" pitchFamily="34" charset="-120"/>
              </a:rPr>
              <a:t>Achieved: 1.00 across ALL stage groups</a:t>
            </a:r>
            <a:endParaRPr lang="en-US" sz="1050" dirty="0"/>
          </a:p>
          <a:p>
            <a:pPr marL="0" indent="0" algn="l">
              <a:buNone/>
            </a:pPr>
            <a:r>
              <a:rPr lang="en-US" sz="1050" dirty="0">
                <a:solidFill>
                  <a:srgbClr val="2E7A58"/>
                </a:solidFill>
                <a:latin typeface="Calibri" panose="020F0502020204030204" pitchFamily="34" charset="0"/>
                <a:ea typeface="Calibri" panose="020F0502020204030204" pitchFamily="34" charset="-122"/>
                <a:cs typeface="Calibri" panose="020F0502020204030204" pitchFamily="34" charset="-120"/>
              </a:rPr>
              <a:t>Margin above target: +0.25 (33% above requirement)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A1A35"/>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A0395A"/>
          </a:solidFill>
          <a:ln w="12700">
            <a:solidFill>
              <a:srgbClr val="A0395A"/>
            </a:solidFill>
            <a:prstDash val="solid"/>
          </a:ln>
        </p:spPr>
      </p:sp>
      <p:sp>
        <p:nvSpPr>
          <p:cNvPr id="3" name="Text 1"/>
          <p:cNvSpPr/>
          <p:nvPr/>
        </p:nvSpPr>
        <p:spPr>
          <a:xfrm>
            <a:off x="274320" y="4892040"/>
            <a:ext cx="8595360" cy="251460"/>
          </a:xfrm>
          <a:prstGeom prst="rect">
            <a:avLst/>
          </a:prstGeom>
          <a:noFill/>
        </p:spPr>
        <p:txBody>
          <a:bodyPr wrap="square" lIns="0" tIns="0" rIns="0" bIns="0" rtlCol="0" anchor="ctr"/>
          <a:lstStyle/>
          <a:p>
            <a:pPr marL="0" indent="0" algn="ctr">
              <a:buNone/>
            </a:pPr>
            <a:r>
              <a:rPr lang="en-US" sz="850" dirty="0">
                <a:solidFill>
                  <a:srgbClr val="F2BBCC"/>
                </a:solidFill>
                <a:latin typeface="Calibri" panose="020F0502020204030204" pitchFamily="34" charset="0"/>
                <a:ea typeface="Calibri" panose="020F0502020204030204" pitchFamily="34" charset="-122"/>
                <a:cs typeface="Calibri" panose="020F0502020204030204" pitchFamily="34" charset="-120"/>
              </a:rPr>
              <a:t>KHCC AidConnect  ·  Graduation Project Defense  ·  Mallak Abu Sada &amp; Maya Abu Aslahamat  ·  2025/2026</a:t>
            </a:r>
            <a:endParaRPr lang="en-US" sz="850" dirty="0"/>
          </a:p>
        </p:txBody>
      </p:sp>
      <p:sp>
        <p:nvSpPr>
          <p:cNvPr id="4" name="Shape 2"/>
          <p:cNvSpPr/>
          <p:nvPr/>
        </p:nvSpPr>
        <p:spPr>
          <a:xfrm>
            <a:off x="7790688" y="256032"/>
            <a:ext cx="1005840" cy="274320"/>
          </a:xfrm>
          <a:prstGeom prst="roundRect">
            <a:avLst>
              <a:gd name="adj" fmla="val 20000"/>
            </a:avLst>
          </a:prstGeom>
          <a:solidFill>
            <a:srgbClr val="E8855A"/>
          </a:solidFill>
          <a:ln w="12700">
            <a:solidFill>
              <a:srgbClr val="E8855A"/>
            </a:solidFill>
            <a:prstDash val="solid"/>
          </a:ln>
        </p:spPr>
      </p:sp>
      <p:sp>
        <p:nvSpPr>
          <p:cNvPr id="5" name="Text 3"/>
          <p:cNvSpPr/>
          <p:nvPr/>
        </p:nvSpPr>
        <p:spPr>
          <a:xfrm>
            <a:off x="7790688" y="256032"/>
            <a:ext cx="1005840" cy="274320"/>
          </a:xfrm>
          <a:prstGeom prst="rect">
            <a:avLst/>
          </a:prstGeom>
          <a:noFill/>
        </p:spPr>
        <p:txBody>
          <a:bodyPr wrap="square" lIns="0" tIns="0" rIns="0" bIns="0" rtlCol="0" anchor="ctr"/>
          <a:lstStyle/>
          <a:p>
            <a:pPr marL="0" indent="0" algn="ctr">
              <a:buNone/>
            </a:pPr>
            <a:r>
              <a:rPr lang="en-US" sz="850" b="1" kern="0" spc="50" dirty="0">
                <a:solidFill>
                  <a:srgbClr val="FFFFFF"/>
                </a:solidFill>
              </a:rPr>
              <a:t>SLIDE 17 / 20</a:t>
            </a:r>
            <a:endParaRPr lang="en-US" sz="850" dirty="0"/>
          </a:p>
        </p:txBody>
      </p:sp>
      <p:sp>
        <p:nvSpPr>
          <p:cNvPr id="6" name="Shape 4"/>
          <p:cNvSpPr/>
          <p:nvPr/>
        </p:nvSpPr>
        <p:spPr>
          <a:xfrm>
            <a:off x="0" y="0"/>
            <a:ext cx="9144000" cy="54864"/>
          </a:xfrm>
          <a:prstGeom prst="rect">
            <a:avLst/>
          </a:prstGeom>
          <a:solidFill>
            <a:srgbClr val="A0C8E8"/>
          </a:solidFill>
          <a:ln w="12700">
            <a:solidFill>
              <a:srgbClr val="A0C8E8"/>
            </a:solidFill>
            <a:prstDash val="solid"/>
          </a:ln>
        </p:spPr>
      </p:sp>
      <p:sp>
        <p:nvSpPr>
          <p:cNvPr id="7" name="Text 5"/>
          <p:cNvSpPr/>
          <p:nvPr/>
        </p:nvSpPr>
        <p:spPr>
          <a:xfrm>
            <a:off x="411480" y="164592"/>
            <a:ext cx="7772400" cy="594360"/>
          </a:xfrm>
          <a:prstGeom prst="rect">
            <a:avLst/>
          </a:prstGeom>
          <a:noFill/>
        </p:spPr>
        <p:txBody>
          <a:bodyPr wrap="square" lIns="0" tIns="0" rIns="0" bIns="0" rtlCol="0" anchor="ctr"/>
          <a:lstStyle/>
          <a:p>
            <a:pPr marL="0" indent="0" algn="l">
              <a:buNone/>
            </a:pPr>
            <a:r>
              <a:rPr lang="en-US" sz="2800" b="1" dirty="0">
                <a:solidFill>
                  <a:srgbClr val="FFFFFF"/>
                </a:solidFill>
                <a:latin typeface="Georgia" panose="02040502050405020303" pitchFamily="34" charset="0"/>
                <a:ea typeface="Georgia" panose="02040502050405020303" pitchFamily="34" charset="-122"/>
                <a:cs typeface="Georgia" panose="02040502050405020303" pitchFamily="34" charset="-120"/>
              </a:rPr>
              <a:t>Did We Achieve Our Objectives?</a:t>
            </a:r>
            <a:endParaRPr lang="en-US" sz="2800" dirty="0"/>
          </a:p>
        </p:txBody>
      </p:sp>
      <p:sp>
        <p:nvSpPr>
          <p:cNvPr id="8" name="Shape 6"/>
          <p:cNvSpPr/>
          <p:nvPr/>
        </p:nvSpPr>
        <p:spPr>
          <a:xfrm>
            <a:off x="320040" y="960120"/>
            <a:ext cx="8503920" cy="420624"/>
          </a:xfrm>
          <a:prstGeom prst="rect">
            <a:avLst/>
          </a:prstGeom>
          <a:solidFill>
            <a:srgbClr val="FFFFFF">
              <a:alpha val="10000"/>
            </a:srgbClr>
          </a:solidFill>
          <a:ln w="12700">
            <a:solidFill>
              <a:srgbClr val="E8A0BF"/>
            </a:solidFill>
            <a:prstDash val="solid"/>
          </a:ln>
        </p:spPr>
      </p:sp>
      <p:sp>
        <p:nvSpPr>
          <p:cNvPr id="9" name="Shape 7"/>
          <p:cNvSpPr/>
          <p:nvPr/>
        </p:nvSpPr>
        <p:spPr>
          <a:xfrm>
            <a:off x="384048" y="1033272"/>
            <a:ext cx="502920" cy="274320"/>
          </a:xfrm>
          <a:prstGeom prst="roundRect">
            <a:avLst>
              <a:gd name="adj" fmla="val 20000"/>
            </a:avLst>
          </a:prstGeom>
          <a:solidFill>
            <a:srgbClr val="E8A0BF">
              <a:alpha val="80000"/>
            </a:srgbClr>
          </a:solidFill>
          <a:ln w="12700">
            <a:solidFill>
              <a:srgbClr val="E8A0BF"/>
            </a:solidFill>
            <a:prstDash val="solid"/>
          </a:ln>
        </p:spPr>
      </p:sp>
      <p:sp>
        <p:nvSpPr>
          <p:cNvPr id="10" name="Text 8"/>
          <p:cNvSpPr/>
          <p:nvPr/>
        </p:nvSpPr>
        <p:spPr>
          <a:xfrm>
            <a:off x="384048" y="1033272"/>
            <a:ext cx="502920" cy="274320"/>
          </a:xfrm>
          <a:prstGeom prst="rect">
            <a:avLst/>
          </a:prstGeom>
          <a:noFill/>
        </p:spPr>
        <p:txBody>
          <a:bodyPr wrap="square" lIns="0" tIns="0" rIns="0" bIns="0" rtlCol="0" anchor="ctr"/>
          <a:lstStyle/>
          <a:p>
            <a:pPr marL="0" indent="0" algn="ctr">
              <a:buNone/>
            </a:pPr>
            <a:r>
              <a:rPr lang="en-US" sz="1000" b="1" dirty="0">
                <a:solidFill>
                  <a:srgbClr val="FFFFFF"/>
                </a:solidFill>
              </a:rPr>
              <a:t>O1</a:t>
            </a:r>
            <a:endParaRPr lang="en-US" sz="1000" dirty="0"/>
          </a:p>
        </p:txBody>
      </p:sp>
      <p:sp>
        <p:nvSpPr>
          <p:cNvPr id="11" name="Text 9"/>
          <p:cNvSpPr/>
          <p:nvPr/>
        </p:nvSpPr>
        <p:spPr>
          <a:xfrm>
            <a:off x="969264" y="1014984"/>
            <a:ext cx="1783080" cy="292608"/>
          </a:xfrm>
          <a:prstGeom prst="rect">
            <a:avLst/>
          </a:prstGeom>
          <a:noFill/>
        </p:spPr>
        <p:txBody>
          <a:bodyPr wrap="square" lIns="0" tIns="0" rIns="0" bIns="0" rtlCol="0" anchor="ctr"/>
          <a:lstStyle/>
          <a:p>
            <a:pPr marL="0" indent="0" algn="l">
              <a:buNone/>
            </a:pPr>
            <a:r>
              <a:rPr lang="en-US" sz="1100" b="1" dirty="0">
                <a:solidFill>
                  <a:srgbClr val="FFFFFF"/>
                </a:solidFill>
              </a:rPr>
              <a:t>Need Score Formula</a:t>
            </a:r>
            <a:endParaRPr lang="en-US" sz="1100" dirty="0"/>
          </a:p>
        </p:txBody>
      </p:sp>
      <p:sp>
        <p:nvSpPr>
          <p:cNvPr id="12" name="Text 10"/>
          <p:cNvSpPr/>
          <p:nvPr/>
        </p:nvSpPr>
        <p:spPr>
          <a:xfrm>
            <a:off x="2816352" y="1014984"/>
            <a:ext cx="5138928" cy="292608"/>
          </a:xfrm>
          <a:prstGeom prst="rect">
            <a:avLst/>
          </a:prstGeom>
          <a:noFill/>
        </p:spPr>
        <p:txBody>
          <a:bodyPr wrap="square" lIns="0" tIns="0" rIns="0" bIns="0" rtlCol="0" anchor="ctr"/>
          <a:lstStyle/>
          <a:p>
            <a:pPr marL="0" indent="0" algn="l">
              <a:buNone/>
            </a:pPr>
            <a:r>
              <a:rPr lang="en-US" sz="1000" dirty="0">
                <a:solidFill>
                  <a:srgbClr val="F2BBCC"/>
                </a:solidFill>
                <a:latin typeface="Calibri" panose="020F0502020204030204" pitchFamily="34" charset="0"/>
                <a:ea typeface="Calibri" panose="020F0502020204030204" pitchFamily="34" charset="-122"/>
                <a:cs typeface="Calibri" panose="020F0502020204030204" pitchFamily="34" charset="-120"/>
              </a:rPr>
              <a:t>Validated — T-test p&lt;0.0001, Pearson r=−0.69, Chi-square p=0.77. All 3 PASS.</a:t>
            </a:r>
            <a:endParaRPr lang="en-US" sz="1000" dirty="0"/>
          </a:p>
        </p:txBody>
      </p:sp>
      <p:sp>
        <p:nvSpPr>
          <p:cNvPr id="13" name="Shape 11"/>
          <p:cNvSpPr/>
          <p:nvPr/>
        </p:nvSpPr>
        <p:spPr>
          <a:xfrm>
            <a:off x="8065008" y="1033272"/>
            <a:ext cx="658368" cy="274320"/>
          </a:xfrm>
          <a:prstGeom prst="roundRect">
            <a:avLst>
              <a:gd name="adj" fmla="val 20000"/>
            </a:avLst>
          </a:prstGeom>
          <a:solidFill>
            <a:srgbClr val="E8A0BF"/>
          </a:solidFill>
          <a:ln w="12700">
            <a:solidFill>
              <a:srgbClr val="E8A0BF"/>
            </a:solidFill>
            <a:prstDash val="solid"/>
          </a:ln>
        </p:spPr>
      </p:sp>
      <p:sp>
        <p:nvSpPr>
          <p:cNvPr id="14" name="Text 12"/>
          <p:cNvSpPr/>
          <p:nvPr/>
        </p:nvSpPr>
        <p:spPr>
          <a:xfrm>
            <a:off x="8065008" y="1033272"/>
            <a:ext cx="658368" cy="274320"/>
          </a:xfrm>
          <a:prstGeom prst="rect">
            <a:avLst/>
          </a:prstGeom>
          <a:noFill/>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15" name="Shape 13"/>
          <p:cNvSpPr/>
          <p:nvPr/>
        </p:nvSpPr>
        <p:spPr>
          <a:xfrm>
            <a:off x="320040" y="1453896"/>
            <a:ext cx="8503920" cy="420624"/>
          </a:xfrm>
          <a:prstGeom prst="rect">
            <a:avLst/>
          </a:prstGeom>
          <a:solidFill>
            <a:srgbClr val="FFFFFF">
              <a:alpha val="10000"/>
            </a:srgbClr>
          </a:solidFill>
          <a:ln w="12700">
            <a:solidFill>
              <a:srgbClr val="B8A0D8"/>
            </a:solidFill>
            <a:prstDash val="solid"/>
          </a:ln>
        </p:spPr>
      </p:sp>
      <p:sp>
        <p:nvSpPr>
          <p:cNvPr id="16" name="Shape 14"/>
          <p:cNvSpPr/>
          <p:nvPr/>
        </p:nvSpPr>
        <p:spPr>
          <a:xfrm>
            <a:off x="384048" y="1527048"/>
            <a:ext cx="502920" cy="274320"/>
          </a:xfrm>
          <a:prstGeom prst="roundRect">
            <a:avLst>
              <a:gd name="adj" fmla="val 20000"/>
            </a:avLst>
          </a:prstGeom>
          <a:solidFill>
            <a:srgbClr val="B8A0D8">
              <a:alpha val="80000"/>
            </a:srgbClr>
          </a:solidFill>
          <a:ln w="12700">
            <a:solidFill>
              <a:srgbClr val="B8A0D8"/>
            </a:solidFill>
            <a:prstDash val="solid"/>
          </a:ln>
        </p:spPr>
      </p:sp>
      <p:sp>
        <p:nvSpPr>
          <p:cNvPr id="17" name="Text 15"/>
          <p:cNvSpPr/>
          <p:nvPr/>
        </p:nvSpPr>
        <p:spPr>
          <a:xfrm>
            <a:off x="384048" y="1527048"/>
            <a:ext cx="502920" cy="274320"/>
          </a:xfrm>
          <a:prstGeom prst="rect">
            <a:avLst/>
          </a:prstGeom>
          <a:noFill/>
        </p:spPr>
        <p:txBody>
          <a:bodyPr wrap="square" lIns="0" tIns="0" rIns="0" bIns="0" rtlCol="0" anchor="ctr"/>
          <a:lstStyle/>
          <a:p>
            <a:pPr marL="0" indent="0" algn="ctr">
              <a:buNone/>
            </a:pPr>
            <a:r>
              <a:rPr lang="en-US" sz="1000" b="1" dirty="0">
                <a:solidFill>
                  <a:srgbClr val="FFFFFF"/>
                </a:solidFill>
              </a:rPr>
              <a:t>O2</a:t>
            </a:r>
            <a:endParaRPr lang="en-US" sz="1000" dirty="0"/>
          </a:p>
        </p:txBody>
      </p:sp>
      <p:sp>
        <p:nvSpPr>
          <p:cNvPr id="18" name="Text 16"/>
          <p:cNvSpPr/>
          <p:nvPr/>
        </p:nvSpPr>
        <p:spPr>
          <a:xfrm>
            <a:off x="969264" y="1508760"/>
            <a:ext cx="1783080" cy="292608"/>
          </a:xfrm>
          <a:prstGeom prst="rect">
            <a:avLst/>
          </a:prstGeom>
          <a:noFill/>
        </p:spPr>
        <p:txBody>
          <a:bodyPr wrap="square" lIns="0" tIns="0" rIns="0" bIns="0" rtlCol="0" anchor="ctr"/>
          <a:lstStyle/>
          <a:p>
            <a:pPr marL="0" indent="0" algn="l">
              <a:buNone/>
            </a:pPr>
            <a:r>
              <a:rPr lang="en-US" sz="1100" b="1" dirty="0">
                <a:solidFill>
                  <a:srgbClr val="FFFFFF"/>
                </a:solidFill>
              </a:rPr>
              <a:t>KNN Engine</a:t>
            </a:r>
            <a:endParaRPr lang="en-US" sz="1100" dirty="0"/>
          </a:p>
        </p:txBody>
      </p:sp>
      <p:sp>
        <p:nvSpPr>
          <p:cNvPr id="19" name="Text 17"/>
          <p:cNvSpPr/>
          <p:nvPr/>
        </p:nvSpPr>
        <p:spPr>
          <a:xfrm>
            <a:off x="2816352" y="1508760"/>
            <a:ext cx="5138928" cy="292608"/>
          </a:xfrm>
          <a:prstGeom prst="rect">
            <a:avLst/>
          </a:prstGeom>
          <a:noFill/>
        </p:spPr>
        <p:txBody>
          <a:bodyPr wrap="square" lIns="0" tIns="0" rIns="0" bIns="0" rtlCol="0" anchor="ctr"/>
          <a:lstStyle/>
          <a:p>
            <a:pPr marL="0" indent="0" algn="l">
              <a:buNone/>
            </a:pPr>
            <a:r>
              <a:rPr lang="en-US" sz="1000" dirty="0">
                <a:solidFill>
                  <a:srgbClr val="F2BBCC"/>
                </a:solidFill>
                <a:latin typeface="Calibri" panose="020F0502020204030204" pitchFamily="34" charset="0"/>
                <a:ea typeface="Calibri" panose="020F0502020204030204" pitchFamily="34" charset="-122"/>
                <a:cs typeface="Calibri" panose="020F0502020204030204" pitchFamily="34" charset="-120"/>
              </a:rPr>
              <a:t>Mean Precision@4 = 1.00. Target was 0.75. Exceeded by 33%.</a:t>
            </a:r>
            <a:endParaRPr lang="en-US" sz="1000" dirty="0"/>
          </a:p>
        </p:txBody>
      </p:sp>
      <p:sp>
        <p:nvSpPr>
          <p:cNvPr id="20" name="Shape 18"/>
          <p:cNvSpPr/>
          <p:nvPr/>
        </p:nvSpPr>
        <p:spPr>
          <a:xfrm>
            <a:off x="8065008" y="1527048"/>
            <a:ext cx="658368" cy="274320"/>
          </a:xfrm>
          <a:prstGeom prst="roundRect">
            <a:avLst>
              <a:gd name="adj" fmla="val 20000"/>
            </a:avLst>
          </a:prstGeom>
          <a:solidFill>
            <a:srgbClr val="B8A0D8"/>
          </a:solidFill>
          <a:ln w="12700">
            <a:solidFill>
              <a:srgbClr val="B8A0D8"/>
            </a:solidFill>
            <a:prstDash val="solid"/>
          </a:ln>
        </p:spPr>
      </p:sp>
      <p:sp>
        <p:nvSpPr>
          <p:cNvPr id="21" name="Text 19"/>
          <p:cNvSpPr/>
          <p:nvPr/>
        </p:nvSpPr>
        <p:spPr>
          <a:xfrm>
            <a:off x="8065008" y="1527048"/>
            <a:ext cx="658368" cy="274320"/>
          </a:xfrm>
          <a:prstGeom prst="rect">
            <a:avLst/>
          </a:prstGeom>
          <a:noFill/>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22" name="Shape 20"/>
          <p:cNvSpPr/>
          <p:nvPr/>
        </p:nvSpPr>
        <p:spPr>
          <a:xfrm>
            <a:off x="320040" y="1947672"/>
            <a:ext cx="8503920" cy="420624"/>
          </a:xfrm>
          <a:prstGeom prst="rect">
            <a:avLst/>
          </a:prstGeom>
          <a:solidFill>
            <a:srgbClr val="FFFFFF">
              <a:alpha val="10000"/>
            </a:srgbClr>
          </a:solidFill>
          <a:ln w="12700">
            <a:solidFill>
              <a:srgbClr val="A8D8C0"/>
            </a:solidFill>
            <a:prstDash val="solid"/>
          </a:ln>
        </p:spPr>
      </p:sp>
      <p:sp>
        <p:nvSpPr>
          <p:cNvPr id="23" name="Shape 21"/>
          <p:cNvSpPr/>
          <p:nvPr/>
        </p:nvSpPr>
        <p:spPr>
          <a:xfrm>
            <a:off x="384048" y="2020824"/>
            <a:ext cx="502920" cy="274320"/>
          </a:xfrm>
          <a:prstGeom prst="roundRect">
            <a:avLst>
              <a:gd name="adj" fmla="val 20000"/>
            </a:avLst>
          </a:prstGeom>
          <a:solidFill>
            <a:srgbClr val="A8D8C0">
              <a:alpha val="80000"/>
            </a:srgbClr>
          </a:solidFill>
          <a:ln w="12700">
            <a:solidFill>
              <a:srgbClr val="A8D8C0"/>
            </a:solidFill>
            <a:prstDash val="solid"/>
          </a:ln>
        </p:spPr>
      </p:sp>
      <p:sp>
        <p:nvSpPr>
          <p:cNvPr id="24" name="Text 22"/>
          <p:cNvSpPr/>
          <p:nvPr/>
        </p:nvSpPr>
        <p:spPr>
          <a:xfrm>
            <a:off x="384048" y="2020824"/>
            <a:ext cx="502920" cy="274320"/>
          </a:xfrm>
          <a:prstGeom prst="rect">
            <a:avLst/>
          </a:prstGeom>
          <a:noFill/>
        </p:spPr>
        <p:txBody>
          <a:bodyPr wrap="square" lIns="0" tIns="0" rIns="0" bIns="0" rtlCol="0" anchor="ctr"/>
          <a:lstStyle/>
          <a:p>
            <a:pPr marL="0" indent="0" algn="ctr">
              <a:buNone/>
            </a:pPr>
            <a:r>
              <a:rPr lang="en-US" sz="1000" b="1" dirty="0">
                <a:solidFill>
                  <a:srgbClr val="FFFFFF"/>
                </a:solidFill>
              </a:rPr>
              <a:t>O3</a:t>
            </a:r>
            <a:endParaRPr lang="en-US" sz="1000" dirty="0"/>
          </a:p>
        </p:txBody>
      </p:sp>
      <p:sp>
        <p:nvSpPr>
          <p:cNvPr id="25" name="Text 23"/>
          <p:cNvSpPr/>
          <p:nvPr/>
        </p:nvSpPr>
        <p:spPr>
          <a:xfrm>
            <a:off x="969264" y="2002536"/>
            <a:ext cx="1783080" cy="292608"/>
          </a:xfrm>
          <a:prstGeom prst="rect">
            <a:avLst/>
          </a:prstGeom>
          <a:noFill/>
        </p:spPr>
        <p:txBody>
          <a:bodyPr wrap="square" lIns="0" tIns="0" rIns="0" bIns="0" rtlCol="0" anchor="ctr"/>
          <a:lstStyle/>
          <a:p>
            <a:pPr marL="0" indent="0" algn="l">
              <a:buNone/>
            </a:pPr>
            <a:r>
              <a:rPr lang="en-US" sz="1100" b="1" dirty="0">
                <a:solidFill>
                  <a:srgbClr val="FFFFFF"/>
                </a:solidFill>
              </a:rPr>
              <a:t>Recommender</a:t>
            </a:r>
            <a:endParaRPr lang="en-US" sz="1100" dirty="0"/>
          </a:p>
        </p:txBody>
      </p:sp>
      <p:sp>
        <p:nvSpPr>
          <p:cNvPr id="26" name="Text 24"/>
          <p:cNvSpPr/>
          <p:nvPr/>
        </p:nvSpPr>
        <p:spPr>
          <a:xfrm>
            <a:off x="2816352" y="2002536"/>
            <a:ext cx="5138928" cy="292608"/>
          </a:xfrm>
          <a:prstGeom prst="rect">
            <a:avLst/>
          </a:prstGeom>
          <a:noFill/>
        </p:spPr>
        <p:txBody>
          <a:bodyPr wrap="square" lIns="0" tIns="0" rIns="0" bIns="0" rtlCol="0" anchor="ctr"/>
          <a:lstStyle/>
          <a:p>
            <a:pPr marL="0" indent="0" algn="l">
              <a:buNone/>
            </a:pPr>
            <a:r>
              <a:rPr lang="en-US" sz="1000" dirty="0">
                <a:solidFill>
                  <a:srgbClr val="F2BBCC"/>
                </a:solidFill>
                <a:latin typeface="Calibri" panose="020F0502020204030204" pitchFamily="34" charset="0"/>
                <a:ea typeface="Calibri" panose="020F0502020204030204" pitchFamily="34" charset="-122"/>
                <a:cs typeface="Calibri" panose="020F0502020204030204" pitchFamily="34" charset="-120"/>
              </a:rPr>
              <a:t>100% patient coverage — 111/111 patients covered. Avg 3.2 programmes each.</a:t>
            </a:r>
            <a:endParaRPr lang="en-US" sz="1000" dirty="0"/>
          </a:p>
        </p:txBody>
      </p:sp>
      <p:sp>
        <p:nvSpPr>
          <p:cNvPr id="27" name="Shape 25"/>
          <p:cNvSpPr/>
          <p:nvPr/>
        </p:nvSpPr>
        <p:spPr>
          <a:xfrm>
            <a:off x="8065008" y="2020824"/>
            <a:ext cx="658368" cy="274320"/>
          </a:xfrm>
          <a:prstGeom prst="roundRect">
            <a:avLst>
              <a:gd name="adj" fmla="val 20000"/>
            </a:avLst>
          </a:prstGeom>
          <a:solidFill>
            <a:srgbClr val="A8D8C0"/>
          </a:solidFill>
          <a:ln w="12700">
            <a:solidFill>
              <a:srgbClr val="A8D8C0"/>
            </a:solidFill>
            <a:prstDash val="solid"/>
          </a:ln>
        </p:spPr>
      </p:sp>
      <p:sp>
        <p:nvSpPr>
          <p:cNvPr id="28" name="Text 26"/>
          <p:cNvSpPr/>
          <p:nvPr/>
        </p:nvSpPr>
        <p:spPr>
          <a:xfrm>
            <a:off x="8065008" y="2020824"/>
            <a:ext cx="658368" cy="274320"/>
          </a:xfrm>
          <a:prstGeom prst="rect">
            <a:avLst/>
          </a:prstGeom>
          <a:noFill/>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29" name="Shape 27"/>
          <p:cNvSpPr/>
          <p:nvPr/>
        </p:nvSpPr>
        <p:spPr>
          <a:xfrm>
            <a:off x="320040" y="2441448"/>
            <a:ext cx="8503920" cy="420624"/>
          </a:xfrm>
          <a:prstGeom prst="rect">
            <a:avLst/>
          </a:prstGeom>
          <a:solidFill>
            <a:srgbClr val="FFFFFF">
              <a:alpha val="10000"/>
            </a:srgbClr>
          </a:solidFill>
          <a:ln w="12700">
            <a:solidFill>
              <a:srgbClr val="F5C0A0"/>
            </a:solidFill>
            <a:prstDash val="solid"/>
          </a:ln>
        </p:spPr>
      </p:sp>
      <p:sp>
        <p:nvSpPr>
          <p:cNvPr id="30" name="Shape 28"/>
          <p:cNvSpPr/>
          <p:nvPr/>
        </p:nvSpPr>
        <p:spPr>
          <a:xfrm>
            <a:off x="384048" y="2514600"/>
            <a:ext cx="502920" cy="274320"/>
          </a:xfrm>
          <a:prstGeom prst="roundRect">
            <a:avLst>
              <a:gd name="adj" fmla="val 20000"/>
            </a:avLst>
          </a:prstGeom>
          <a:solidFill>
            <a:srgbClr val="F5C0A0">
              <a:alpha val="80000"/>
            </a:srgbClr>
          </a:solidFill>
          <a:ln w="12700">
            <a:solidFill>
              <a:srgbClr val="F5C0A0"/>
            </a:solidFill>
            <a:prstDash val="solid"/>
          </a:ln>
        </p:spPr>
      </p:sp>
      <p:sp>
        <p:nvSpPr>
          <p:cNvPr id="31" name="Text 29"/>
          <p:cNvSpPr/>
          <p:nvPr/>
        </p:nvSpPr>
        <p:spPr>
          <a:xfrm>
            <a:off x="384048" y="2514600"/>
            <a:ext cx="502920" cy="274320"/>
          </a:xfrm>
          <a:prstGeom prst="rect">
            <a:avLst/>
          </a:prstGeom>
          <a:noFill/>
        </p:spPr>
        <p:txBody>
          <a:bodyPr wrap="square" lIns="0" tIns="0" rIns="0" bIns="0" rtlCol="0" anchor="ctr"/>
          <a:lstStyle/>
          <a:p>
            <a:pPr marL="0" indent="0" algn="ctr">
              <a:buNone/>
            </a:pPr>
            <a:r>
              <a:rPr lang="en-US" sz="1000" b="1" dirty="0">
                <a:solidFill>
                  <a:srgbClr val="FFFFFF"/>
                </a:solidFill>
              </a:rPr>
              <a:t>O4</a:t>
            </a:r>
            <a:endParaRPr lang="en-US" sz="1000" dirty="0"/>
          </a:p>
        </p:txBody>
      </p:sp>
      <p:sp>
        <p:nvSpPr>
          <p:cNvPr id="32" name="Text 30"/>
          <p:cNvSpPr/>
          <p:nvPr/>
        </p:nvSpPr>
        <p:spPr>
          <a:xfrm>
            <a:off x="969264" y="2496312"/>
            <a:ext cx="1783080" cy="292608"/>
          </a:xfrm>
          <a:prstGeom prst="rect">
            <a:avLst/>
          </a:prstGeom>
          <a:noFill/>
        </p:spPr>
        <p:txBody>
          <a:bodyPr wrap="square" lIns="0" tIns="0" rIns="0" bIns="0" rtlCol="0" anchor="ctr"/>
          <a:lstStyle/>
          <a:p>
            <a:pPr marL="0" indent="0" algn="l">
              <a:buNone/>
            </a:pPr>
            <a:r>
              <a:rPr lang="en-US" sz="1100" b="1" dirty="0">
                <a:solidFill>
                  <a:srgbClr val="FFFFFF"/>
                </a:solidFill>
              </a:rPr>
              <a:t>Zakat Compliance Gate</a:t>
            </a:r>
            <a:endParaRPr lang="en-US" sz="1100" dirty="0"/>
          </a:p>
        </p:txBody>
      </p:sp>
      <p:sp>
        <p:nvSpPr>
          <p:cNvPr id="33" name="Text 31"/>
          <p:cNvSpPr/>
          <p:nvPr/>
        </p:nvSpPr>
        <p:spPr>
          <a:xfrm>
            <a:off x="2816352" y="2496312"/>
            <a:ext cx="5138928" cy="292608"/>
          </a:xfrm>
          <a:prstGeom prst="rect">
            <a:avLst/>
          </a:prstGeom>
          <a:noFill/>
        </p:spPr>
        <p:txBody>
          <a:bodyPr wrap="square" lIns="0" tIns="0" rIns="0" bIns="0" rtlCol="0" anchor="ctr"/>
          <a:lstStyle/>
          <a:p>
            <a:pPr marL="0" indent="0" algn="l">
              <a:buNone/>
            </a:pPr>
            <a:r>
              <a:rPr lang="en-US" sz="1000" dirty="0">
                <a:solidFill>
                  <a:srgbClr val="F2BBCC"/>
                </a:solidFill>
                <a:latin typeface="Calibri" panose="020F0502020204030204" pitchFamily="34" charset="0"/>
                <a:ea typeface="Calibri" panose="020F0502020204030204" pitchFamily="34" charset="-122"/>
                <a:cs typeface="Calibri" panose="020F0502020204030204" pitchFamily="34" charset="-120"/>
              </a:rPr>
              <a:t>Pre-match validation deployed. Zero violations possible going forward.</a:t>
            </a:r>
            <a:endParaRPr lang="en-US" sz="1000" dirty="0"/>
          </a:p>
        </p:txBody>
      </p:sp>
      <p:sp>
        <p:nvSpPr>
          <p:cNvPr id="34" name="Shape 32"/>
          <p:cNvSpPr/>
          <p:nvPr/>
        </p:nvSpPr>
        <p:spPr>
          <a:xfrm>
            <a:off x="8065008" y="2514600"/>
            <a:ext cx="658368" cy="274320"/>
          </a:xfrm>
          <a:prstGeom prst="roundRect">
            <a:avLst>
              <a:gd name="adj" fmla="val 20000"/>
            </a:avLst>
          </a:prstGeom>
          <a:solidFill>
            <a:srgbClr val="F5C0A0"/>
          </a:solidFill>
          <a:ln w="12700">
            <a:solidFill>
              <a:srgbClr val="F5C0A0"/>
            </a:solidFill>
            <a:prstDash val="solid"/>
          </a:ln>
        </p:spPr>
      </p:sp>
      <p:sp>
        <p:nvSpPr>
          <p:cNvPr id="35" name="Text 33"/>
          <p:cNvSpPr/>
          <p:nvPr/>
        </p:nvSpPr>
        <p:spPr>
          <a:xfrm>
            <a:off x="8065008" y="2514600"/>
            <a:ext cx="658368" cy="274320"/>
          </a:xfrm>
          <a:prstGeom prst="rect">
            <a:avLst/>
          </a:prstGeom>
          <a:noFill/>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36" name="Shape 34"/>
          <p:cNvSpPr/>
          <p:nvPr/>
        </p:nvSpPr>
        <p:spPr>
          <a:xfrm>
            <a:off x="320040" y="2935224"/>
            <a:ext cx="8503920" cy="420624"/>
          </a:xfrm>
          <a:prstGeom prst="rect">
            <a:avLst/>
          </a:prstGeom>
          <a:solidFill>
            <a:srgbClr val="FFFFFF">
              <a:alpha val="10000"/>
            </a:srgbClr>
          </a:solidFill>
          <a:ln w="12700">
            <a:solidFill>
              <a:srgbClr val="A0C8E8"/>
            </a:solidFill>
            <a:prstDash val="solid"/>
          </a:ln>
        </p:spPr>
      </p:sp>
      <p:sp>
        <p:nvSpPr>
          <p:cNvPr id="37" name="Shape 35"/>
          <p:cNvSpPr/>
          <p:nvPr/>
        </p:nvSpPr>
        <p:spPr>
          <a:xfrm>
            <a:off x="384048" y="3008376"/>
            <a:ext cx="502920" cy="274320"/>
          </a:xfrm>
          <a:prstGeom prst="roundRect">
            <a:avLst>
              <a:gd name="adj" fmla="val 20000"/>
            </a:avLst>
          </a:prstGeom>
          <a:solidFill>
            <a:srgbClr val="A0C8E8">
              <a:alpha val="80000"/>
            </a:srgbClr>
          </a:solidFill>
          <a:ln w="12700">
            <a:solidFill>
              <a:srgbClr val="A0C8E8"/>
            </a:solidFill>
            <a:prstDash val="solid"/>
          </a:ln>
        </p:spPr>
      </p:sp>
      <p:sp>
        <p:nvSpPr>
          <p:cNvPr id="38" name="Text 36"/>
          <p:cNvSpPr/>
          <p:nvPr/>
        </p:nvSpPr>
        <p:spPr>
          <a:xfrm>
            <a:off x="384048" y="3008376"/>
            <a:ext cx="502920" cy="274320"/>
          </a:xfrm>
          <a:prstGeom prst="rect">
            <a:avLst/>
          </a:prstGeom>
          <a:noFill/>
        </p:spPr>
        <p:txBody>
          <a:bodyPr wrap="square" lIns="0" tIns="0" rIns="0" bIns="0" rtlCol="0" anchor="ctr"/>
          <a:lstStyle/>
          <a:p>
            <a:pPr marL="0" indent="0" algn="ctr">
              <a:buNone/>
            </a:pPr>
            <a:r>
              <a:rPr lang="en-US" sz="1000" b="1" dirty="0">
                <a:solidFill>
                  <a:srgbClr val="FFFFFF"/>
                </a:solidFill>
              </a:rPr>
              <a:t>O5</a:t>
            </a:r>
            <a:endParaRPr lang="en-US" sz="1000" dirty="0"/>
          </a:p>
        </p:txBody>
      </p:sp>
      <p:sp>
        <p:nvSpPr>
          <p:cNvPr id="39" name="Text 37"/>
          <p:cNvSpPr/>
          <p:nvPr/>
        </p:nvSpPr>
        <p:spPr>
          <a:xfrm>
            <a:off x="969264" y="2990088"/>
            <a:ext cx="1783080" cy="292608"/>
          </a:xfrm>
          <a:prstGeom prst="rect">
            <a:avLst/>
          </a:prstGeom>
          <a:noFill/>
        </p:spPr>
        <p:txBody>
          <a:bodyPr wrap="square" lIns="0" tIns="0" rIns="0" bIns="0" rtlCol="0" anchor="ctr"/>
          <a:lstStyle/>
          <a:p>
            <a:pPr marL="0" indent="0" algn="l">
              <a:buNone/>
            </a:pPr>
            <a:r>
              <a:rPr lang="en-US" sz="1100" b="1" dirty="0">
                <a:solidFill>
                  <a:srgbClr val="FFFFFF"/>
                </a:solidFill>
              </a:rPr>
              <a:t>Donor Transparency</a:t>
            </a:r>
            <a:endParaRPr lang="en-US" sz="1100" dirty="0"/>
          </a:p>
        </p:txBody>
      </p:sp>
      <p:sp>
        <p:nvSpPr>
          <p:cNvPr id="40" name="Text 38"/>
          <p:cNvSpPr/>
          <p:nvPr/>
        </p:nvSpPr>
        <p:spPr>
          <a:xfrm>
            <a:off x="2816352" y="2990088"/>
            <a:ext cx="5138928" cy="292608"/>
          </a:xfrm>
          <a:prstGeom prst="rect">
            <a:avLst/>
          </a:prstGeom>
          <a:noFill/>
        </p:spPr>
        <p:txBody>
          <a:bodyPr wrap="square" lIns="0" tIns="0" rIns="0" bIns="0" rtlCol="0" anchor="ctr"/>
          <a:lstStyle/>
          <a:p>
            <a:pPr marL="0" indent="0" algn="l">
              <a:buNone/>
            </a:pPr>
            <a:r>
              <a:rPr lang="en-US" sz="1000" dirty="0">
                <a:solidFill>
                  <a:srgbClr val="F2BBCC"/>
                </a:solidFill>
                <a:latin typeface="Calibri" panose="020F0502020204030204" pitchFamily="34" charset="0"/>
                <a:ea typeface="Calibri" panose="020F0502020204030204" pitchFamily="34" charset="-122"/>
                <a:cs typeface="Calibri" panose="020F0502020204030204" pitchFamily="34" charset="-120"/>
              </a:rPr>
              <a:t>Impact calculation operational. Personalised notifications generated.</a:t>
            </a:r>
            <a:endParaRPr lang="en-US" sz="1000" dirty="0"/>
          </a:p>
        </p:txBody>
      </p:sp>
      <p:sp>
        <p:nvSpPr>
          <p:cNvPr id="41" name="Shape 39"/>
          <p:cNvSpPr/>
          <p:nvPr/>
        </p:nvSpPr>
        <p:spPr>
          <a:xfrm>
            <a:off x="8065008" y="3008376"/>
            <a:ext cx="658368" cy="274320"/>
          </a:xfrm>
          <a:prstGeom prst="roundRect">
            <a:avLst>
              <a:gd name="adj" fmla="val 20000"/>
            </a:avLst>
          </a:prstGeom>
          <a:solidFill>
            <a:srgbClr val="A0C8E8"/>
          </a:solidFill>
          <a:ln w="12700">
            <a:solidFill>
              <a:srgbClr val="A0C8E8"/>
            </a:solidFill>
            <a:prstDash val="solid"/>
          </a:ln>
        </p:spPr>
      </p:sp>
      <p:sp>
        <p:nvSpPr>
          <p:cNvPr id="42" name="Text 40"/>
          <p:cNvSpPr/>
          <p:nvPr/>
        </p:nvSpPr>
        <p:spPr>
          <a:xfrm>
            <a:off x="8065008" y="3008376"/>
            <a:ext cx="658368" cy="274320"/>
          </a:xfrm>
          <a:prstGeom prst="rect">
            <a:avLst/>
          </a:prstGeom>
          <a:noFill/>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43" name="Shape 41"/>
          <p:cNvSpPr/>
          <p:nvPr/>
        </p:nvSpPr>
        <p:spPr>
          <a:xfrm>
            <a:off x="320040" y="3429000"/>
            <a:ext cx="8503920" cy="420624"/>
          </a:xfrm>
          <a:prstGeom prst="rect">
            <a:avLst/>
          </a:prstGeom>
          <a:solidFill>
            <a:srgbClr val="FFFFFF">
              <a:alpha val="10000"/>
            </a:srgbClr>
          </a:solidFill>
          <a:ln w="12700">
            <a:solidFill>
              <a:srgbClr val="E8A0BF"/>
            </a:solidFill>
            <a:prstDash val="solid"/>
          </a:ln>
        </p:spPr>
      </p:sp>
      <p:sp>
        <p:nvSpPr>
          <p:cNvPr id="44" name="Shape 42"/>
          <p:cNvSpPr/>
          <p:nvPr/>
        </p:nvSpPr>
        <p:spPr>
          <a:xfrm>
            <a:off x="384048" y="3502152"/>
            <a:ext cx="502920" cy="274320"/>
          </a:xfrm>
          <a:prstGeom prst="roundRect">
            <a:avLst>
              <a:gd name="adj" fmla="val 20000"/>
            </a:avLst>
          </a:prstGeom>
          <a:solidFill>
            <a:srgbClr val="E8A0BF">
              <a:alpha val="80000"/>
            </a:srgbClr>
          </a:solidFill>
          <a:ln w="12700">
            <a:solidFill>
              <a:srgbClr val="E8A0BF"/>
            </a:solidFill>
            <a:prstDash val="solid"/>
          </a:ln>
        </p:spPr>
      </p:sp>
      <p:sp>
        <p:nvSpPr>
          <p:cNvPr id="45" name="Text 43"/>
          <p:cNvSpPr/>
          <p:nvPr/>
        </p:nvSpPr>
        <p:spPr>
          <a:xfrm>
            <a:off x="384048" y="3502152"/>
            <a:ext cx="502920" cy="274320"/>
          </a:xfrm>
          <a:prstGeom prst="rect">
            <a:avLst/>
          </a:prstGeom>
          <a:noFill/>
        </p:spPr>
        <p:txBody>
          <a:bodyPr wrap="square" lIns="0" tIns="0" rIns="0" bIns="0" rtlCol="0" anchor="ctr"/>
          <a:lstStyle/>
          <a:p>
            <a:pPr marL="0" indent="0" algn="ctr">
              <a:buNone/>
            </a:pPr>
            <a:r>
              <a:rPr lang="en-US" sz="1000" b="1" dirty="0">
                <a:solidFill>
                  <a:srgbClr val="FFFFFF"/>
                </a:solidFill>
              </a:rPr>
              <a:t>O6</a:t>
            </a:r>
            <a:endParaRPr lang="en-US" sz="1000" dirty="0"/>
          </a:p>
        </p:txBody>
      </p:sp>
      <p:sp>
        <p:nvSpPr>
          <p:cNvPr id="46" name="Text 44"/>
          <p:cNvSpPr/>
          <p:nvPr/>
        </p:nvSpPr>
        <p:spPr>
          <a:xfrm>
            <a:off x="969264" y="3483864"/>
            <a:ext cx="1783080" cy="292608"/>
          </a:xfrm>
          <a:prstGeom prst="rect">
            <a:avLst/>
          </a:prstGeom>
          <a:noFill/>
        </p:spPr>
        <p:txBody>
          <a:bodyPr wrap="square" lIns="0" tIns="0" rIns="0" bIns="0" rtlCol="0" anchor="ctr"/>
          <a:lstStyle/>
          <a:p>
            <a:pPr marL="0" indent="0" algn="l">
              <a:buNone/>
            </a:pPr>
            <a:r>
              <a:rPr lang="en-US" sz="1100" b="1" dirty="0">
                <a:solidFill>
                  <a:srgbClr val="FFFFFF"/>
                </a:solidFill>
              </a:rPr>
              <a:t>Tableau Dashboards</a:t>
            </a:r>
            <a:endParaRPr lang="en-US" sz="1100" dirty="0"/>
          </a:p>
        </p:txBody>
      </p:sp>
      <p:sp>
        <p:nvSpPr>
          <p:cNvPr id="47" name="Text 45"/>
          <p:cNvSpPr/>
          <p:nvPr/>
        </p:nvSpPr>
        <p:spPr>
          <a:xfrm>
            <a:off x="2816352" y="3483864"/>
            <a:ext cx="5138928" cy="292608"/>
          </a:xfrm>
          <a:prstGeom prst="rect">
            <a:avLst/>
          </a:prstGeom>
          <a:noFill/>
        </p:spPr>
        <p:txBody>
          <a:bodyPr wrap="square" lIns="0" tIns="0" rIns="0" bIns="0" rtlCol="0" anchor="ctr"/>
          <a:lstStyle/>
          <a:p>
            <a:pPr marL="0" indent="0" algn="l">
              <a:buNone/>
            </a:pPr>
            <a:r>
              <a:rPr lang="en-US" sz="1000" dirty="0">
                <a:solidFill>
                  <a:srgbClr val="F2BBCC"/>
                </a:solidFill>
                <a:latin typeface="Calibri" panose="020F0502020204030204" pitchFamily="34" charset="0"/>
                <a:ea typeface="Calibri" panose="020F0502020204030204" pitchFamily="34" charset="-122"/>
                <a:cs typeface="Calibri" panose="020F0502020204030204" pitchFamily="34" charset="-120"/>
              </a:rPr>
              <a:t>4 dashboards built from 3 verified CSVs. Cross-filtering enabled.</a:t>
            </a:r>
            <a:endParaRPr lang="en-US" sz="1000" dirty="0"/>
          </a:p>
        </p:txBody>
      </p:sp>
      <p:sp>
        <p:nvSpPr>
          <p:cNvPr id="48" name="Shape 46"/>
          <p:cNvSpPr/>
          <p:nvPr/>
        </p:nvSpPr>
        <p:spPr>
          <a:xfrm>
            <a:off x="8065008" y="3502152"/>
            <a:ext cx="658368" cy="274320"/>
          </a:xfrm>
          <a:prstGeom prst="roundRect">
            <a:avLst>
              <a:gd name="adj" fmla="val 20000"/>
            </a:avLst>
          </a:prstGeom>
          <a:solidFill>
            <a:srgbClr val="E8A0BF"/>
          </a:solidFill>
          <a:ln w="12700">
            <a:solidFill>
              <a:srgbClr val="E8A0BF"/>
            </a:solidFill>
            <a:prstDash val="solid"/>
          </a:ln>
        </p:spPr>
      </p:sp>
      <p:sp>
        <p:nvSpPr>
          <p:cNvPr id="49" name="Text 47"/>
          <p:cNvSpPr/>
          <p:nvPr/>
        </p:nvSpPr>
        <p:spPr>
          <a:xfrm>
            <a:off x="8065008" y="3502152"/>
            <a:ext cx="658368" cy="274320"/>
          </a:xfrm>
          <a:prstGeom prst="rect">
            <a:avLst/>
          </a:prstGeom>
          <a:noFill/>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50" name="Shape 48"/>
          <p:cNvSpPr/>
          <p:nvPr/>
        </p:nvSpPr>
        <p:spPr>
          <a:xfrm>
            <a:off x="320040" y="3922776"/>
            <a:ext cx="8503920" cy="420624"/>
          </a:xfrm>
          <a:prstGeom prst="rect">
            <a:avLst/>
          </a:prstGeom>
          <a:solidFill>
            <a:srgbClr val="FFFFFF">
              <a:alpha val="10000"/>
            </a:srgbClr>
          </a:solidFill>
          <a:ln w="12700">
            <a:solidFill>
              <a:srgbClr val="B8A0D8"/>
            </a:solidFill>
            <a:prstDash val="solid"/>
          </a:ln>
        </p:spPr>
      </p:sp>
      <p:sp>
        <p:nvSpPr>
          <p:cNvPr id="51" name="Shape 49"/>
          <p:cNvSpPr/>
          <p:nvPr/>
        </p:nvSpPr>
        <p:spPr>
          <a:xfrm>
            <a:off x="384048" y="3995928"/>
            <a:ext cx="502920" cy="274320"/>
          </a:xfrm>
          <a:prstGeom prst="roundRect">
            <a:avLst>
              <a:gd name="adj" fmla="val 20000"/>
            </a:avLst>
          </a:prstGeom>
          <a:solidFill>
            <a:srgbClr val="B8A0D8">
              <a:alpha val="80000"/>
            </a:srgbClr>
          </a:solidFill>
          <a:ln w="12700">
            <a:solidFill>
              <a:srgbClr val="B8A0D8"/>
            </a:solidFill>
            <a:prstDash val="solid"/>
          </a:ln>
        </p:spPr>
      </p:sp>
      <p:sp>
        <p:nvSpPr>
          <p:cNvPr id="52" name="Text 50"/>
          <p:cNvSpPr/>
          <p:nvPr/>
        </p:nvSpPr>
        <p:spPr>
          <a:xfrm>
            <a:off x="384048" y="3995928"/>
            <a:ext cx="502920" cy="274320"/>
          </a:xfrm>
          <a:prstGeom prst="rect">
            <a:avLst/>
          </a:prstGeom>
          <a:noFill/>
        </p:spPr>
        <p:txBody>
          <a:bodyPr wrap="square" lIns="0" tIns="0" rIns="0" bIns="0" rtlCol="0" anchor="ctr"/>
          <a:lstStyle/>
          <a:p>
            <a:pPr marL="0" indent="0" algn="ctr">
              <a:buNone/>
            </a:pPr>
            <a:r>
              <a:rPr lang="en-US" sz="1000" b="1" dirty="0">
                <a:solidFill>
                  <a:srgbClr val="FFFFFF"/>
                </a:solidFill>
              </a:rPr>
              <a:t>O7</a:t>
            </a:r>
            <a:endParaRPr lang="en-US" sz="1000" dirty="0"/>
          </a:p>
        </p:txBody>
      </p:sp>
      <p:sp>
        <p:nvSpPr>
          <p:cNvPr id="53" name="Text 51"/>
          <p:cNvSpPr/>
          <p:nvPr/>
        </p:nvSpPr>
        <p:spPr>
          <a:xfrm>
            <a:off x="969264" y="3977640"/>
            <a:ext cx="1783080" cy="292608"/>
          </a:xfrm>
          <a:prstGeom prst="rect">
            <a:avLst/>
          </a:prstGeom>
          <a:noFill/>
        </p:spPr>
        <p:txBody>
          <a:bodyPr wrap="square" lIns="0" tIns="0" rIns="0" bIns="0" rtlCol="0" anchor="ctr"/>
          <a:lstStyle/>
          <a:p>
            <a:pPr marL="0" indent="0" algn="l">
              <a:buNone/>
            </a:pPr>
            <a:r>
              <a:rPr lang="en-US" sz="1100" b="1" dirty="0">
                <a:solidFill>
                  <a:srgbClr val="FFFFFF"/>
                </a:solidFill>
              </a:rPr>
              <a:t>AidConnect Application</a:t>
            </a:r>
            <a:endParaRPr lang="en-US" sz="1100" dirty="0"/>
          </a:p>
        </p:txBody>
      </p:sp>
      <p:sp>
        <p:nvSpPr>
          <p:cNvPr id="54" name="Text 52"/>
          <p:cNvSpPr/>
          <p:nvPr/>
        </p:nvSpPr>
        <p:spPr>
          <a:xfrm>
            <a:off x="2816352" y="3977640"/>
            <a:ext cx="5138928" cy="292608"/>
          </a:xfrm>
          <a:prstGeom prst="rect">
            <a:avLst/>
          </a:prstGeom>
          <a:noFill/>
        </p:spPr>
        <p:txBody>
          <a:bodyPr wrap="square" lIns="0" tIns="0" rIns="0" bIns="0" rtlCol="0" anchor="ctr"/>
          <a:lstStyle/>
          <a:p>
            <a:pPr marL="0" indent="0" algn="l">
              <a:buNone/>
            </a:pPr>
            <a:r>
              <a:rPr lang="en-US" sz="1000" dirty="0">
                <a:solidFill>
                  <a:srgbClr val="F2BBCC"/>
                </a:solidFill>
                <a:latin typeface="Calibri" panose="020F0502020204030204" pitchFamily="34" charset="0"/>
                <a:ea typeface="Calibri" panose="020F0502020204030204" pitchFamily="34" charset="-122"/>
                <a:cs typeface="Calibri" panose="020F0502020204030204" pitchFamily="34" charset="-120"/>
              </a:rPr>
              <a:t>8-screen mobile app deployed. Complete donor journey operational.</a:t>
            </a:r>
            <a:endParaRPr lang="en-US" sz="1000" dirty="0"/>
          </a:p>
        </p:txBody>
      </p:sp>
      <p:sp>
        <p:nvSpPr>
          <p:cNvPr id="55" name="Shape 53"/>
          <p:cNvSpPr/>
          <p:nvPr/>
        </p:nvSpPr>
        <p:spPr>
          <a:xfrm>
            <a:off x="8065008" y="3995928"/>
            <a:ext cx="658368" cy="274320"/>
          </a:xfrm>
          <a:prstGeom prst="roundRect">
            <a:avLst>
              <a:gd name="adj" fmla="val 20000"/>
            </a:avLst>
          </a:prstGeom>
          <a:solidFill>
            <a:srgbClr val="B8A0D8"/>
          </a:solidFill>
          <a:ln w="12700">
            <a:solidFill>
              <a:srgbClr val="B8A0D8"/>
            </a:solidFill>
            <a:prstDash val="solid"/>
          </a:ln>
        </p:spPr>
      </p:sp>
      <p:sp>
        <p:nvSpPr>
          <p:cNvPr id="56" name="Text 54"/>
          <p:cNvSpPr/>
          <p:nvPr/>
        </p:nvSpPr>
        <p:spPr>
          <a:xfrm>
            <a:off x="8065008" y="3995928"/>
            <a:ext cx="658368" cy="274320"/>
          </a:xfrm>
          <a:prstGeom prst="rect">
            <a:avLst/>
          </a:prstGeom>
          <a:noFill/>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57" name="Shape 55"/>
          <p:cNvSpPr/>
          <p:nvPr/>
        </p:nvSpPr>
        <p:spPr>
          <a:xfrm>
            <a:off x="320040" y="4416552"/>
            <a:ext cx="8503920" cy="420624"/>
          </a:xfrm>
          <a:prstGeom prst="rect">
            <a:avLst/>
          </a:prstGeom>
          <a:solidFill>
            <a:srgbClr val="FFFFFF">
              <a:alpha val="10000"/>
            </a:srgbClr>
          </a:solidFill>
          <a:ln w="12700">
            <a:solidFill>
              <a:srgbClr val="A8D8C0"/>
            </a:solidFill>
            <a:prstDash val="solid"/>
          </a:ln>
        </p:spPr>
      </p:sp>
      <p:sp>
        <p:nvSpPr>
          <p:cNvPr id="58" name="Shape 56"/>
          <p:cNvSpPr/>
          <p:nvPr/>
        </p:nvSpPr>
        <p:spPr>
          <a:xfrm>
            <a:off x="384048" y="4489704"/>
            <a:ext cx="502920" cy="274320"/>
          </a:xfrm>
          <a:prstGeom prst="roundRect">
            <a:avLst>
              <a:gd name="adj" fmla="val 20000"/>
            </a:avLst>
          </a:prstGeom>
          <a:solidFill>
            <a:srgbClr val="A8D8C0">
              <a:alpha val="80000"/>
            </a:srgbClr>
          </a:solidFill>
          <a:ln w="12700">
            <a:solidFill>
              <a:srgbClr val="A8D8C0"/>
            </a:solidFill>
            <a:prstDash val="solid"/>
          </a:ln>
        </p:spPr>
      </p:sp>
      <p:sp>
        <p:nvSpPr>
          <p:cNvPr id="59" name="Text 57"/>
          <p:cNvSpPr/>
          <p:nvPr/>
        </p:nvSpPr>
        <p:spPr>
          <a:xfrm>
            <a:off x="384048" y="4489704"/>
            <a:ext cx="502920" cy="274320"/>
          </a:xfrm>
          <a:prstGeom prst="rect">
            <a:avLst/>
          </a:prstGeom>
          <a:noFill/>
        </p:spPr>
        <p:txBody>
          <a:bodyPr wrap="square" lIns="0" tIns="0" rIns="0" bIns="0" rtlCol="0" anchor="ctr"/>
          <a:lstStyle/>
          <a:p>
            <a:pPr marL="0" indent="0" algn="ctr">
              <a:buNone/>
            </a:pPr>
            <a:r>
              <a:rPr lang="en-US" sz="1000" b="1" dirty="0">
                <a:solidFill>
                  <a:srgbClr val="FFFFFF"/>
                </a:solidFill>
              </a:rPr>
              <a:t>O8</a:t>
            </a:r>
            <a:endParaRPr lang="en-US" sz="1000" dirty="0"/>
          </a:p>
        </p:txBody>
      </p:sp>
      <p:sp>
        <p:nvSpPr>
          <p:cNvPr id="60" name="Text 58"/>
          <p:cNvSpPr/>
          <p:nvPr/>
        </p:nvSpPr>
        <p:spPr>
          <a:xfrm>
            <a:off x="969264" y="4471416"/>
            <a:ext cx="1783080" cy="292608"/>
          </a:xfrm>
          <a:prstGeom prst="rect">
            <a:avLst/>
          </a:prstGeom>
          <a:noFill/>
        </p:spPr>
        <p:txBody>
          <a:bodyPr wrap="square" lIns="0" tIns="0" rIns="0" bIns="0" rtlCol="0" anchor="ctr"/>
          <a:lstStyle/>
          <a:p>
            <a:pPr marL="0" indent="0" algn="l">
              <a:buNone/>
            </a:pPr>
            <a:r>
              <a:rPr lang="en-US" sz="1100" b="1" dirty="0">
                <a:solidFill>
                  <a:srgbClr val="FFFFFF"/>
                </a:solidFill>
              </a:rPr>
              <a:t>Compliance Audit</a:t>
            </a:r>
            <a:endParaRPr lang="en-US" sz="1100" dirty="0"/>
          </a:p>
        </p:txBody>
      </p:sp>
      <p:sp>
        <p:nvSpPr>
          <p:cNvPr id="61" name="Text 59"/>
          <p:cNvSpPr/>
          <p:nvPr/>
        </p:nvSpPr>
        <p:spPr>
          <a:xfrm>
            <a:off x="2816352" y="4471416"/>
            <a:ext cx="5138928" cy="292608"/>
          </a:xfrm>
          <a:prstGeom prst="rect">
            <a:avLst/>
          </a:prstGeom>
          <a:noFill/>
        </p:spPr>
        <p:txBody>
          <a:bodyPr wrap="square" lIns="0" tIns="0" rIns="0" bIns="0" rtlCol="0" anchor="ctr"/>
          <a:lstStyle/>
          <a:p>
            <a:pPr marL="0" indent="0" algn="l">
              <a:buNone/>
            </a:pPr>
            <a:r>
              <a:rPr lang="en-US" sz="1000" dirty="0">
                <a:solidFill>
                  <a:srgbClr val="F2BBCC"/>
                </a:solidFill>
                <a:latin typeface="Calibri" panose="020F0502020204030204" pitchFamily="34" charset="0"/>
                <a:ea typeface="Calibri" panose="020F0502020204030204" pitchFamily="34" charset="-122"/>
                <a:cs typeface="Calibri" panose="020F0502020204030204" pitchFamily="34" charset="-120"/>
              </a:rPr>
              <a:t>42 of 44 violations documented. Root cause identified. System corrected.</a:t>
            </a:r>
            <a:endParaRPr lang="en-US" sz="1000" dirty="0"/>
          </a:p>
        </p:txBody>
      </p:sp>
      <p:sp>
        <p:nvSpPr>
          <p:cNvPr id="62" name="Shape 60"/>
          <p:cNvSpPr/>
          <p:nvPr/>
        </p:nvSpPr>
        <p:spPr>
          <a:xfrm>
            <a:off x="8065008" y="4489704"/>
            <a:ext cx="658368" cy="274320"/>
          </a:xfrm>
          <a:prstGeom prst="roundRect">
            <a:avLst>
              <a:gd name="adj" fmla="val 20000"/>
            </a:avLst>
          </a:prstGeom>
          <a:solidFill>
            <a:srgbClr val="A8D8C0"/>
          </a:solidFill>
          <a:ln w="12700">
            <a:solidFill>
              <a:srgbClr val="A8D8C0"/>
            </a:solidFill>
            <a:prstDash val="solid"/>
          </a:ln>
        </p:spPr>
      </p:sp>
      <p:sp>
        <p:nvSpPr>
          <p:cNvPr id="63" name="Text 61"/>
          <p:cNvSpPr/>
          <p:nvPr/>
        </p:nvSpPr>
        <p:spPr>
          <a:xfrm>
            <a:off x="8065008" y="4489704"/>
            <a:ext cx="658368" cy="274320"/>
          </a:xfrm>
          <a:prstGeom prst="rect">
            <a:avLst/>
          </a:prstGeom>
          <a:noFill/>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64" name="Shape 62"/>
          <p:cNvSpPr/>
          <p:nvPr/>
        </p:nvSpPr>
        <p:spPr>
          <a:xfrm>
            <a:off x="320040" y="4937760"/>
            <a:ext cx="8503920" cy="292608"/>
          </a:xfrm>
          <a:prstGeom prst="rect">
            <a:avLst/>
          </a:prstGeom>
          <a:solidFill>
            <a:srgbClr val="E8F8F0">
              <a:alpha val="20000"/>
            </a:srgbClr>
          </a:solidFill>
          <a:ln w="12700">
            <a:solidFill>
              <a:srgbClr val="5FAF8A"/>
            </a:solidFill>
            <a:prstDash val="solid"/>
          </a:ln>
        </p:spPr>
      </p:sp>
      <p:sp>
        <p:nvSpPr>
          <p:cNvPr id="65" name="Text 63"/>
          <p:cNvSpPr/>
          <p:nvPr/>
        </p:nvSpPr>
        <p:spPr>
          <a:xfrm>
            <a:off x="457200" y="4937760"/>
            <a:ext cx="8229600" cy="292608"/>
          </a:xfrm>
          <a:prstGeom prst="rect">
            <a:avLst/>
          </a:prstGeom>
          <a:noFill/>
        </p:spPr>
        <p:txBody>
          <a:bodyPr wrap="square" lIns="0" tIns="0" rIns="0" bIns="0" rtlCol="0" anchor="ctr"/>
          <a:lstStyle/>
          <a:p>
            <a:pPr marL="0" indent="0" algn="ctr">
              <a:buNone/>
            </a:pPr>
            <a:r>
              <a:rPr lang="en-US" sz="1050" b="1" dirty="0">
                <a:solidFill>
                  <a:srgbClr val="2E7A58"/>
                </a:solidFill>
              </a:rPr>
              <a:t>VERDICT: 8 of 8 Objectives Achieved  ·  Precision@4 = 1.00 (Target: 0.75)  ·  Coverage = 100%  ·  Zakat Violations = 0 going forward</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BF5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C9617A"/>
          </a:solidFill>
          <a:ln w="12700">
            <a:solidFill>
              <a:srgbClr val="C9617A"/>
            </a:solidFill>
            <a:prstDash val="solid"/>
          </a:ln>
        </p:spPr>
      </p:sp>
      <p:sp>
        <p:nvSpPr>
          <p:cNvPr id="3" name="Shape 1"/>
          <p:cNvSpPr/>
          <p:nvPr/>
        </p:nvSpPr>
        <p:spPr>
          <a:xfrm>
            <a:off x="0" y="4892040"/>
            <a:ext cx="9144000" cy="251460"/>
          </a:xfrm>
          <a:prstGeom prst="rect">
            <a:avLst/>
          </a:prstGeom>
          <a:solidFill>
            <a:srgbClr val="A0395A"/>
          </a:solidFill>
          <a:ln w="12700">
            <a:solidFill>
              <a:srgbClr val="A0395A"/>
            </a:solidFill>
            <a:prstDash val="solid"/>
          </a:ln>
        </p:spPr>
      </p:sp>
      <p:sp>
        <p:nvSpPr>
          <p:cNvPr id="4" name="Text 2"/>
          <p:cNvSpPr/>
          <p:nvPr/>
        </p:nvSpPr>
        <p:spPr>
          <a:xfrm>
            <a:off x="274320" y="4892040"/>
            <a:ext cx="8595360" cy="251460"/>
          </a:xfrm>
          <a:prstGeom prst="rect">
            <a:avLst/>
          </a:prstGeom>
          <a:noFill/>
        </p:spPr>
        <p:txBody>
          <a:bodyPr wrap="square" lIns="0" tIns="0" rIns="0" bIns="0" rtlCol="0" anchor="ctr"/>
          <a:lstStyle/>
          <a:p>
            <a:pPr marL="0" indent="0" algn="ctr">
              <a:buNone/>
            </a:pPr>
            <a:r>
              <a:rPr lang="en-US" sz="850" dirty="0">
                <a:solidFill>
                  <a:srgbClr val="F2BBCC"/>
                </a:solidFill>
                <a:latin typeface="Calibri" panose="020F0502020204030204" pitchFamily="34" charset="0"/>
                <a:ea typeface="Calibri" panose="020F0502020204030204" pitchFamily="34" charset="-122"/>
                <a:cs typeface="Calibri" panose="020F0502020204030204" pitchFamily="34" charset="-120"/>
              </a:rPr>
              <a:t>KHCC AidConnect  ·  Graduation Project Defense  ·  Mallak Abu Sada &amp; Maya Abu Aslahamat  ·  2025/2026</a:t>
            </a:r>
            <a:endParaRPr lang="en-US" sz="850" dirty="0"/>
          </a:p>
        </p:txBody>
      </p:sp>
      <p:sp>
        <p:nvSpPr>
          <p:cNvPr id="5" name="Shape 3"/>
          <p:cNvSpPr/>
          <p:nvPr/>
        </p:nvSpPr>
        <p:spPr>
          <a:xfrm>
            <a:off x="7790688" y="256032"/>
            <a:ext cx="1005840" cy="274320"/>
          </a:xfrm>
          <a:prstGeom prst="roundRect">
            <a:avLst>
              <a:gd name="adj" fmla="val 20000"/>
            </a:avLst>
          </a:prstGeom>
          <a:solidFill>
            <a:srgbClr val="E8855A"/>
          </a:solidFill>
          <a:ln w="12700">
            <a:solidFill>
              <a:srgbClr val="E8855A"/>
            </a:solidFill>
            <a:prstDash val="solid"/>
          </a:ln>
        </p:spPr>
      </p:sp>
      <p:sp>
        <p:nvSpPr>
          <p:cNvPr id="6" name="Text 4"/>
          <p:cNvSpPr/>
          <p:nvPr/>
        </p:nvSpPr>
        <p:spPr>
          <a:xfrm>
            <a:off x="7790688" y="256032"/>
            <a:ext cx="1005840" cy="274320"/>
          </a:xfrm>
          <a:prstGeom prst="rect">
            <a:avLst/>
          </a:prstGeom>
          <a:noFill/>
        </p:spPr>
        <p:txBody>
          <a:bodyPr wrap="square" lIns="0" tIns="0" rIns="0" bIns="0" rtlCol="0" anchor="ctr"/>
          <a:lstStyle/>
          <a:p>
            <a:pPr marL="0" indent="0" algn="ctr">
              <a:buNone/>
            </a:pPr>
            <a:r>
              <a:rPr lang="en-US" sz="850" b="1" kern="0" spc="50" dirty="0">
                <a:solidFill>
                  <a:srgbClr val="FFFFFF"/>
                </a:solidFill>
              </a:rPr>
              <a:t>SLIDE 18 / 20</a:t>
            </a:r>
            <a:endParaRPr lang="en-US" sz="850" dirty="0"/>
          </a:p>
        </p:txBody>
      </p:sp>
      <p:sp>
        <p:nvSpPr>
          <p:cNvPr id="7" name="Text 5"/>
          <p:cNvSpPr/>
          <p:nvPr/>
        </p:nvSpPr>
        <p:spPr>
          <a:xfrm>
            <a:off x="411480" y="164592"/>
            <a:ext cx="7772400" cy="594360"/>
          </a:xfrm>
          <a:prstGeom prst="rect">
            <a:avLst/>
          </a:prstGeom>
          <a:noFill/>
        </p:spPr>
        <p:txBody>
          <a:bodyPr wrap="square" lIns="0" tIns="0" rIns="0" bIns="0" rtlCol="0" anchor="ctr"/>
          <a:lstStyle/>
          <a:p>
            <a:pPr marL="0" indent="0" algn="l">
              <a:buNone/>
            </a:pPr>
            <a:r>
              <a:rPr lang="en-US" sz="2600" b="1" dirty="0">
                <a:solidFill>
                  <a:srgbClr val="FFFFFF"/>
                </a:solidFill>
                <a:latin typeface="Georgia" panose="02040502050405020303" pitchFamily="34" charset="0"/>
                <a:ea typeface="Georgia" panose="02040502050405020303" pitchFamily="34" charset="-122"/>
                <a:cs typeface="Georgia" panose="02040502050405020303" pitchFamily="34" charset="-120"/>
              </a:rPr>
              <a:t>Verification of Deliverables</a:t>
            </a:r>
            <a:endParaRPr lang="en-US" sz="2600" dirty="0"/>
          </a:p>
        </p:txBody>
      </p:sp>
      <p:sp>
        <p:nvSpPr>
          <p:cNvPr id="8" name="Shape 6"/>
          <p:cNvSpPr/>
          <p:nvPr/>
        </p:nvSpPr>
        <p:spPr>
          <a:xfrm>
            <a:off x="320040" y="1024128"/>
            <a:ext cx="4069080" cy="3703320"/>
          </a:xfrm>
          <a:prstGeom prst="rect">
            <a:avLst/>
          </a:prstGeom>
          <a:solidFill>
            <a:srgbClr val="F0EAFA"/>
          </a:solidFill>
          <a:ln w="12700">
            <a:solidFill>
              <a:srgbClr val="B8A0D8"/>
            </a:solidFill>
            <a:prstDash val="solid"/>
          </a:ln>
          <a:effectLst>
            <a:outerShdw blurRad="76200" dist="25400" dir="8100000" algn="bl" rotWithShape="0">
              <a:srgbClr val="B8A0D8">
                <a:alpha val="12000"/>
              </a:srgbClr>
            </a:outerShdw>
          </a:effectLst>
        </p:spPr>
      </p:sp>
      <p:sp>
        <p:nvSpPr>
          <p:cNvPr id="9" name="Shape 7"/>
          <p:cNvSpPr/>
          <p:nvPr/>
        </p:nvSpPr>
        <p:spPr>
          <a:xfrm>
            <a:off x="320040" y="1024128"/>
            <a:ext cx="4069080" cy="384048"/>
          </a:xfrm>
          <a:prstGeom prst="rect">
            <a:avLst/>
          </a:prstGeom>
          <a:solidFill>
            <a:srgbClr val="7B5EA7"/>
          </a:solidFill>
          <a:ln w="12700">
            <a:solidFill>
              <a:srgbClr val="7B5EA7"/>
            </a:solidFill>
            <a:prstDash val="solid"/>
          </a:ln>
        </p:spPr>
      </p:sp>
      <p:sp>
        <p:nvSpPr>
          <p:cNvPr id="10" name="Text 8"/>
          <p:cNvSpPr/>
          <p:nvPr/>
        </p:nvSpPr>
        <p:spPr>
          <a:xfrm>
            <a:off x="457200" y="1024128"/>
            <a:ext cx="3840480" cy="384048"/>
          </a:xfrm>
          <a:prstGeom prst="rect">
            <a:avLst/>
          </a:prstGeom>
          <a:noFill/>
        </p:spPr>
        <p:txBody>
          <a:bodyPr wrap="square" lIns="0" tIns="0" rIns="0" bIns="0" rtlCol="0" anchor="ctr"/>
          <a:lstStyle/>
          <a:p>
            <a:pPr marL="0" indent="0" algn="l">
              <a:buNone/>
            </a:pPr>
            <a:r>
              <a:rPr lang="en-US" sz="1300" b="1" dirty="0">
                <a:solidFill>
                  <a:srgbClr val="FFFFFF"/>
                </a:solidFill>
              </a:rPr>
              <a:t>🐙  GitHub Repository</a:t>
            </a:r>
            <a:endParaRPr lang="en-US" sz="1300" dirty="0"/>
          </a:p>
        </p:txBody>
      </p:sp>
      <p:sp>
        <p:nvSpPr>
          <p:cNvPr id="11" name="Shape 9"/>
          <p:cNvSpPr/>
          <p:nvPr/>
        </p:nvSpPr>
        <p:spPr>
          <a:xfrm>
            <a:off x="457200" y="1508760"/>
            <a:ext cx="1691640" cy="1691640"/>
          </a:xfrm>
          <a:prstGeom prst="rect">
            <a:avLst/>
          </a:prstGeom>
          <a:solidFill>
            <a:srgbClr val="FFFFFF"/>
          </a:solidFill>
          <a:ln w="12700">
            <a:solidFill>
              <a:srgbClr val="B8A0D8"/>
            </a:solidFill>
            <a:prstDash val="solid"/>
          </a:ln>
        </p:spPr>
      </p:sp>
      <p:sp>
        <p:nvSpPr>
          <p:cNvPr id="12" name="Text 10"/>
          <p:cNvSpPr/>
          <p:nvPr/>
        </p:nvSpPr>
        <p:spPr>
          <a:xfrm>
            <a:off x="457200" y="1508760"/>
            <a:ext cx="1691640" cy="1691640"/>
          </a:xfrm>
          <a:prstGeom prst="rect">
            <a:avLst/>
          </a:prstGeom>
          <a:noFill/>
        </p:spPr>
        <p:txBody>
          <a:bodyPr wrap="square" lIns="0" tIns="0" rIns="0" bIns="0" rtlCol="0" anchor="ctr"/>
          <a:lstStyle/>
          <a:p>
            <a:pPr marL="0" indent="0" algn="ctr">
              <a:buNone/>
            </a:pPr>
            <a:r>
              <a:rPr lang="en-US" sz="1100" i="1" dirty="0">
                <a:solidFill>
                  <a:srgbClr val="9A7A90"/>
                </a:solidFill>
              </a:rPr>
              <a:t>[ QR CODE</a:t>
            </a:r>
            <a:endParaRPr lang="en-US" sz="1100" dirty="0"/>
          </a:p>
          <a:p>
            <a:pPr marL="0" indent="0" algn="ctr">
              <a:buNone/>
            </a:pPr>
            <a:r>
              <a:rPr lang="en-US" sz="1100" i="1" dirty="0">
                <a:solidFill>
                  <a:srgbClr val="9A7A90"/>
                </a:solidFill>
              </a:rPr>
              <a:t>HERE ]</a:t>
            </a:r>
            <a:endParaRPr lang="en-US" sz="1100" dirty="0"/>
          </a:p>
        </p:txBody>
      </p:sp>
      <p:sp>
        <p:nvSpPr>
          <p:cNvPr id="13" name="Text 11"/>
          <p:cNvSpPr/>
          <p:nvPr/>
        </p:nvSpPr>
        <p:spPr>
          <a:xfrm>
            <a:off x="2240280" y="1572768"/>
            <a:ext cx="2057400" cy="320040"/>
          </a:xfrm>
          <a:prstGeom prst="rect">
            <a:avLst/>
          </a:prstGeom>
          <a:noFill/>
        </p:spPr>
        <p:txBody>
          <a:bodyPr wrap="square" lIns="0" tIns="0" rIns="0" bIns="0" rtlCol="0" anchor="ctr"/>
          <a:lstStyle/>
          <a:p>
            <a:pPr marL="0" indent="0" algn="l">
              <a:buNone/>
            </a:pPr>
            <a:r>
              <a:rPr lang="en-US" sz="1000" b="1" dirty="0">
                <a:solidFill>
                  <a:srgbClr val="7B5EA7"/>
                </a:solidFill>
                <a:latin typeface="Calibri" panose="020F0502020204030204" pitchFamily="34" charset="0"/>
                <a:ea typeface="Calibri" panose="020F0502020204030204" pitchFamily="34" charset="-122"/>
                <a:cs typeface="Calibri" panose="020F0502020204030204" pitchFamily="34" charset="-120"/>
              </a:rPr>
              <a:t>github.com/KHCC-AidConnect/GP-2026</a:t>
            </a:r>
            <a:endParaRPr lang="en-US" sz="1000" dirty="0"/>
          </a:p>
        </p:txBody>
      </p:sp>
      <p:sp>
        <p:nvSpPr>
          <p:cNvPr id="14" name="Shape 12"/>
          <p:cNvSpPr/>
          <p:nvPr/>
        </p:nvSpPr>
        <p:spPr>
          <a:xfrm>
            <a:off x="2304288" y="2103120"/>
            <a:ext cx="82296" cy="82296"/>
          </a:xfrm>
          <a:prstGeom prst="ellipse">
            <a:avLst/>
          </a:prstGeom>
          <a:solidFill>
            <a:srgbClr val="B8A0D8"/>
          </a:solidFill>
          <a:ln w="12700">
            <a:solidFill>
              <a:srgbClr val="B8A0D8"/>
            </a:solidFill>
            <a:prstDash val="solid"/>
          </a:ln>
        </p:spPr>
      </p:sp>
      <p:sp>
        <p:nvSpPr>
          <p:cNvPr id="15" name="Text 13"/>
          <p:cNvSpPr/>
          <p:nvPr/>
        </p:nvSpPr>
        <p:spPr>
          <a:xfrm>
            <a:off x="2450592" y="1975104"/>
            <a:ext cx="1828800" cy="274320"/>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Notebooks 01–06 (.ipynb)</a:t>
            </a:r>
            <a:endParaRPr lang="en-US" sz="950" dirty="0"/>
          </a:p>
        </p:txBody>
      </p:sp>
      <p:sp>
        <p:nvSpPr>
          <p:cNvPr id="16" name="Shape 14"/>
          <p:cNvSpPr/>
          <p:nvPr/>
        </p:nvSpPr>
        <p:spPr>
          <a:xfrm>
            <a:off x="2304288" y="2395728"/>
            <a:ext cx="82296" cy="82296"/>
          </a:xfrm>
          <a:prstGeom prst="ellipse">
            <a:avLst/>
          </a:prstGeom>
          <a:solidFill>
            <a:srgbClr val="B8A0D8"/>
          </a:solidFill>
          <a:ln w="12700">
            <a:solidFill>
              <a:srgbClr val="B8A0D8"/>
            </a:solidFill>
            <a:prstDash val="solid"/>
          </a:ln>
        </p:spPr>
      </p:sp>
      <p:sp>
        <p:nvSpPr>
          <p:cNvPr id="17" name="Text 15"/>
          <p:cNvSpPr/>
          <p:nvPr/>
        </p:nvSpPr>
        <p:spPr>
          <a:xfrm>
            <a:off x="2450592" y="2267712"/>
            <a:ext cx="1828800" cy="274320"/>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patients_clean.csv (111×27)</a:t>
            </a:r>
            <a:endParaRPr lang="en-US" sz="950" dirty="0"/>
          </a:p>
        </p:txBody>
      </p:sp>
      <p:sp>
        <p:nvSpPr>
          <p:cNvPr id="18" name="Shape 16"/>
          <p:cNvSpPr/>
          <p:nvPr/>
        </p:nvSpPr>
        <p:spPr>
          <a:xfrm>
            <a:off x="2304288" y="2688336"/>
            <a:ext cx="82296" cy="82296"/>
          </a:xfrm>
          <a:prstGeom prst="ellipse">
            <a:avLst/>
          </a:prstGeom>
          <a:solidFill>
            <a:srgbClr val="B8A0D8"/>
          </a:solidFill>
          <a:ln w="12700">
            <a:solidFill>
              <a:srgbClr val="B8A0D8"/>
            </a:solidFill>
            <a:prstDash val="solid"/>
          </a:ln>
        </p:spPr>
      </p:sp>
      <p:sp>
        <p:nvSpPr>
          <p:cNvPr id="19" name="Text 17"/>
          <p:cNvSpPr/>
          <p:nvPr/>
        </p:nvSpPr>
        <p:spPr>
          <a:xfrm>
            <a:off x="2450592" y="2560320"/>
            <a:ext cx="1828800" cy="274320"/>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donors_clean.csv (250×19)</a:t>
            </a:r>
            <a:endParaRPr lang="en-US" sz="950" dirty="0"/>
          </a:p>
        </p:txBody>
      </p:sp>
      <p:sp>
        <p:nvSpPr>
          <p:cNvPr id="20" name="Shape 18"/>
          <p:cNvSpPr/>
          <p:nvPr/>
        </p:nvSpPr>
        <p:spPr>
          <a:xfrm>
            <a:off x="2304288" y="2980944"/>
            <a:ext cx="82296" cy="82296"/>
          </a:xfrm>
          <a:prstGeom prst="ellipse">
            <a:avLst/>
          </a:prstGeom>
          <a:solidFill>
            <a:srgbClr val="B8A0D8"/>
          </a:solidFill>
          <a:ln w="12700">
            <a:solidFill>
              <a:srgbClr val="B8A0D8"/>
            </a:solidFill>
            <a:prstDash val="solid"/>
          </a:ln>
        </p:spPr>
      </p:sp>
      <p:sp>
        <p:nvSpPr>
          <p:cNvPr id="21" name="Text 19"/>
          <p:cNvSpPr/>
          <p:nvPr/>
        </p:nvSpPr>
        <p:spPr>
          <a:xfrm>
            <a:off x="2450592" y="2852928"/>
            <a:ext cx="1828800" cy="274320"/>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matches_clean.csv (378×10)</a:t>
            </a:r>
            <a:endParaRPr lang="en-US" sz="950" dirty="0"/>
          </a:p>
        </p:txBody>
      </p:sp>
      <p:sp>
        <p:nvSpPr>
          <p:cNvPr id="22" name="Shape 20"/>
          <p:cNvSpPr/>
          <p:nvPr/>
        </p:nvSpPr>
        <p:spPr>
          <a:xfrm>
            <a:off x="2304288" y="3273552"/>
            <a:ext cx="82296" cy="82296"/>
          </a:xfrm>
          <a:prstGeom prst="ellipse">
            <a:avLst/>
          </a:prstGeom>
          <a:solidFill>
            <a:srgbClr val="B8A0D8"/>
          </a:solidFill>
          <a:ln w="12700">
            <a:solidFill>
              <a:srgbClr val="B8A0D8"/>
            </a:solidFill>
            <a:prstDash val="solid"/>
          </a:ln>
        </p:spPr>
      </p:sp>
      <p:sp>
        <p:nvSpPr>
          <p:cNvPr id="23" name="Text 21"/>
          <p:cNvSpPr/>
          <p:nvPr/>
        </p:nvSpPr>
        <p:spPr>
          <a:xfrm>
            <a:off x="2450592" y="3145536"/>
            <a:ext cx="1828800" cy="274320"/>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AidConnect App (HTML/CSS/JS)</a:t>
            </a:r>
            <a:endParaRPr lang="en-US" sz="950" dirty="0"/>
          </a:p>
        </p:txBody>
      </p:sp>
      <p:sp>
        <p:nvSpPr>
          <p:cNvPr id="24" name="Shape 22"/>
          <p:cNvSpPr/>
          <p:nvPr/>
        </p:nvSpPr>
        <p:spPr>
          <a:xfrm>
            <a:off x="2304288" y="3566160"/>
            <a:ext cx="82296" cy="82296"/>
          </a:xfrm>
          <a:prstGeom prst="ellipse">
            <a:avLst/>
          </a:prstGeom>
          <a:solidFill>
            <a:srgbClr val="B8A0D8"/>
          </a:solidFill>
          <a:ln w="12700">
            <a:solidFill>
              <a:srgbClr val="B8A0D8"/>
            </a:solidFill>
            <a:prstDash val="solid"/>
          </a:ln>
        </p:spPr>
      </p:sp>
      <p:sp>
        <p:nvSpPr>
          <p:cNvPr id="25" name="Text 23"/>
          <p:cNvSpPr/>
          <p:nvPr/>
        </p:nvSpPr>
        <p:spPr>
          <a:xfrm>
            <a:off x="2450592" y="3438144"/>
            <a:ext cx="1828800" cy="274320"/>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README.md + run instructions</a:t>
            </a:r>
            <a:endParaRPr lang="en-US" sz="950" dirty="0"/>
          </a:p>
        </p:txBody>
      </p:sp>
      <p:sp>
        <p:nvSpPr>
          <p:cNvPr id="26" name="Shape 24"/>
          <p:cNvSpPr/>
          <p:nvPr/>
        </p:nvSpPr>
        <p:spPr>
          <a:xfrm>
            <a:off x="2304288" y="3858768"/>
            <a:ext cx="82296" cy="82296"/>
          </a:xfrm>
          <a:prstGeom prst="ellipse">
            <a:avLst/>
          </a:prstGeom>
          <a:solidFill>
            <a:srgbClr val="B8A0D8"/>
          </a:solidFill>
          <a:ln w="12700">
            <a:solidFill>
              <a:srgbClr val="B8A0D8"/>
            </a:solidFill>
            <a:prstDash val="solid"/>
          </a:ln>
        </p:spPr>
      </p:sp>
      <p:sp>
        <p:nvSpPr>
          <p:cNvPr id="27" name="Text 25"/>
          <p:cNvSpPr/>
          <p:nvPr/>
        </p:nvSpPr>
        <p:spPr>
          <a:xfrm>
            <a:off x="2450592" y="3730752"/>
            <a:ext cx="1828800" cy="274320"/>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requirements.txt</a:t>
            </a:r>
            <a:endParaRPr lang="en-US" sz="950" dirty="0"/>
          </a:p>
        </p:txBody>
      </p:sp>
      <p:sp>
        <p:nvSpPr>
          <p:cNvPr id="28" name="Shape 26"/>
          <p:cNvSpPr/>
          <p:nvPr/>
        </p:nvSpPr>
        <p:spPr>
          <a:xfrm>
            <a:off x="4754880" y="1024128"/>
            <a:ext cx="4069080" cy="3703320"/>
          </a:xfrm>
          <a:prstGeom prst="rect">
            <a:avLst/>
          </a:prstGeom>
          <a:solidFill>
            <a:srgbClr val="FEF0E8"/>
          </a:solidFill>
          <a:ln w="12700">
            <a:solidFill>
              <a:srgbClr val="F5C0A0"/>
            </a:solidFill>
            <a:prstDash val="solid"/>
          </a:ln>
          <a:effectLst>
            <a:outerShdw blurRad="76200" dist="25400" dir="8100000" algn="bl" rotWithShape="0">
              <a:srgbClr val="B8A0D8">
                <a:alpha val="12000"/>
              </a:srgbClr>
            </a:outerShdw>
          </a:effectLst>
        </p:spPr>
      </p:sp>
      <p:sp>
        <p:nvSpPr>
          <p:cNvPr id="29" name="Shape 27"/>
          <p:cNvSpPr/>
          <p:nvPr/>
        </p:nvSpPr>
        <p:spPr>
          <a:xfrm>
            <a:off x="4754880" y="1024128"/>
            <a:ext cx="4069080" cy="384048"/>
          </a:xfrm>
          <a:prstGeom prst="rect">
            <a:avLst/>
          </a:prstGeom>
          <a:solidFill>
            <a:srgbClr val="E8855A"/>
          </a:solidFill>
          <a:ln w="12700">
            <a:solidFill>
              <a:srgbClr val="E8855A"/>
            </a:solidFill>
            <a:prstDash val="solid"/>
          </a:ln>
        </p:spPr>
      </p:sp>
      <p:sp>
        <p:nvSpPr>
          <p:cNvPr id="30" name="Text 28"/>
          <p:cNvSpPr/>
          <p:nvPr/>
        </p:nvSpPr>
        <p:spPr>
          <a:xfrm>
            <a:off x="4892040" y="1024128"/>
            <a:ext cx="3840480" cy="384048"/>
          </a:xfrm>
          <a:prstGeom prst="rect">
            <a:avLst/>
          </a:prstGeom>
          <a:noFill/>
        </p:spPr>
        <p:txBody>
          <a:bodyPr wrap="square" lIns="0" tIns="0" rIns="0" bIns="0" rtlCol="0" anchor="ctr"/>
          <a:lstStyle/>
          <a:p>
            <a:pPr marL="0" indent="0" algn="l">
              <a:buNone/>
            </a:pPr>
            <a:r>
              <a:rPr lang="en-US" sz="1300" b="1" dirty="0">
                <a:solidFill>
                  <a:srgbClr val="FFFFFF"/>
                </a:solidFill>
              </a:rPr>
              <a:t>📁  Google Drive Folder</a:t>
            </a:r>
            <a:endParaRPr lang="en-US" sz="1300" dirty="0"/>
          </a:p>
        </p:txBody>
      </p:sp>
      <p:sp>
        <p:nvSpPr>
          <p:cNvPr id="31" name="Shape 29"/>
          <p:cNvSpPr/>
          <p:nvPr/>
        </p:nvSpPr>
        <p:spPr>
          <a:xfrm>
            <a:off x="4892040" y="1508760"/>
            <a:ext cx="1691640" cy="1691640"/>
          </a:xfrm>
          <a:prstGeom prst="rect">
            <a:avLst/>
          </a:prstGeom>
          <a:solidFill>
            <a:srgbClr val="FFFFFF"/>
          </a:solidFill>
          <a:ln w="12700">
            <a:solidFill>
              <a:srgbClr val="F5C0A0"/>
            </a:solidFill>
            <a:prstDash val="solid"/>
          </a:ln>
        </p:spPr>
      </p:sp>
      <p:sp>
        <p:nvSpPr>
          <p:cNvPr id="32" name="Text 30"/>
          <p:cNvSpPr/>
          <p:nvPr/>
        </p:nvSpPr>
        <p:spPr>
          <a:xfrm>
            <a:off x="4892040" y="1508760"/>
            <a:ext cx="1691640" cy="1691640"/>
          </a:xfrm>
          <a:prstGeom prst="rect">
            <a:avLst/>
          </a:prstGeom>
          <a:noFill/>
        </p:spPr>
        <p:txBody>
          <a:bodyPr wrap="square" lIns="0" tIns="0" rIns="0" bIns="0" rtlCol="0" anchor="ctr"/>
          <a:lstStyle/>
          <a:p>
            <a:pPr marL="0" indent="0" algn="ctr">
              <a:buNone/>
            </a:pPr>
            <a:r>
              <a:rPr lang="en-US" sz="1100" i="1" dirty="0">
                <a:solidFill>
                  <a:srgbClr val="9A7A90"/>
                </a:solidFill>
              </a:rPr>
              <a:t>[ QR CODE</a:t>
            </a:r>
            <a:endParaRPr lang="en-US" sz="1100" dirty="0"/>
          </a:p>
          <a:p>
            <a:pPr marL="0" indent="0" algn="ctr">
              <a:buNone/>
            </a:pPr>
            <a:r>
              <a:rPr lang="en-US" sz="1100" i="1" dirty="0">
                <a:solidFill>
                  <a:srgbClr val="9A7A90"/>
                </a:solidFill>
              </a:rPr>
              <a:t>HERE ]</a:t>
            </a:r>
            <a:endParaRPr lang="en-US" sz="1100" dirty="0"/>
          </a:p>
        </p:txBody>
      </p:sp>
      <p:sp>
        <p:nvSpPr>
          <p:cNvPr id="33" name="Text 31"/>
          <p:cNvSpPr/>
          <p:nvPr/>
        </p:nvSpPr>
        <p:spPr>
          <a:xfrm>
            <a:off x="6675120" y="1572768"/>
            <a:ext cx="2057400" cy="320040"/>
          </a:xfrm>
          <a:prstGeom prst="rect">
            <a:avLst/>
          </a:prstGeom>
          <a:noFill/>
        </p:spPr>
        <p:txBody>
          <a:bodyPr wrap="square" lIns="0" tIns="0" rIns="0" bIns="0" rtlCol="0" anchor="ctr"/>
          <a:lstStyle/>
          <a:p>
            <a:pPr marL="0" indent="0" algn="l">
              <a:buNone/>
            </a:pPr>
            <a:r>
              <a:rPr lang="en-US" sz="1000" b="1" dirty="0">
                <a:solidFill>
                  <a:srgbClr val="E8855A"/>
                </a:solidFill>
                <a:latin typeface="Calibri" panose="020F0502020204030204" pitchFamily="34" charset="0"/>
                <a:ea typeface="Calibri" panose="020F0502020204030204" pitchFamily="34" charset="-122"/>
                <a:cs typeface="Calibri" panose="020F0502020204030204" pitchFamily="34" charset="-120"/>
              </a:rPr>
              <a:t>drive.google.com/KHCC-AidConnect-GP-2026</a:t>
            </a:r>
            <a:endParaRPr lang="en-US" sz="1000" dirty="0"/>
          </a:p>
        </p:txBody>
      </p:sp>
      <p:sp>
        <p:nvSpPr>
          <p:cNvPr id="34" name="Shape 32"/>
          <p:cNvSpPr/>
          <p:nvPr/>
        </p:nvSpPr>
        <p:spPr>
          <a:xfrm>
            <a:off x="6739128" y="2103120"/>
            <a:ext cx="82296" cy="82296"/>
          </a:xfrm>
          <a:prstGeom prst="ellipse">
            <a:avLst/>
          </a:prstGeom>
          <a:solidFill>
            <a:srgbClr val="E8855A"/>
          </a:solidFill>
          <a:ln w="12700">
            <a:solidFill>
              <a:srgbClr val="E8855A"/>
            </a:solidFill>
            <a:prstDash val="solid"/>
          </a:ln>
        </p:spPr>
      </p:sp>
      <p:sp>
        <p:nvSpPr>
          <p:cNvPr id="35" name="Text 33"/>
          <p:cNvSpPr/>
          <p:nvPr/>
        </p:nvSpPr>
        <p:spPr>
          <a:xfrm>
            <a:off x="6885432" y="1975104"/>
            <a:ext cx="1810512" cy="274320"/>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Final Report (PDF + Word)</a:t>
            </a:r>
            <a:endParaRPr lang="en-US" sz="950" dirty="0"/>
          </a:p>
        </p:txBody>
      </p:sp>
      <p:sp>
        <p:nvSpPr>
          <p:cNvPr id="36" name="Shape 34"/>
          <p:cNvSpPr/>
          <p:nvPr/>
        </p:nvSpPr>
        <p:spPr>
          <a:xfrm>
            <a:off x="6739128" y="2395728"/>
            <a:ext cx="82296" cy="82296"/>
          </a:xfrm>
          <a:prstGeom prst="ellipse">
            <a:avLst/>
          </a:prstGeom>
          <a:solidFill>
            <a:srgbClr val="E8855A"/>
          </a:solidFill>
          <a:ln w="12700">
            <a:solidFill>
              <a:srgbClr val="E8855A"/>
            </a:solidFill>
            <a:prstDash val="solid"/>
          </a:ln>
        </p:spPr>
      </p:sp>
      <p:sp>
        <p:nvSpPr>
          <p:cNvPr id="37" name="Text 35"/>
          <p:cNvSpPr/>
          <p:nvPr/>
        </p:nvSpPr>
        <p:spPr>
          <a:xfrm>
            <a:off x="6885432" y="2267712"/>
            <a:ext cx="1810512" cy="274320"/>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Tableau Workbook (.twbx)</a:t>
            </a:r>
            <a:endParaRPr lang="en-US" sz="950" dirty="0"/>
          </a:p>
        </p:txBody>
      </p:sp>
      <p:sp>
        <p:nvSpPr>
          <p:cNvPr id="38" name="Shape 36"/>
          <p:cNvSpPr/>
          <p:nvPr/>
        </p:nvSpPr>
        <p:spPr>
          <a:xfrm>
            <a:off x="6739128" y="2688336"/>
            <a:ext cx="82296" cy="82296"/>
          </a:xfrm>
          <a:prstGeom prst="ellipse">
            <a:avLst/>
          </a:prstGeom>
          <a:solidFill>
            <a:srgbClr val="E8855A"/>
          </a:solidFill>
          <a:ln w="12700">
            <a:solidFill>
              <a:srgbClr val="E8855A"/>
            </a:solidFill>
            <a:prstDash val="solid"/>
          </a:ln>
        </p:spPr>
      </p:sp>
      <p:sp>
        <p:nvSpPr>
          <p:cNvPr id="39" name="Text 37"/>
          <p:cNvSpPr/>
          <p:nvPr/>
        </p:nvSpPr>
        <p:spPr>
          <a:xfrm>
            <a:off x="6885432" y="2560320"/>
            <a:ext cx="1810512" cy="274320"/>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Presentation Slides (.pptx)</a:t>
            </a:r>
            <a:endParaRPr lang="en-US" sz="950" dirty="0"/>
          </a:p>
        </p:txBody>
      </p:sp>
      <p:sp>
        <p:nvSpPr>
          <p:cNvPr id="40" name="Shape 38"/>
          <p:cNvSpPr/>
          <p:nvPr/>
        </p:nvSpPr>
        <p:spPr>
          <a:xfrm>
            <a:off x="6739128" y="2980944"/>
            <a:ext cx="82296" cy="82296"/>
          </a:xfrm>
          <a:prstGeom prst="ellipse">
            <a:avLst/>
          </a:prstGeom>
          <a:solidFill>
            <a:srgbClr val="E8855A"/>
          </a:solidFill>
          <a:ln w="12700">
            <a:solidFill>
              <a:srgbClr val="E8855A"/>
            </a:solidFill>
            <a:prstDash val="solid"/>
          </a:ln>
        </p:spPr>
      </p:sp>
      <p:sp>
        <p:nvSpPr>
          <p:cNvPr id="41" name="Text 39"/>
          <p:cNvSpPr/>
          <p:nvPr/>
        </p:nvSpPr>
        <p:spPr>
          <a:xfrm>
            <a:off x="6885432" y="2852928"/>
            <a:ext cx="1810512" cy="274320"/>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All 7 Chart PNG files</a:t>
            </a:r>
            <a:endParaRPr lang="en-US" sz="950" dirty="0"/>
          </a:p>
        </p:txBody>
      </p:sp>
      <p:sp>
        <p:nvSpPr>
          <p:cNvPr id="42" name="Shape 40"/>
          <p:cNvSpPr/>
          <p:nvPr/>
        </p:nvSpPr>
        <p:spPr>
          <a:xfrm>
            <a:off x="6739128" y="3273552"/>
            <a:ext cx="82296" cy="82296"/>
          </a:xfrm>
          <a:prstGeom prst="ellipse">
            <a:avLst/>
          </a:prstGeom>
          <a:solidFill>
            <a:srgbClr val="E8855A"/>
          </a:solidFill>
          <a:ln w="12700">
            <a:solidFill>
              <a:srgbClr val="E8855A"/>
            </a:solidFill>
            <a:prstDash val="solid"/>
          </a:ln>
        </p:spPr>
      </p:sp>
      <p:sp>
        <p:nvSpPr>
          <p:cNvPr id="43" name="Text 41"/>
          <p:cNvSpPr/>
          <p:nvPr/>
        </p:nvSpPr>
        <p:spPr>
          <a:xfrm>
            <a:off x="6885432" y="3145536"/>
            <a:ext cx="1810512" cy="274320"/>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Raw Dataset (Excel)</a:t>
            </a:r>
            <a:endParaRPr lang="en-US" sz="950" dirty="0"/>
          </a:p>
        </p:txBody>
      </p:sp>
      <p:sp>
        <p:nvSpPr>
          <p:cNvPr id="44" name="Shape 42"/>
          <p:cNvSpPr/>
          <p:nvPr/>
        </p:nvSpPr>
        <p:spPr>
          <a:xfrm>
            <a:off x="6739128" y="3566160"/>
            <a:ext cx="82296" cy="82296"/>
          </a:xfrm>
          <a:prstGeom prst="ellipse">
            <a:avLst/>
          </a:prstGeom>
          <a:solidFill>
            <a:srgbClr val="E8855A"/>
          </a:solidFill>
          <a:ln w="12700">
            <a:solidFill>
              <a:srgbClr val="E8855A"/>
            </a:solidFill>
            <a:prstDash val="solid"/>
          </a:ln>
        </p:spPr>
      </p:sp>
      <p:sp>
        <p:nvSpPr>
          <p:cNvPr id="45" name="Text 43"/>
          <p:cNvSpPr/>
          <p:nvPr/>
        </p:nvSpPr>
        <p:spPr>
          <a:xfrm>
            <a:off x="6885432" y="3438144"/>
            <a:ext cx="1810512" cy="274320"/>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App screenshots (all screens)</a:t>
            </a:r>
            <a:endParaRPr lang="en-US" sz="950" dirty="0"/>
          </a:p>
        </p:txBody>
      </p:sp>
      <p:sp>
        <p:nvSpPr>
          <p:cNvPr id="46" name="Shape 44"/>
          <p:cNvSpPr/>
          <p:nvPr/>
        </p:nvSpPr>
        <p:spPr>
          <a:xfrm>
            <a:off x="6739128" y="3858768"/>
            <a:ext cx="82296" cy="82296"/>
          </a:xfrm>
          <a:prstGeom prst="ellipse">
            <a:avLst/>
          </a:prstGeom>
          <a:solidFill>
            <a:srgbClr val="E8855A"/>
          </a:solidFill>
          <a:ln w="12700">
            <a:solidFill>
              <a:srgbClr val="E8855A"/>
            </a:solidFill>
            <a:prstDash val="solid"/>
          </a:ln>
        </p:spPr>
      </p:sp>
      <p:sp>
        <p:nvSpPr>
          <p:cNvPr id="47" name="Text 45"/>
          <p:cNvSpPr/>
          <p:nvPr/>
        </p:nvSpPr>
        <p:spPr>
          <a:xfrm>
            <a:off x="6885432" y="3730752"/>
            <a:ext cx="1810512" cy="274320"/>
          </a:xfrm>
          <a:prstGeom prst="rect">
            <a:avLst/>
          </a:prstGeom>
          <a:noFill/>
        </p:spPr>
        <p:txBody>
          <a:bodyPr wrap="square" lIns="0" tIns="0" rIns="0" bIns="0" rtlCol="0" anchor="ctr"/>
          <a:lstStyle/>
          <a:p>
            <a:pPr marL="0" indent="0" algn="l">
              <a:buNone/>
            </a:pPr>
            <a:r>
              <a:rPr lang="en-US" sz="950" dirty="0">
                <a:solidFill>
                  <a:srgbClr val="5A4058"/>
                </a:solidFill>
                <a:latin typeface="Calibri" panose="020F0502020204030204" pitchFamily="34" charset="0"/>
                <a:ea typeface="Calibri" panose="020F0502020204030204" pitchFamily="34" charset="-122"/>
                <a:cs typeface="Calibri" panose="020F0502020204030204" pitchFamily="34" charset="-120"/>
              </a:rPr>
              <a:t>Supervisor signed cover page</a:t>
            </a:r>
            <a:endParaRPr lang="en-US" sz="950" dirty="0"/>
          </a:p>
        </p:txBody>
      </p:sp>
      <p:sp>
        <p:nvSpPr>
          <p:cNvPr id="48" name="Shape 46"/>
          <p:cNvSpPr/>
          <p:nvPr/>
        </p:nvSpPr>
        <p:spPr>
          <a:xfrm>
            <a:off x="320040" y="4828032"/>
            <a:ext cx="8503920" cy="274320"/>
          </a:xfrm>
          <a:prstGeom prst="rect">
            <a:avLst/>
          </a:prstGeom>
          <a:solidFill>
            <a:srgbClr val="FCE8F0"/>
          </a:solidFill>
          <a:ln w="12700">
            <a:solidFill>
              <a:srgbClr val="E8A0BF"/>
            </a:solidFill>
            <a:prstDash val="solid"/>
          </a:ln>
        </p:spPr>
      </p:sp>
      <p:sp>
        <p:nvSpPr>
          <p:cNvPr id="49" name="Text 47"/>
          <p:cNvSpPr/>
          <p:nvPr/>
        </p:nvSpPr>
        <p:spPr>
          <a:xfrm>
            <a:off x="457200" y="4828032"/>
            <a:ext cx="8229600" cy="274320"/>
          </a:xfrm>
          <a:prstGeom prst="rect">
            <a:avLst/>
          </a:prstGeom>
          <a:noFill/>
        </p:spPr>
        <p:txBody>
          <a:bodyPr wrap="square" lIns="0" tIns="0" rIns="0" bIns="0" rtlCol="0" anchor="ctr"/>
          <a:lstStyle/>
          <a:p>
            <a:pPr marL="0" indent="0" algn="ctr">
              <a:buNone/>
            </a:pPr>
            <a:r>
              <a:rPr lang="en-US" sz="1000" b="1" dirty="0">
                <a:solidFill>
                  <a:srgbClr val="C9617A"/>
                </a:solidFill>
              </a:rPr>
              <a:t>Replace QR placeholders with actual QR codes generated from your GitHub and Google Drive links before the defense.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A1A35"/>
        </a:solidFill>
        <a:effectLst/>
      </p:bgPr>
    </p:bg>
    <p:spTree>
      <p:nvGrpSpPr>
        <p:cNvPr id="1" name=""/>
        <p:cNvGrpSpPr/>
        <p:nvPr/>
      </p:nvGrpSpPr>
      <p:grpSpPr>
        <a:xfrm>
          <a:off x="0" y="0"/>
          <a:ext cx="0" cy="0"/>
          <a:chOff x="0" y="0"/>
          <a:chExt cx="0" cy="0"/>
        </a:xfrm>
      </p:grpSpPr>
      <p:sp>
        <p:nvSpPr>
          <p:cNvPr id="2" name="Shape 0"/>
          <p:cNvSpPr/>
          <p:nvPr/>
        </p:nvSpPr>
        <p:spPr>
          <a:xfrm>
            <a:off x="0" y="4892040"/>
            <a:ext cx="9144000" cy="251460"/>
          </a:xfrm>
          <a:prstGeom prst="rect">
            <a:avLst/>
          </a:prstGeom>
          <a:solidFill>
            <a:srgbClr val="A0395A"/>
          </a:solidFill>
          <a:ln w="12700">
            <a:solidFill>
              <a:srgbClr val="A0395A"/>
            </a:solidFill>
            <a:prstDash val="solid"/>
          </a:ln>
        </p:spPr>
      </p:sp>
      <p:sp>
        <p:nvSpPr>
          <p:cNvPr id="3" name="Text 1"/>
          <p:cNvSpPr/>
          <p:nvPr/>
        </p:nvSpPr>
        <p:spPr>
          <a:xfrm>
            <a:off x="274320" y="4892040"/>
            <a:ext cx="8595360" cy="251460"/>
          </a:xfrm>
          <a:prstGeom prst="rect">
            <a:avLst/>
          </a:prstGeom>
          <a:noFill/>
        </p:spPr>
        <p:txBody>
          <a:bodyPr wrap="square" lIns="0" tIns="0" rIns="0" bIns="0" rtlCol="0" anchor="ctr"/>
          <a:lstStyle/>
          <a:p>
            <a:pPr marL="0" indent="0" algn="ctr">
              <a:buNone/>
            </a:pPr>
            <a:r>
              <a:rPr lang="en-US" sz="850" dirty="0">
                <a:solidFill>
                  <a:srgbClr val="F2BBCC"/>
                </a:solidFill>
                <a:latin typeface="Calibri" panose="020F0502020204030204" pitchFamily="34" charset="0"/>
                <a:ea typeface="Calibri" panose="020F0502020204030204" pitchFamily="34" charset="-122"/>
                <a:cs typeface="Calibri" panose="020F0502020204030204" pitchFamily="34" charset="-120"/>
              </a:rPr>
              <a:t>KHCC AidConnect  ·  Graduation Project Defense  ·  Mallak Abu Sada &amp; Maya Abu Aslahamat  ·  2025/2026</a:t>
            </a:r>
            <a:endParaRPr lang="en-US" sz="850" dirty="0"/>
          </a:p>
        </p:txBody>
      </p:sp>
      <p:sp>
        <p:nvSpPr>
          <p:cNvPr id="4" name="Shape 2"/>
          <p:cNvSpPr/>
          <p:nvPr/>
        </p:nvSpPr>
        <p:spPr>
          <a:xfrm>
            <a:off x="7790688" y="256032"/>
            <a:ext cx="1005840" cy="274320"/>
          </a:xfrm>
          <a:prstGeom prst="roundRect">
            <a:avLst>
              <a:gd name="adj" fmla="val 20000"/>
            </a:avLst>
          </a:prstGeom>
          <a:solidFill>
            <a:srgbClr val="E8855A"/>
          </a:solidFill>
          <a:ln w="12700">
            <a:solidFill>
              <a:srgbClr val="E8855A"/>
            </a:solidFill>
            <a:prstDash val="solid"/>
          </a:ln>
        </p:spPr>
      </p:sp>
      <p:sp>
        <p:nvSpPr>
          <p:cNvPr id="5" name="Text 3"/>
          <p:cNvSpPr/>
          <p:nvPr/>
        </p:nvSpPr>
        <p:spPr>
          <a:xfrm>
            <a:off x="7790688" y="256032"/>
            <a:ext cx="1005840" cy="274320"/>
          </a:xfrm>
          <a:prstGeom prst="rect">
            <a:avLst/>
          </a:prstGeom>
          <a:noFill/>
        </p:spPr>
        <p:txBody>
          <a:bodyPr wrap="square" lIns="0" tIns="0" rIns="0" bIns="0" rtlCol="0" anchor="ctr"/>
          <a:lstStyle/>
          <a:p>
            <a:pPr marL="0" indent="0" algn="ctr">
              <a:buNone/>
            </a:pPr>
            <a:r>
              <a:rPr lang="en-US" sz="850" b="1" kern="0" spc="50" dirty="0">
                <a:solidFill>
                  <a:srgbClr val="FFFFFF"/>
                </a:solidFill>
              </a:rPr>
              <a:t>SLIDE 19 / 20</a:t>
            </a:r>
            <a:endParaRPr lang="en-US" sz="850" dirty="0"/>
          </a:p>
        </p:txBody>
      </p:sp>
      <p:sp>
        <p:nvSpPr>
          <p:cNvPr id="6" name="Shape 4"/>
          <p:cNvSpPr/>
          <p:nvPr/>
        </p:nvSpPr>
        <p:spPr>
          <a:xfrm>
            <a:off x="0" y="0"/>
            <a:ext cx="9144000" cy="54864"/>
          </a:xfrm>
          <a:prstGeom prst="rect">
            <a:avLst/>
          </a:prstGeom>
          <a:solidFill>
            <a:srgbClr val="F5C0A0"/>
          </a:solidFill>
          <a:ln w="12700">
            <a:solidFill>
              <a:srgbClr val="F5C0A0"/>
            </a:solidFill>
            <a:prstDash val="solid"/>
          </a:ln>
        </p:spPr>
      </p:sp>
      <p:sp>
        <p:nvSpPr>
          <p:cNvPr id="7" name="Text 5"/>
          <p:cNvSpPr/>
          <p:nvPr/>
        </p:nvSpPr>
        <p:spPr>
          <a:xfrm>
            <a:off x="411480" y="164592"/>
            <a:ext cx="7772400" cy="594360"/>
          </a:xfrm>
          <a:prstGeom prst="rect">
            <a:avLst/>
          </a:prstGeom>
          <a:noFill/>
        </p:spPr>
        <p:txBody>
          <a:bodyPr wrap="square" lIns="0" tIns="0" rIns="0" bIns="0" rtlCol="0" anchor="ctr"/>
          <a:lstStyle/>
          <a:p>
            <a:pPr marL="0" indent="0" algn="l">
              <a:buNone/>
            </a:pPr>
            <a:r>
              <a:rPr lang="en-US" sz="2800" b="1" dirty="0">
                <a:solidFill>
                  <a:srgbClr val="FFFFFF"/>
                </a:solidFill>
                <a:latin typeface="Georgia" panose="02040502050405020303" pitchFamily="34" charset="0"/>
                <a:ea typeface="Georgia" panose="02040502050405020303" pitchFamily="34" charset="-122"/>
                <a:cs typeface="Georgia" panose="02040502050405020303" pitchFamily="34" charset="-120"/>
              </a:rPr>
              <a:t>Future Scope &amp; Enhancements</a:t>
            </a:r>
            <a:endParaRPr lang="en-US" sz="2800" dirty="0"/>
          </a:p>
        </p:txBody>
      </p:sp>
      <p:sp>
        <p:nvSpPr>
          <p:cNvPr id="8" name="Shape 6"/>
          <p:cNvSpPr/>
          <p:nvPr/>
        </p:nvSpPr>
        <p:spPr>
          <a:xfrm>
            <a:off x="320040" y="1005840"/>
            <a:ext cx="4224528" cy="1115568"/>
          </a:xfrm>
          <a:prstGeom prst="rect">
            <a:avLst/>
          </a:prstGeom>
          <a:solidFill>
            <a:srgbClr val="FFFFFF">
              <a:alpha val="10000"/>
            </a:srgbClr>
          </a:solidFill>
          <a:ln w="12700">
            <a:solidFill>
              <a:srgbClr val="E8A0BF"/>
            </a:solidFill>
            <a:prstDash val="solid"/>
          </a:ln>
        </p:spPr>
      </p:sp>
      <p:sp>
        <p:nvSpPr>
          <p:cNvPr id="9" name="Shape 7"/>
          <p:cNvSpPr/>
          <p:nvPr/>
        </p:nvSpPr>
        <p:spPr>
          <a:xfrm>
            <a:off x="320040" y="1005840"/>
            <a:ext cx="4224528" cy="54864"/>
          </a:xfrm>
          <a:prstGeom prst="rect">
            <a:avLst/>
          </a:prstGeom>
          <a:solidFill>
            <a:srgbClr val="E8A0BF"/>
          </a:solidFill>
          <a:ln w="12700">
            <a:solidFill>
              <a:srgbClr val="E8A0BF"/>
            </a:solidFill>
            <a:prstDash val="solid"/>
          </a:ln>
        </p:spPr>
      </p:sp>
      <p:sp>
        <p:nvSpPr>
          <p:cNvPr id="10" name="Shape 8"/>
          <p:cNvSpPr/>
          <p:nvPr/>
        </p:nvSpPr>
        <p:spPr>
          <a:xfrm>
            <a:off x="429768" y="1097280"/>
            <a:ext cx="749808" cy="237744"/>
          </a:xfrm>
          <a:prstGeom prst="roundRect">
            <a:avLst>
              <a:gd name="adj" fmla="val 23077"/>
            </a:avLst>
          </a:prstGeom>
          <a:solidFill>
            <a:srgbClr val="E8A0BF">
              <a:alpha val="70000"/>
            </a:srgbClr>
          </a:solidFill>
          <a:ln w="12700">
            <a:solidFill>
              <a:srgbClr val="E8A0BF"/>
            </a:solidFill>
            <a:prstDash val="solid"/>
          </a:ln>
        </p:spPr>
      </p:sp>
      <p:sp>
        <p:nvSpPr>
          <p:cNvPr id="11" name="Text 9"/>
          <p:cNvSpPr/>
          <p:nvPr/>
        </p:nvSpPr>
        <p:spPr>
          <a:xfrm>
            <a:off x="429768" y="1097280"/>
            <a:ext cx="749808" cy="237744"/>
          </a:xfrm>
          <a:prstGeom prst="rect">
            <a:avLst/>
          </a:prstGeom>
          <a:noFill/>
        </p:spPr>
        <p:txBody>
          <a:bodyPr wrap="square" lIns="0" tIns="0" rIns="0" bIns="0" rtlCol="0" anchor="ctr"/>
          <a:lstStyle/>
          <a:p>
            <a:pPr marL="0" indent="0" algn="ctr">
              <a:buNone/>
            </a:pPr>
            <a:r>
              <a:rPr lang="en-US" sz="850" b="1" dirty="0">
                <a:solidFill>
                  <a:srgbClr val="FFFFFF"/>
                </a:solidFill>
              </a:rPr>
              <a:t>Phase 2</a:t>
            </a:r>
            <a:endParaRPr lang="en-US" sz="850" dirty="0"/>
          </a:p>
        </p:txBody>
      </p:sp>
      <p:sp>
        <p:nvSpPr>
          <p:cNvPr id="12" name="Text 10"/>
          <p:cNvSpPr/>
          <p:nvPr/>
        </p:nvSpPr>
        <p:spPr>
          <a:xfrm>
            <a:off x="1280160" y="1097280"/>
            <a:ext cx="3182112" cy="274320"/>
          </a:xfrm>
          <a:prstGeom prst="rect">
            <a:avLst/>
          </a:prstGeom>
          <a:noFill/>
        </p:spPr>
        <p:txBody>
          <a:bodyPr wrap="square" lIns="0" tIns="0" rIns="0" bIns="0" rtlCol="0" anchor="ctr"/>
          <a:lstStyle/>
          <a:p>
            <a:pPr marL="0" indent="0" algn="l">
              <a:buNone/>
            </a:pPr>
            <a:r>
              <a:rPr lang="en-US" sz="1150" b="1" dirty="0">
                <a:solidFill>
                  <a:srgbClr val="FFFFFF"/>
                </a:solidFill>
              </a:rPr>
              <a:t>Neural Collaborative Filtering</a:t>
            </a:r>
            <a:endParaRPr lang="en-US" sz="1150" dirty="0"/>
          </a:p>
        </p:txBody>
      </p:sp>
      <p:sp>
        <p:nvSpPr>
          <p:cNvPr id="13" name="Text 11"/>
          <p:cNvSpPr/>
          <p:nvPr/>
        </p:nvSpPr>
        <p:spPr>
          <a:xfrm>
            <a:off x="429768" y="1426464"/>
            <a:ext cx="4005072" cy="621792"/>
          </a:xfrm>
          <a:prstGeom prst="rect">
            <a:avLst/>
          </a:prstGeom>
          <a:noFill/>
        </p:spPr>
        <p:txBody>
          <a:bodyPr wrap="square" lIns="0" tIns="0" rIns="0" bIns="0" rtlCol="0" anchor="ctr"/>
          <a:lstStyle/>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Replace KNN with a Neural CF model learning from historical match satisfaction signals — improving relevance over time beyond Euclidean distance.</a:t>
            </a:r>
            <a:endParaRPr lang="en-US" sz="950" dirty="0"/>
          </a:p>
        </p:txBody>
      </p:sp>
      <p:sp>
        <p:nvSpPr>
          <p:cNvPr id="14" name="Shape 12"/>
          <p:cNvSpPr/>
          <p:nvPr/>
        </p:nvSpPr>
        <p:spPr>
          <a:xfrm>
            <a:off x="4736592" y="1005840"/>
            <a:ext cx="4224528" cy="1115568"/>
          </a:xfrm>
          <a:prstGeom prst="rect">
            <a:avLst/>
          </a:prstGeom>
          <a:solidFill>
            <a:srgbClr val="FFFFFF">
              <a:alpha val="10000"/>
            </a:srgbClr>
          </a:solidFill>
          <a:ln w="12700">
            <a:solidFill>
              <a:srgbClr val="B8A0D8"/>
            </a:solidFill>
            <a:prstDash val="solid"/>
          </a:ln>
        </p:spPr>
      </p:sp>
      <p:sp>
        <p:nvSpPr>
          <p:cNvPr id="15" name="Shape 13"/>
          <p:cNvSpPr/>
          <p:nvPr/>
        </p:nvSpPr>
        <p:spPr>
          <a:xfrm>
            <a:off x="4736592" y="1005840"/>
            <a:ext cx="4224528" cy="54864"/>
          </a:xfrm>
          <a:prstGeom prst="rect">
            <a:avLst/>
          </a:prstGeom>
          <a:solidFill>
            <a:srgbClr val="B8A0D8"/>
          </a:solidFill>
          <a:ln w="12700">
            <a:solidFill>
              <a:srgbClr val="B8A0D8"/>
            </a:solidFill>
            <a:prstDash val="solid"/>
          </a:ln>
        </p:spPr>
      </p:sp>
      <p:sp>
        <p:nvSpPr>
          <p:cNvPr id="16" name="Shape 14"/>
          <p:cNvSpPr/>
          <p:nvPr/>
        </p:nvSpPr>
        <p:spPr>
          <a:xfrm>
            <a:off x="4846320" y="1097280"/>
            <a:ext cx="749808" cy="237744"/>
          </a:xfrm>
          <a:prstGeom prst="roundRect">
            <a:avLst>
              <a:gd name="adj" fmla="val 23077"/>
            </a:avLst>
          </a:prstGeom>
          <a:solidFill>
            <a:srgbClr val="B8A0D8">
              <a:alpha val="70000"/>
            </a:srgbClr>
          </a:solidFill>
          <a:ln w="12700">
            <a:solidFill>
              <a:srgbClr val="B8A0D8"/>
            </a:solidFill>
            <a:prstDash val="solid"/>
          </a:ln>
        </p:spPr>
      </p:sp>
      <p:sp>
        <p:nvSpPr>
          <p:cNvPr id="17" name="Text 15"/>
          <p:cNvSpPr/>
          <p:nvPr/>
        </p:nvSpPr>
        <p:spPr>
          <a:xfrm>
            <a:off x="4846320" y="1097280"/>
            <a:ext cx="749808" cy="237744"/>
          </a:xfrm>
          <a:prstGeom prst="rect">
            <a:avLst/>
          </a:prstGeom>
          <a:noFill/>
        </p:spPr>
        <p:txBody>
          <a:bodyPr wrap="square" lIns="0" tIns="0" rIns="0" bIns="0" rtlCol="0" anchor="ctr"/>
          <a:lstStyle/>
          <a:p>
            <a:pPr marL="0" indent="0" algn="ctr">
              <a:buNone/>
            </a:pPr>
            <a:r>
              <a:rPr lang="en-US" sz="850" b="1" dirty="0">
                <a:solidFill>
                  <a:srgbClr val="FFFFFF"/>
                </a:solidFill>
              </a:rPr>
              <a:t>Phase 2</a:t>
            </a:r>
            <a:endParaRPr lang="en-US" sz="850" dirty="0"/>
          </a:p>
        </p:txBody>
      </p:sp>
      <p:sp>
        <p:nvSpPr>
          <p:cNvPr id="18" name="Text 16"/>
          <p:cNvSpPr/>
          <p:nvPr/>
        </p:nvSpPr>
        <p:spPr>
          <a:xfrm>
            <a:off x="5696712" y="1097280"/>
            <a:ext cx="3182112" cy="274320"/>
          </a:xfrm>
          <a:prstGeom prst="rect">
            <a:avLst/>
          </a:prstGeom>
          <a:noFill/>
        </p:spPr>
        <p:txBody>
          <a:bodyPr wrap="square" lIns="0" tIns="0" rIns="0" bIns="0" rtlCol="0" anchor="ctr"/>
          <a:lstStyle/>
          <a:p>
            <a:pPr marL="0" indent="0" algn="l">
              <a:buNone/>
            </a:pPr>
            <a:r>
              <a:rPr lang="en-US" sz="1150" b="1" dirty="0">
                <a:solidFill>
                  <a:srgbClr val="FFFFFF"/>
                </a:solidFill>
              </a:rPr>
              <a:t>Real-Time EHR Integration</a:t>
            </a:r>
            <a:endParaRPr lang="en-US" sz="1150" dirty="0"/>
          </a:p>
        </p:txBody>
      </p:sp>
      <p:sp>
        <p:nvSpPr>
          <p:cNvPr id="19" name="Text 17"/>
          <p:cNvSpPr/>
          <p:nvPr/>
        </p:nvSpPr>
        <p:spPr>
          <a:xfrm>
            <a:off x="4846320" y="1426464"/>
            <a:ext cx="4005072" cy="621792"/>
          </a:xfrm>
          <a:prstGeom prst="rect">
            <a:avLst/>
          </a:prstGeom>
          <a:noFill/>
        </p:spPr>
        <p:txBody>
          <a:bodyPr wrap="square" lIns="0" tIns="0" rIns="0" bIns="0" rtlCol="0" anchor="ctr"/>
          <a:lstStyle/>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Connect the patient pipeline directly to KHCC Electronic Health Records via API — eliminating manual entry and enabling automatic Need Score recalculation.</a:t>
            </a:r>
            <a:endParaRPr lang="en-US" sz="950" dirty="0"/>
          </a:p>
        </p:txBody>
      </p:sp>
      <p:sp>
        <p:nvSpPr>
          <p:cNvPr id="20" name="Shape 18"/>
          <p:cNvSpPr/>
          <p:nvPr/>
        </p:nvSpPr>
        <p:spPr>
          <a:xfrm>
            <a:off x="320040" y="2286000"/>
            <a:ext cx="4224528" cy="1115568"/>
          </a:xfrm>
          <a:prstGeom prst="rect">
            <a:avLst/>
          </a:prstGeom>
          <a:solidFill>
            <a:srgbClr val="FFFFFF">
              <a:alpha val="10000"/>
            </a:srgbClr>
          </a:solidFill>
          <a:ln w="12700">
            <a:solidFill>
              <a:srgbClr val="A8D8C0"/>
            </a:solidFill>
            <a:prstDash val="solid"/>
          </a:ln>
        </p:spPr>
      </p:sp>
      <p:sp>
        <p:nvSpPr>
          <p:cNvPr id="21" name="Shape 19"/>
          <p:cNvSpPr/>
          <p:nvPr/>
        </p:nvSpPr>
        <p:spPr>
          <a:xfrm>
            <a:off x="320040" y="2286000"/>
            <a:ext cx="4224528" cy="54864"/>
          </a:xfrm>
          <a:prstGeom prst="rect">
            <a:avLst/>
          </a:prstGeom>
          <a:solidFill>
            <a:srgbClr val="A8D8C0"/>
          </a:solidFill>
          <a:ln w="12700">
            <a:solidFill>
              <a:srgbClr val="A8D8C0"/>
            </a:solidFill>
            <a:prstDash val="solid"/>
          </a:ln>
        </p:spPr>
      </p:sp>
      <p:sp>
        <p:nvSpPr>
          <p:cNvPr id="22" name="Shape 20"/>
          <p:cNvSpPr/>
          <p:nvPr/>
        </p:nvSpPr>
        <p:spPr>
          <a:xfrm>
            <a:off x="429768" y="2377440"/>
            <a:ext cx="749808" cy="237744"/>
          </a:xfrm>
          <a:prstGeom prst="roundRect">
            <a:avLst>
              <a:gd name="adj" fmla="val 23077"/>
            </a:avLst>
          </a:prstGeom>
          <a:solidFill>
            <a:srgbClr val="A8D8C0">
              <a:alpha val="70000"/>
            </a:srgbClr>
          </a:solidFill>
          <a:ln w="12700">
            <a:solidFill>
              <a:srgbClr val="A8D8C0"/>
            </a:solidFill>
            <a:prstDash val="solid"/>
          </a:ln>
        </p:spPr>
      </p:sp>
      <p:sp>
        <p:nvSpPr>
          <p:cNvPr id="23" name="Text 21"/>
          <p:cNvSpPr/>
          <p:nvPr/>
        </p:nvSpPr>
        <p:spPr>
          <a:xfrm>
            <a:off x="429768" y="2377440"/>
            <a:ext cx="749808" cy="237744"/>
          </a:xfrm>
          <a:prstGeom prst="rect">
            <a:avLst/>
          </a:prstGeom>
          <a:noFill/>
        </p:spPr>
        <p:txBody>
          <a:bodyPr wrap="square" lIns="0" tIns="0" rIns="0" bIns="0" rtlCol="0" anchor="ctr"/>
          <a:lstStyle/>
          <a:p>
            <a:pPr marL="0" indent="0" algn="ctr">
              <a:buNone/>
            </a:pPr>
            <a:r>
              <a:rPr lang="en-US" sz="850" b="1" dirty="0">
                <a:solidFill>
                  <a:srgbClr val="FFFFFF"/>
                </a:solidFill>
              </a:rPr>
              <a:t>Phase 3</a:t>
            </a:r>
            <a:endParaRPr lang="en-US" sz="850" dirty="0"/>
          </a:p>
        </p:txBody>
      </p:sp>
      <p:sp>
        <p:nvSpPr>
          <p:cNvPr id="24" name="Text 22"/>
          <p:cNvSpPr/>
          <p:nvPr/>
        </p:nvSpPr>
        <p:spPr>
          <a:xfrm>
            <a:off x="1280160" y="2377440"/>
            <a:ext cx="3182112" cy="274320"/>
          </a:xfrm>
          <a:prstGeom prst="rect">
            <a:avLst/>
          </a:prstGeom>
          <a:noFill/>
        </p:spPr>
        <p:txBody>
          <a:bodyPr wrap="square" lIns="0" tIns="0" rIns="0" bIns="0" rtlCol="0" anchor="ctr"/>
          <a:lstStyle/>
          <a:p>
            <a:pPr marL="0" indent="0" algn="l">
              <a:buNone/>
            </a:pPr>
            <a:r>
              <a:rPr lang="en-US" sz="1150" b="1" dirty="0">
                <a:solidFill>
                  <a:srgbClr val="FFFFFF"/>
                </a:solidFill>
              </a:rPr>
              <a:t>Donor Churn Prediction</a:t>
            </a:r>
            <a:endParaRPr lang="en-US" sz="1150" dirty="0"/>
          </a:p>
        </p:txBody>
      </p:sp>
      <p:sp>
        <p:nvSpPr>
          <p:cNvPr id="25" name="Text 23"/>
          <p:cNvSpPr/>
          <p:nvPr/>
        </p:nvSpPr>
        <p:spPr>
          <a:xfrm>
            <a:off x="429768" y="2706624"/>
            <a:ext cx="4005072" cy="621792"/>
          </a:xfrm>
          <a:prstGeom prst="rect">
            <a:avLst/>
          </a:prstGeom>
          <a:noFill/>
        </p:spPr>
        <p:txBody>
          <a:bodyPr wrap="square" lIns="0" tIns="0" rIns="0" bIns="0" rtlCol="0" anchor="ctr"/>
          <a:lstStyle/>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Build a Random Forest churn classifier alerting caseworkers 30 days before a recurring donor is likely to lapse — enabling proactive retention outreach.</a:t>
            </a:r>
            <a:endParaRPr lang="en-US" sz="950" dirty="0"/>
          </a:p>
        </p:txBody>
      </p:sp>
      <p:sp>
        <p:nvSpPr>
          <p:cNvPr id="26" name="Shape 24"/>
          <p:cNvSpPr/>
          <p:nvPr/>
        </p:nvSpPr>
        <p:spPr>
          <a:xfrm>
            <a:off x="4736592" y="2286000"/>
            <a:ext cx="4224528" cy="1115568"/>
          </a:xfrm>
          <a:prstGeom prst="rect">
            <a:avLst/>
          </a:prstGeom>
          <a:solidFill>
            <a:srgbClr val="FFFFFF">
              <a:alpha val="10000"/>
            </a:srgbClr>
          </a:solidFill>
          <a:ln w="12700">
            <a:solidFill>
              <a:srgbClr val="F5C0A0"/>
            </a:solidFill>
            <a:prstDash val="solid"/>
          </a:ln>
        </p:spPr>
      </p:sp>
      <p:sp>
        <p:nvSpPr>
          <p:cNvPr id="27" name="Shape 25"/>
          <p:cNvSpPr/>
          <p:nvPr/>
        </p:nvSpPr>
        <p:spPr>
          <a:xfrm>
            <a:off x="4736592" y="2286000"/>
            <a:ext cx="4224528" cy="54864"/>
          </a:xfrm>
          <a:prstGeom prst="rect">
            <a:avLst/>
          </a:prstGeom>
          <a:solidFill>
            <a:srgbClr val="F5C0A0"/>
          </a:solidFill>
          <a:ln w="12700">
            <a:solidFill>
              <a:srgbClr val="F5C0A0"/>
            </a:solidFill>
            <a:prstDash val="solid"/>
          </a:ln>
        </p:spPr>
      </p:sp>
      <p:sp>
        <p:nvSpPr>
          <p:cNvPr id="28" name="Shape 26"/>
          <p:cNvSpPr/>
          <p:nvPr/>
        </p:nvSpPr>
        <p:spPr>
          <a:xfrm>
            <a:off x="4846320" y="2377440"/>
            <a:ext cx="749808" cy="237744"/>
          </a:xfrm>
          <a:prstGeom prst="roundRect">
            <a:avLst>
              <a:gd name="adj" fmla="val 23077"/>
            </a:avLst>
          </a:prstGeom>
          <a:solidFill>
            <a:srgbClr val="F5C0A0">
              <a:alpha val="70000"/>
            </a:srgbClr>
          </a:solidFill>
          <a:ln w="12700">
            <a:solidFill>
              <a:srgbClr val="F5C0A0"/>
            </a:solidFill>
            <a:prstDash val="solid"/>
          </a:ln>
        </p:spPr>
      </p:sp>
      <p:sp>
        <p:nvSpPr>
          <p:cNvPr id="29" name="Text 27"/>
          <p:cNvSpPr/>
          <p:nvPr/>
        </p:nvSpPr>
        <p:spPr>
          <a:xfrm>
            <a:off x="4846320" y="2377440"/>
            <a:ext cx="749808" cy="237744"/>
          </a:xfrm>
          <a:prstGeom prst="rect">
            <a:avLst/>
          </a:prstGeom>
          <a:noFill/>
        </p:spPr>
        <p:txBody>
          <a:bodyPr wrap="square" lIns="0" tIns="0" rIns="0" bIns="0" rtlCol="0" anchor="ctr"/>
          <a:lstStyle/>
          <a:p>
            <a:pPr marL="0" indent="0" algn="ctr">
              <a:buNone/>
            </a:pPr>
            <a:r>
              <a:rPr lang="en-US" sz="850" b="1" dirty="0">
                <a:solidFill>
                  <a:srgbClr val="FFFFFF"/>
                </a:solidFill>
              </a:rPr>
              <a:t>Phase 3</a:t>
            </a:r>
            <a:endParaRPr lang="en-US" sz="850" dirty="0"/>
          </a:p>
        </p:txBody>
      </p:sp>
      <p:sp>
        <p:nvSpPr>
          <p:cNvPr id="30" name="Text 28"/>
          <p:cNvSpPr/>
          <p:nvPr/>
        </p:nvSpPr>
        <p:spPr>
          <a:xfrm>
            <a:off x="5696712" y="2377440"/>
            <a:ext cx="3182112" cy="274320"/>
          </a:xfrm>
          <a:prstGeom prst="rect">
            <a:avLst/>
          </a:prstGeom>
          <a:noFill/>
        </p:spPr>
        <p:txBody>
          <a:bodyPr wrap="square" lIns="0" tIns="0" rIns="0" bIns="0" rtlCol="0" anchor="ctr"/>
          <a:lstStyle/>
          <a:p>
            <a:pPr marL="0" indent="0" algn="l">
              <a:buNone/>
            </a:pPr>
            <a:r>
              <a:rPr lang="en-US" sz="1150" b="1" dirty="0">
                <a:solidFill>
                  <a:srgbClr val="FFFFFF"/>
                </a:solidFill>
              </a:rPr>
              <a:t>Arabic NLP Interface</a:t>
            </a:r>
            <a:endParaRPr lang="en-US" sz="1150" dirty="0"/>
          </a:p>
        </p:txBody>
      </p:sp>
      <p:sp>
        <p:nvSpPr>
          <p:cNvPr id="31" name="Text 29"/>
          <p:cNvSpPr/>
          <p:nvPr/>
        </p:nvSpPr>
        <p:spPr>
          <a:xfrm>
            <a:off x="4846320" y="2706624"/>
            <a:ext cx="4005072" cy="621792"/>
          </a:xfrm>
          <a:prstGeom prst="rect">
            <a:avLst/>
          </a:prstGeom>
          <a:noFill/>
        </p:spPr>
        <p:txBody>
          <a:bodyPr wrap="square" lIns="0" tIns="0" rIns="0" bIns="0" rtlCol="0" anchor="ctr"/>
          <a:lstStyle/>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Extend AidConnect to a fully bilingual Arabic/English interface using Arabic NLP for impact notifications — accessible to all Jordanian donor demographics.</a:t>
            </a:r>
            <a:endParaRPr lang="en-US" sz="950" dirty="0"/>
          </a:p>
        </p:txBody>
      </p:sp>
      <p:sp>
        <p:nvSpPr>
          <p:cNvPr id="32" name="Shape 30"/>
          <p:cNvSpPr/>
          <p:nvPr/>
        </p:nvSpPr>
        <p:spPr>
          <a:xfrm>
            <a:off x="320040" y="3566160"/>
            <a:ext cx="4224528" cy="1115568"/>
          </a:xfrm>
          <a:prstGeom prst="rect">
            <a:avLst/>
          </a:prstGeom>
          <a:solidFill>
            <a:srgbClr val="FFFFFF">
              <a:alpha val="10000"/>
            </a:srgbClr>
          </a:solidFill>
          <a:ln w="12700">
            <a:solidFill>
              <a:srgbClr val="A0C8E8"/>
            </a:solidFill>
            <a:prstDash val="solid"/>
          </a:ln>
        </p:spPr>
      </p:sp>
      <p:sp>
        <p:nvSpPr>
          <p:cNvPr id="33" name="Shape 31"/>
          <p:cNvSpPr/>
          <p:nvPr/>
        </p:nvSpPr>
        <p:spPr>
          <a:xfrm>
            <a:off x="320040" y="3566160"/>
            <a:ext cx="4224528" cy="54864"/>
          </a:xfrm>
          <a:prstGeom prst="rect">
            <a:avLst/>
          </a:prstGeom>
          <a:solidFill>
            <a:srgbClr val="A0C8E8"/>
          </a:solidFill>
          <a:ln w="12700">
            <a:solidFill>
              <a:srgbClr val="A0C8E8"/>
            </a:solidFill>
            <a:prstDash val="solid"/>
          </a:ln>
        </p:spPr>
      </p:sp>
      <p:sp>
        <p:nvSpPr>
          <p:cNvPr id="34" name="Shape 32"/>
          <p:cNvSpPr/>
          <p:nvPr/>
        </p:nvSpPr>
        <p:spPr>
          <a:xfrm>
            <a:off x="429768" y="3657600"/>
            <a:ext cx="749808" cy="237744"/>
          </a:xfrm>
          <a:prstGeom prst="roundRect">
            <a:avLst>
              <a:gd name="adj" fmla="val 23077"/>
            </a:avLst>
          </a:prstGeom>
          <a:solidFill>
            <a:srgbClr val="A0C8E8">
              <a:alpha val="70000"/>
            </a:srgbClr>
          </a:solidFill>
          <a:ln w="12700">
            <a:solidFill>
              <a:srgbClr val="A0C8E8"/>
            </a:solidFill>
            <a:prstDash val="solid"/>
          </a:ln>
        </p:spPr>
      </p:sp>
      <p:sp>
        <p:nvSpPr>
          <p:cNvPr id="35" name="Text 33"/>
          <p:cNvSpPr/>
          <p:nvPr/>
        </p:nvSpPr>
        <p:spPr>
          <a:xfrm>
            <a:off x="429768" y="3657600"/>
            <a:ext cx="749808" cy="237744"/>
          </a:xfrm>
          <a:prstGeom prst="rect">
            <a:avLst/>
          </a:prstGeom>
          <a:noFill/>
        </p:spPr>
        <p:txBody>
          <a:bodyPr wrap="square" lIns="0" tIns="0" rIns="0" bIns="0" rtlCol="0" anchor="ctr"/>
          <a:lstStyle/>
          <a:p>
            <a:pPr marL="0" indent="0" algn="ctr">
              <a:buNone/>
            </a:pPr>
            <a:r>
              <a:rPr lang="en-US" sz="850" b="1" dirty="0">
                <a:solidFill>
                  <a:srgbClr val="FFFFFF"/>
                </a:solidFill>
              </a:rPr>
              <a:t>Phase 4</a:t>
            </a:r>
            <a:endParaRPr lang="en-US" sz="850" dirty="0"/>
          </a:p>
        </p:txBody>
      </p:sp>
      <p:sp>
        <p:nvSpPr>
          <p:cNvPr id="36" name="Text 34"/>
          <p:cNvSpPr/>
          <p:nvPr/>
        </p:nvSpPr>
        <p:spPr>
          <a:xfrm>
            <a:off x="1280160" y="3657600"/>
            <a:ext cx="3182112" cy="274320"/>
          </a:xfrm>
          <a:prstGeom prst="rect">
            <a:avLst/>
          </a:prstGeom>
          <a:noFill/>
        </p:spPr>
        <p:txBody>
          <a:bodyPr wrap="square" lIns="0" tIns="0" rIns="0" bIns="0" rtlCol="0" anchor="ctr"/>
          <a:lstStyle/>
          <a:p>
            <a:pPr marL="0" indent="0" algn="l">
              <a:buNone/>
            </a:pPr>
            <a:r>
              <a:rPr lang="en-US" sz="1150" b="1" dirty="0">
                <a:solidFill>
                  <a:srgbClr val="FFFFFF"/>
                </a:solidFill>
              </a:rPr>
              <a:t>Regional Expansion</a:t>
            </a:r>
            <a:endParaRPr lang="en-US" sz="1150" dirty="0"/>
          </a:p>
        </p:txBody>
      </p:sp>
      <p:sp>
        <p:nvSpPr>
          <p:cNvPr id="37" name="Text 35"/>
          <p:cNvSpPr/>
          <p:nvPr/>
        </p:nvSpPr>
        <p:spPr>
          <a:xfrm>
            <a:off x="429768" y="3986784"/>
            <a:ext cx="4005072" cy="621792"/>
          </a:xfrm>
          <a:prstGeom prst="rect">
            <a:avLst/>
          </a:prstGeom>
          <a:noFill/>
        </p:spPr>
        <p:txBody>
          <a:bodyPr wrap="square" lIns="0" tIns="0" rIns="0" bIns="0" rtlCol="0" anchor="ctr"/>
          <a:lstStyle/>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Scale the architecture to the full KHCC hospital network across Jordan — the pipeline is institution-agnostic and requires only a new data connection.</a:t>
            </a:r>
            <a:endParaRPr lang="en-US" sz="950" dirty="0"/>
          </a:p>
        </p:txBody>
      </p:sp>
      <p:sp>
        <p:nvSpPr>
          <p:cNvPr id="38" name="Shape 36"/>
          <p:cNvSpPr/>
          <p:nvPr/>
        </p:nvSpPr>
        <p:spPr>
          <a:xfrm>
            <a:off x="4736592" y="3566160"/>
            <a:ext cx="4224528" cy="1115568"/>
          </a:xfrm>
          <a:prstGeom prst="rect">
            <a:avLst/>
          </a:prstGeom>
          <a:solidFill>
            <a:srgbClr val="FFFFFF">
              <a:alpha val="10000"/>
            </a:srgbClr>
          </a:solidFill>
          <a:ln w="12700">
            <a:solidFill>
              <a:srgbClr val="E8A0BF"/>
            </a:solidFill>
            <a:prstDash val="solid"/>
          </a:ln>
        </p:spPr>
      </p:sp>
      <p:sp>
        <p:nvSpPr>
          <p:cNvPr id="39" name="Shape 37"/>
          <p:cNvSpPr/>
          <p:nvPr/>
        </p:nvSpPr>
        <p:spPr>
          <a:xfrm>
            <a:off x="4736592" y="3566160"/>
            <a:ext cx="4224528" cy="54864"/>
          </a:xfrm>
          <a:prstGeom prst="rect">
            <a:avLst/>
          </a:prstGeom>
          <a:solidFill>
            <a:srgbClr val="E8A0BF"/>
          </a:solidFill>
          <a:ln w="12700">
            <a:solidFill>
              <a:srgbClr val="E8A0BF"/>
            </a:solidFill>
            <a:prstDash val="solid"/>
          </a:ln>
        </p:spPr>
      </p:sp>
      <p:sp>
        <p:nvSpPr>
          <p:cNvPr id="40" name="Shape 38"/>
          <p:cNvSpPr/>
          <p:nvPr/>
        </p:nvSpPr>
        <p:spPr>
          <a:xfrm>
            <a:off x="4846320" y="3657600"/>
            <a:ext cx="749808" cy="237744"/>
          </a:xfrm>
          <a:prstGeom prst="roundRect">
            <a:avLst>
              <a:gd name="adj" fmla="val 23077"/>
            </a:avLst>
          </a:prstGeom>
          <a:solidFill>
            <a:srgbClr val="E8A0BF">
              <a:alpha val="70000"/>
            </a:srgbClr>
          </a:solidFill>
          <a:ln w="12700">
            <a:solidFill>
              <a:srgbClr val="E8A0BF"/>
            </a:solidFill>
            <a:prstDash val="solid"/>
          </a:ln>
        </p:spPr>
      </p:sp>
      <p:sp>
        <p:nvSpPr>
          <p:cNvPr id="41" name="Text 39"/>
          <p:cNvSpPr/>
          <p:nvPr/>
        </p:nvSpPr>
        <p:spPr>
          <a:xfrm>
            <a:off x="4846320" y="3657600"/>
            <a:ext cx="749808" cy="237744"/>
          </a:xfrm>
          <a:prstGeom prst="rect">
            <a:avLst/>
          </a:prstGeom>
          <a:noFill/>
        </p:spPr>
        <p:txBody>
          <a:bodyPr wrap="square" lIns="0" tIns="0" rIns="0" bIns="0" rtlCol="0" anchor="ctr"/>
          <a:lstStyle/>
          <a:p>
            <a:pPr marL="0" indent="0" algn="ctr">
              <a:buNone/>
            </a:pPr>
            <a:r>
              <a:rPr lang="en-US" sz="850" b="1" dirty="0">
                <a:solidFill>
                  <a:srgbClr val="FFFFFF"/>
                </a:solidFill>
              </a:rPr>
              <a:t>Phase 4</a:t>
            </a:r>
            <a:endParaRPr lang="en-US" sz="850" dirty="0"/>
          </a:p>
        </p:txBody>
      </p:sp>
      <p:sp>
        <p:nvSpPr>
          <p:cNvPr id="42" name="Text 40"/>
          <p:cNvSpPr/>
          <p:nvPr/>
        </p:nvSpPr>
        <p:spPr>
          <a:xfrm>
            <a:off x="5696712" y="3657600"/>
            <a:ext cx="3182112" cy="274320"/>
          </a:xfrm>
          <a:prstGeom prst="rect">
            <a:avLst/>
          </a:prstGeom>
          <a:noFill/>
        </p:spPr>
        <p:txBody>
          <a:bodyPr wrap="square" lIns="0" tIns="0" rIns="0" bIns="0" rtlCol="0" anchor="ctr"/>
          <a:lstStyle/>
          <a:p>
            <a:pPr marL="0" indent="0" algn="l">
              <a:buNone/>
            </a:pPr>
            <a:r>
              <a:rPr lang="en-US" sz="1150" b="1" dirty="0">
                <a:solidFill>
                  <a:srgbClr val="FFFFFF"/>
                </a:solidFill>
              </a:rPr>
              <a:t>Federated Learning</a:t>
            </a:r>
            <a:endParaRPr lang="en-US" sz="1150" dirty="0"/>
          </a:p>
        </p:txBody>
      </p:sp>
      <p:sp>
        <p:nvSpPr>
          <p:cNvPr id="43" name="Text 41"/>
          <p:cNvSpPr/>
          <p:nvPr/>
        </p:nvSpPr>
        <p:spPr>
          <a:xfrm>
            <a:off x="4846320" y="3986784"/>
            <a:ext cx="4005072" cy="621792"/>
          </a:xfrm>
          <a:prstGeom prst="rect">
            <a:avLst/>
          </a:prstGeom>
          <a:noFill/>
        </p:spPr>
        <p:txBody>
          <a:bodyPr wrap="square" lIns="0" tIns="0" rIns="0" bIns="0" rtlCol="0" anchor="ctr"/>
          <a:lstStyle/>
          <a:p>
            <a:pPr marL="0" indent="0" algn="l">
              <a:buNone/>
            </a:pPr>
            <a:r>
              <a:rPr lang="en-US" sz="950" dirty="0">
                <a:solidFill>
                  <a:srgbClr val="F2BBCC"/>
                </a:solidFill>
                <a:latin typeface="Calibri" panose="020F0502020204030204" pitchFamily="34" charset="0"/>
                <a:ea typeface="Calibri" panose="020F0502020204030204" pitchFamily="34" charset="-122"/>
                <a:cs typeface="Calibri" panose="020F0502020204030204" pitchFamily="34" charset="-120"/>
              </a:rPr>
              <a:t>Enable privacy-preserving AI training across multiple hospitals — pan-Jordan matching intelligence without sharing raw patient data.</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A1A35"/>
        </a:solidFill>
        <a:effectLst/>
      </p:bgPr>
    </p:bg>
    <p:spTree>
      <p:nvGrpSpPr>
        <p:cNvPr id="1" name=""/>
        <p:cNvGrpSpPr/>
        <p:nvPr/>
      </p:nvGrpSpPr>
      <p:grpSpPr>
        <a:xfrm>
          <a:off x="0" y="0"/>
          <a:ext cx="0" cy="0"/>
          <a:chOff x="0" y="0"/>
          <a:chExt cx="0" cy="0"/>
        </a:xfrm>
      </p:grpSpPr>
      <p:sp>
        <p:nvSpPr>
          <p:cNvPr id="2" name="Shape 0"/>
          <p:cNvSpPr/>
          <p:nvPr/>
        </p:nvSpPr>
        <p:spPr>
          <a:xfrm>
            <a:off x="5303520" y="-1645920"/>
            <a:ext cx="6400800" cy="6400800"/>
          </a:xfrm>
          <a:prstGeom prst="ellipse">
            <a:avLst/>
          </a:prstGeom>
          <a:solidFill>
            <a:srgbClr val="E8A0BF">
              <a:alpha val="15000"/>
            </a:srgbClr>
          </a:solidFill>
          <a:ln w="12700">
            <a:solidFill>
              <a:srgbClr val="E8A0BF">
                <a:alpha val="20000"/>
              </a:srgbClr>
            </a:solidFill>
            <a:prstDash val="solid"/>
          </a:ln>
        </p:spPr>
      </p:sp>
      <p:sp>
        <p:nvSpPr>
          <p:cNvPr id="3" name="Shape 1"/>
          <p:cNvSpPr/>
          <p:nvPr/>
        </p:nvSpPr>
        <p:spPr>
          <a:xfrm>
            <a:off x="-1828800" y="2743200"/>
            <a:ext cx="4572000" cy="4572000"/>
          </a:xfrm>
          <a:prstGeom prst="ellipse">
            <a:avLst/>
          </a:prstGeom>
          <a:solidFill>
            <a:srgbClr val="B8A0D8">
              <a:alpha val="15000"/>
            </a:srgbClr>
          </a:solidFill>
          <a:ln w="12700">
            <a:solidFill>
              <a:srgbClr val="B8A0D8">
                <a:alpha val="20000"/>
              </a:srgbClr>
            </a:solidFill>
            <a:prstDash val="solid"/>
          </a:ln>
        </p:spPr>
      </p:sp>
      <p:sp>
        <p:nvSpPr>
          <p:cNvPr id="4" name="Shape 2"/>
          <p:cNvSpPr/>
          <p:nvPr/>
        </p:nvSpPr>
        <p:spPr>
          <a:xfrm>
            <a:off x="3200400" y="3200400"/>
            <a:ext cx="3200400" cy="3200400"/>
          </a:xfrm>
          <a:prstGeom prst="ellipse">
            <a:avLst/>
          </a:prstGeom>
          <a:solidFill>
            <a:srgbClr val="A8D8C0">
              <a:alpha val="12000"/>
            </a:srgbClr>
          </a:solidFill>
          <a:ln w="12700">
            <a:solidFill>
              <a:srgbClr val="A8D8C0">
                <a:alpha val="18000"/>
              </a:srgbClr>
            </a:solidFill>
            <a:prstDash val="solid"/>
          </a:ln>
        </p:spPr>
      </p:sp>
      <p:sp>
        <p:nvSpPr>
          <p:cNvPr id="5" name="Shape 3"/>
          <p:cNvSpPr/>
          <p:nvPr/>
        </p:nvSpPr>
        <p:spPr>
          <a:xfrm>
            <a:off x="0" y="0"/>
            <a:ext cx="201168" cy="5143500"/>
          </a:xfrm>
          <a:prstGeom prst="rect">
            <a:avLst/>
          </a:prstGeom>
          <a:solidFill>
            <a:srgbClr val="E8A0BF"/>
          </a:solidFill>
          <a:ln w="12700">
            <a:solidFill>
              <a:srgbClr val="E8A0BF"/>
            </a:solidFill>
            <a:prstDash val="solid"/>
          </a:ln>
        </p:spPr>
      </p:sp>
      <p:sp>
        <p:nvSpPr>
          <p:cNvPr id="6" name="Text 4"/>
          <p:cNvSpPr/>
          <p:nvPr/>
        </p:nvSpPr>
        <p:spPr>
          <a:xfrm>
            <a:off x="457200" y="91440"/>
            <a:ext cx="8412480" cy="1234440"/>
          </a:xfrm>
          <a:prstGeom prst="rect">
            <a:avLst/>
          </a:prstGeom>
          <a:noFill/>
        </p:spPr>
        <p:txBody>
          <a:bodyPr wrap="square" lIns="0" tIns="0" rIns="0" bIns="0" rtlCol="0" anchor="ctr"/>
          <a:lstStyle/>
          <a:p>
            <a:pPr marL="0" indent="0" algn="ctr">
              <a:buNone/>
            </a:pPr>
            <a:r>
              <a:rPr lang="en-US" sz="7200" b="1" dirty="0">
                <a:solidFill>
                  <a:srgbClr val="FFFFFF"/>
                </a:solidFill>
                <a:latin typeface="Georgia" panose="02040502050405020303" pitchFamily="34" charset="0"/>
                <a:ea typeface="Georgia" panose="02040502050405020303" pitchFamily="34" charset="-122"/>
                <a:cs typeface="Georgia" panose="02040502050405020303" pitchFamily="34" charset="-120"/>
              </a:rPr>
              <a:t>شُكراً</a:t>
            </a:r>
            <a:endParaRPr lang="en-US" sz="7200" dirty="0"/>
          </a:p>
        </p:txBody>
      </p:sp>
      <p:sp>
        <p:nvSpPr>
          <p:cNvPr id="7" name="Text 5"/>
          <p:cNvSpPr/>
          <p:nvPr/>
        </p:nvSpPr>
        <p:spPr>
          <a:xfrm>
            <a:off x="457200" y="1325880"/>
            <a:ext cx="8412480" cy="685800"/>
          </a:xfrm>
          <a:prstGeom prst="rect">
            <a:avLst/>
          </a:prstGeom>
          <a:noFill/>
        </p:spPr>
        <p:txBody>
          <a:bodyPr wrap="square" lIns="0" tIns="0" rIns="0" bIns="0" rtlCol="0" anchor="ctr"/>
          <a:lstStyle/>
          <a:p>
            <a:pPr marL="0" indent="0" algn="ctr">
              <a:buNone/>
            </a:pPr>
            <a:r>
              <a:rPr lang="en-US" sz="4000" b="1" dirty="0">
                <a:solidFill>
                  <a:srgbClr val="E8A0BF"/>
                </a:solidFill>
                <a:latin typeface="Georgia" panose="02040502050405020303" pitchFamily="34" charset="0"/>
                <a:ea typeface="Georgia" panose="02040502050405020303" pitchFamily="34" charset="-122"/>
                <a:cs typeface="Georgia" panose="02040502050405020303" pitchFamily="34" charset="-120"/>
              </a:rPr>
              <a:t>Thank You</a:t>
            </a:r>
            <a:endParaRPr lang="en-US" sz="4000" dirty="0"/>
          </a:p>
        </p:txBody>
      </p:sp>
      <p:sp>
        <p:nvSpPr>
          <p:cNvPr id="8" name="Shape 6"/>
          <p:cNvSpPr/>
          <p:nvPr/>
        </p:nvSpPr>
        <p:spPr>
          <a:xfrm>
            <a:off x="1645920" y="2103120"/>
            <a:ext cx="5852160" cy="45720"/>
          </a:xfrm>
          <a:prstGeom prst="rect">
            <a:avLst/>
          </a:prstGeom>
          <a:solidFill>
            <a:srgbClr val="B8A0D8"/>
          </a:solidFill>
          <a:ln w="12700">
            <a:solidFill>
              <a:srgbClr val="B8A0D8"/>
            </a:solidFill>
            <a:prstDash val="solid"/>
          </a:ln>
        </p:spPr>
      </p:sp>
      <p:sp>
        <p:nvSpPr>
          <p:cNvPr id="9" name="Shape 7"/>
          <p:cNvSpPr/>
          <p:nvPr/>
        </p:nvSpPr>
        <p:spPr>
          <a:xfrm>
            <a:off x="347472" y="2267712"/>
            <a:ext cx="4187952" cy="1097280"/>
          </a:xfrm>
          <a:prstGeom prst="rect">
            <a:avLst/>
          </a:prstGeom>
          <a:solidFill>
            <a:srgbClr val="FFFFFF">
              <a:alpha val="10000"/>
            </a:srgbClr>
          </a:solidFill>
          <a:ln w="12700">
            <a:solidFill>
              <a:srgbClr val="E8A0BF"/>
            </a:solidFill>
            <a:prstDash val="solid"/>
          </a:ln>
        </p:spPr>
      </p:sp>
      <p:sp>
        <p:nvSpPr>
          <p:cNvPr id="10" name="Shape 8"/>
          <p:cNvSpPr/>
          <p:nvPr/>
        </p:nvSpPr>
        <p:spPr>
          <a:xfrm>
            <a:off x="347472" y="2267712"/>
            <a:ext cx="4187952" cy="54864"/>
          </a:xfrm>
          <a:prstGeom prst="rect">
            <a:avLst/>
          </a:prstGeom>
          <a:solidFill>
            <a:srgbClr val="E8A0BF"/>
          </a:solidFill>
          <a:ln w="12700">
            <a:solidFill>
              <a:srgbClr val="E8A0BF"/>
            </a:solidFill>
            <a:prstDash val="solid"/>
          </a:ln>
        </p:spPr>
      </p:sp>
      <p:sp>
        <p:nvSpPr>
          <p:cNvPr id="11" name="Text 9"/>
          <p:cNvSpPr/>
          <p:nvPr/>
        </p:nvSpPr>
        <p:spPr>
          <a:xfrm>
            <a:off x="475488" y="2359152"/>
            <a:ext cx="3931920" cy="320040"/>
          </a:xfrm>
          <a:prstGeom prst="rect">
            <a:avLst/>
          </a:prstGeom>
          <a:noFill/>
        </p:spPr>
        <p:txBody>
          <a:bodyPr wrap="square" lIns="0" tIns="0" rIns="0" bIns="0" rtlCol="0" anchor="ctr"/>
          <a:lstStyle/>
          <a:p>
            <a:pPr marL="0" indent="0" algn="l">
              <a:buNone/>
            </a:pPr>
            <a:r>
              <a:rPr lang="en-US" sz="1200" b="1" dirty="0">
                <a:solidFill>
                  <a:srgbClr val="FFFFFF"/>
                </a:solidFill>
              </a:rPr>
              <a:t>🏗 What We Built</a:t>
            </a:r>
            <a:endParaRPr lang="en-US" sz="1200" dirty="0"/>
          </a:p>
        </p:txBody>
      </p:sp>
      <p:sp>
        <p:nvSpPr>
          <p:cNvPr id="12" name="Text 10"/>
          <p:cNvSpPr/>
          <p:nvPr/>
        </p:nvSpPr>
        <p:spPr>
          <a:xfrm>
            <a:off x="475488" y="2724912"/>
            <a:ext cx="3931920" cy="566928"/>
          </a:xfrm>
          <a:prstGeom prst="rect">
            <a:avLst/>
          </a:prstGeom>
          <a:noFill/>
        </p:spPr>
        <p:txBody>
          <a:bodyPr wrap="square" lIns="0" tIns="0" rIns="0" bIns="0" rtlCol="0" anchor="ctr"/>
          <a:lstStyle/>
          <a:p>
            <a:pPr marL="0" indent="0" algn="l">
              <a:buNone/>
            </a:pPr>
            <a:r>
              <a:rPr lang="en-US" sz="1000" dirty="0">
                <a:solidFill>
                  <a:srgbClr val="F2BBCC"/>
                </a:solidFill>
                <a:latin typeface="Calibri" panose="020F0502020204030204" pitchFamily="34" charset="0"/>
                <a:ea typeface="Calibri" panose="020F0502020204030204" pitchFamily="34" charset="-122"/>
                <a:cs typeface="Calibri" panose="020F0502020204030204" pitchFamily="34" charset="-120"/>
              </a:rPr>
              <a:t>A 7-phase analytical pipeline and fully functional mobile-first application — from raw Excel to deployed AI matching system.</a:t>
            </a:r>
            <a:endParaRPr lang="en-US" sz="1000" dirty="0"/>
          </a:p>
        </p:txBody>
      </p:sp>
      <p:sp>
        <p:nvSpPr>
          <p:cNvPr id="13" name="Shape 11"/>
          <p:cNvSpPr/>
          <p:nvPr/>
        </p:nvSpPr>
        <p:spPr>
          <a:xfrm>
            <a:off x="4736592" y="2267712"/>
            <a:ext cx="4187952" cy="1097280"/>
          </a:xfrm>
          <a:prstGeom prst="rect">
            <a:avLst/>
          </a:prstGeom>
          <a:solidFill>
            <a:srgbClr val="FFFFFF">
              <a:alpha val="10000"/>
            </a:srgbClr>
          </a:solidFill>
          <a:ln w="12700">
            <a:solidFill>
              <a:srgbClr val="B8A0D8"/>
            </a:solidFill>
            <a:prstDash val="solid"/>
          </a:ln>
        </p:spPr>
      </p:sp>
      <p:sp>
        <p:nvSpPr>
          <p:cNvPr id="14" name="Shape 12"/>
          <p:cNvSpPr/>
          <p:nvPr/>
        </p:nvSpPr>
        <p:spPr>
          <a:xfrm>
            <a:off x="4736592" y="2267712"/>
            <a:ext cx="4187952" cy="54864"/>
          </a:xfrm>
          <a:prstGeom prst="rect">
            <a:avLst/>
          </a:prstGeom>
          <a:solidFill>
            <a:srgbClr val="B8A0D8"/>
          </a:solidFill>
          <a:ln w="12700">
            <a:solidFill>
              <a:srgbClr val="B8A0D8"/>
            </a:solidFill>
            <a:prstDash val="solid"/>
          </a:ln>
        </p:spPr>
      </p:sp>
      <p:sp>
        <p:nvSpPr>
          <p:cNvPr id="15" name="Text 13"/>
          <p:cNvSpPr/>
          <p:nvPr/>
        </p:nvSpPr>
        <p:spPr>
          <a:xfrm>
            <a:off x="4864608" y="2359152"/>
            <a:ext cx="3931920" cy="320040"/>
          </a:xfrm>
          <a:prstGeom prst="rect">
            <a:avLst/>
          </a:prstGeom>
          <a:noFill/>
        </p:spPr>
        <p:txBody>
          <a:bodyPr wrap="square" lIns="0" tIns="0" rIns="0" bIns="0" rtlCol="0" anchor="ctr"/>
          <a:lstStyle/>
          <a:p>
            <a:pPr marL="0" indent="0" algn="l">
              <a:buNone/>
            </a:pPr>
            <a:r>
              <a:rPr lang="en-US" sz="1200" b="1" dirty="0">
                <a:solidFill>
                  <a:srgbClr val="FFFFFF"/>
                </a:solidFill>
              </a:rPr>
              <a:t>📊 What We Proved</a:t>
            </a:r>
            <a:endParaRPr lang="en-US" sz="1200" dirty="0"/>
          </a:p>
        </p:txBody>
      </p:sp>
      <p:sp>
        <p:nvSpPr>
          <p:cNvPr id="16" name="Text 14"/>
          <p:cNvSpPr/>
          <p:nvPr/>
        </p:nvSpPr>
        <p:spPr>
          <a:xfrm>
            <a:off x="4864608" y="2724912"/>
            <a:ext cx="3931920" cy="566928"/>
          </a:xfrm>
          <a:prstGeom prst="rect">
            <a:avLst/>
          </a:prstGeom>
          <a:noFill/>
        </p:spPr>
        <p:txBody>
          <a:bodyPr wrap="square" lIns="0" tIns="0" rIns="0" bIns="0" rtlCol="0" anchor="ctr"/>
          <a:lstStyle/>
          <a:p>
            <a:pPr marL="0" indent="0" algn="l">
              <a:buNone/>
            </a:pPr>
            <a:r>
              <a:rPr lang="en-US" sz="1000" dirty="0">
                <a:solidFill>
                  <a:srgbClr val="F2BBCC"/>
                </a:solidFill>
                <a:latin typeface="Calibri" panose="020F0502020204030204" pitchFamily="34" charset="0"/>
                <a:ea typeface="Calibri" panose="020F0502020204030204" pitchFamily="34" charset="-122"/>
                <a:cs typeface="Calibri" panose="020F0502020204030204" pitchFamily="34" charset="-120"/>
              </a:rPr>
              <a:t>KNN Precision@4 = 1.00. Recommender: 100% coverage. All 3 hypothesis tests pass. Need Score is statistically grounded.</a:t>
            </a:r>
            <a:endParaRPr lang="en-US" sz="1000" dirty="0"/>
          </a:p>
        </p:txBody>
      </p:sp>
      <p:sp>
        <p:nvSpPr>
          <p:cNvPr id="17" name="Shape 15"/>
          <p:cNvSpPr/>
          <p:nvPr/>
        </p:nvSpPr>
        <p:spPr>
          <a:xfrm>
            <a:off x="347472" y="3529584"/>
            <a:ext cx="4187952" cy="1097280"/>
          </a:xfrm>
          <a:prstGeom prst="rect">
            <a:avLst/>
          </a:prstGeom>
          <a:solidFill>
            <a:srgbClr val="FFFFFF">
              <a:alpha val="10000"/>
            </a:srgbClr>
          </a:solidFill>
          <a:ln w="12700">
            <a:solidFill>
              <a:srgbClr val="A8D8C0"/>
            </a:solidFill>
            <a:prstDash val="solid"/>
          </a:ln>
        </p:spPr>
      </p:sp>
      <p:sp>
        <p:nvSpPr>
          <p:cNvPr id="18" name="Shape 16"/>
          <p:cNvSpPr/>
          <p:nvPr/>
        </p:nvSpPr>
        <p:spPr>
          <a:xfrm>
            <a:off x="347472" y="3529584"/>
            <a:ext cx="4187952" cy="54864"/>
          </a:xfrm>
          <a:prstGeom prst="rect">
            <a:avLst/>
          </a:prstGeom>
          <a:solidFill>
            <a:srgbClr val="A8D8C0"/>
          </a:solidFill>
          <a:ln w="12700">
            <a:solidFill>
              <a:srgbClr val="A8D8C0"/>
            </a:solidFill>
            <a:prstDash val="solid"/>
          </a:ln>
        </p:spPr>
      </p:sp>
      <p:sp>
        <p:nvSpPr>
          <p:cNvPr id="19" name="Text 17"/>
          <p:cNvSpPr/>
          <p:nvPr/>
        </p:nvSpPr>
        <p:spPr>
          <a:xfrm>
            <a:off x="475488" y="3621024"/>
            <a:ext cx="3931920" cy="320040"/>
          </a:xfrm>
          <a:prstGeom prst="rect">
            <a:avLst/>
          </a:prstGeom>
          <a:noFill/>
        </p:spPr>
        <p:txBody>
          <a:bodyPr wrap="square" lIns="0" tIns="0" rIns="0" bIns="0" rtlCol="0" anchor="ctr"/>
          <a:lstStyle/>
          <a:p>
            <a:pPr marL="0" indent="0" algn="l">
              <a:buNone/>
            </a:pPr>
            <a:r>
              <a:rPr lang="en-US" sz="1200" b="1" dirty="0">
                <a:solidFill>
                  <a:srgbClr val="FFFFFF"/>
                </a:solidFill>
              </a:rPr>
              <a:t>⚠ What We Found</a:t>
            </a:r>
            <a:endParaRPr lang="en-US" sz="1200" dirty="0"/>
          </a:p>
        </p:txBody>
      </p:sp>
      <p:sp>
        <p:nvSpPr>
          <p:cNvPr id="20" name="Text 18"/>
          <p:cNvSpPr/>
          <p:nvPr/>
        </p:nvSpPr>
        <p:spPr>
          <a:xfrm>
            <a:off x="475488" y="3986784"/>
            <a:ext cx="3931920" cy="566928"/>
          </a:xfrm>
          <a:prstGeom prst="rect">
            <a:avLst/>
          </a:prstGeom>
          <a:noFill/>
        </p:spPr>
        <p:txBody>
          <a:bodyPr wrap="square" lIns="0" tIns="0" rIns="0" bIns="0" rtlCol="0" anchor="ctr"/>
          <a:lstStyle/>
          <a:p>
            <a:pPr marL="0" indent="0" algn="l">
              <a:buNone/>
            </a:pPr>
            <a:r>
              <a:rPr lang="en-US" sz="1000" dirty="0">
                <a:solidFill>
                  <a:srgbClr val="F2BBCC"/>
                </a:solidFill>
                <a:latin typeface="Calibri" panose="020F0502020204030204" pitchFamily="34" charset="0"/>
                <a:ea typeface="Calibri" panose="020F0502020204030204" pitchFamily="34" charset="-122"/>
                <a:cs typeface="Calibri" panose="020F0502020204030204" pitchFamily="34" charset="-120"/>
              </a:rPr>
              <a:t>95.5% of historical Zakat transactions were misallocated. AidConnect now prevents this with a pre-match validation gate and certificate.</a:t>
            </a:r>
            <a:endParaRPr lang="en-US" sz="1000" dirty="0"/>
          </a:p>
        </p:txBody>
      </p:sp>
      <p:sp>
        <p:nvSpPr>
          <p:cNvPr id="21" name="Shape 19"/>
          <p:cNvSpPr/>
          <p:nvPr/>
        </p:nvSpPr>
        <p:spPr>
          <a:xfrm>
            <a:off x="4736592" y="3529584"/>
            <a:ext cx="4187952" cy="1097280"/>
          </a:xfrm>
          <a:prstGeom prst="rect">
            <a:avLst/>
          </a:prstGeom>
          <a:solidFill>
            <a:srgbClr val="FFFFFF">
              <a:alpha val="10000"/>
            </a:srgbClr>
          </a:solidFill>
          <a:ln w="12700">
            <a:solidFill>
              <a:srgbClr val="F5C0A0"/>
            </a:solidFill>
            <a:prstDash val="solid"/>
          </a:ln>
        </p:spPr>
      </p:sp>
      <p:sp>
        <p:nvSpPr>
          <p:cNvPr id="22" name="Shape 20"/>
          <p:cNvSpPr/>
          <p:nvPr/>
        </p:nvSpPr>
        <p:spPr>
          <a:xfrm>
            <a:off x="4736592" y="3529584"/>
            <a:ext cx="4187952" cy="54864"/>
          </a:xfrm>
          <a:prstGeom prst="rect">
            <a:avLst/>
          </a:prstGeom>
          <a:solidFill>
            <a:srgbClr val="F5C0A0"/>
          </a:solidFill>
          <a:ln w="12700">
            <a:solidFill>
              <a:srgbClr val="F5C0A0"/>
            </a:solidFill>
            <a:prstDash val="solid"/>
          </a:ln>
        </p:spPr>
      </p:sp>
      <p:sp>
        <p:nvSpPr>
          <p:cNvPr id="23" name="Text 21"/>
          <p:cNvSpPr/>
          <p:nvPr/>
        </p:nvSpPr>
        <p:spPr>
          <a:xfrm>
            <a:off x="4864608" y="3621024"/>
            <a:ext cx="3931920" cy="320040"/>
          </a:xfrm>
          <a:prstGeom prst="rect">
            <a:avLst/>
          </a:prstGeom>
          <a:noFill/>
        </p:spPr>
        <p:txBody>
          <a:bodyPr wrap="square" lIns="0" tIns="0" rIns="0" bIns="0" rtlCol="0" anchor="ctr"/>
          <a:lstStyle/>
          <a:p>
            <a:pPr marL="0" indent="0" algn="l">
              <a:buNone/>
            </a:pPr>
            <a:r>
              <a:rPr lang="en-US" sz="1200" b="1" dirty="0">
                <a:solidFill>
                  <a:srgbClr val="FFFFFF"/>
                </a:solidFill>
              </a:rPr>
              <a:t>🎯 What It Means for KHCC</a:t>
            </a:r>
            <a:endParaRPr lang="en-US" sz="1200" dirty="0"/>
          </a:p>
        </p:txBody>
      </p:sp>
      <p:sp>
        <p:nvSpPr>
          <p:cNvPr id="24" name="Text 22"/>
          <p:cNvSpPr/>
          <p:nvPr/>
        </p:nvSpPr>
        <p:spPr>
          <a:xfrm>
            <a:off x="4864608" y="3986784"/>
            <a:ext cx="3931920" cy="566928"/>
          </a:xfrm>
          <a:prstGeom prst="rect">
            <a:avLst/>
          </a:prstGeom>
          <a:noFill/>
        </p:spPr>
        <p:txBody>
          <a:bodyPr wrap="square" lIns="0" tIns="0" rIns="0" bIns="0" rtlCol="0" anchor="ctr"/>
          <a:lstStyle/>
          <a:p>
            <a:pPr marL="0" indent="0" algn="l">
              <a:buNone/>
            </a:pPr>
            <a:r>
              <a:rPr lang="en-US" sz="1000" dirty="0">
                <a:solidFill>
                  <a:srgbClr val="F2BBCC"/>
                </a:solidFill>
                <a:latin typeface="Calibri" panose="020F0502020204030204" pitchFamily="34" charset="0"/>
                <a:ea typeface="Calibri" panose="020F0502020204030204" pitchFamily="34" charset="-122"/>
                <a:cs typeface="Calibri" panose="020F0502020204030204" pitchFamily="34" charset="-120"/>
              </a:rPr>
              <a:t>Every patient evaluated by the same formula, same features, same weights — regardless of who reviews the file or when.</a:t>
            </a:r>
            <a:endParaRPr lang="en-US" sz="1000" dirty="0"/>
          </a:p>
        </p:txBody>
      </p:sp>
      <p:sp>
        <p:nvSpPr>
          <p:cNvPr id="25" name="Shape 23"/>
          <p:cNvSpPr/>
          <p:nvPr/>
        </p:nvSpPr>
        <p:spPr>
          <a:xfrm>
            <a:off x="347472" y="4736592"/>
            <a:ext cx="8449056" cy="384048"/>
          </a:xfrm>
          <a:prstGeom prst="rect">
            <a:avLst/>
          </a:prstGeom>
          <a:solidFill>
            <a:srgbClr val="E8A0BF">
              <a:alpha val="12000"/>
            </a:srgbClr>
          </a:solidFill>
          <a:ln w="12700">
            <a:solidFill>
              <a:srgbClr val="E8A0BF"/>
            </a:solidFill>
            <a:prstDash val="solid"/>
          </a:ln>
        </p:spPr>
      </p:sp>
      <p:sp>
        <p:nvSpPr>
          <p:cNvPr id="26" name="Text 24"/>
          <p:cNvSpPr/>
          <p:nvPr/>
        </p:nvSpPr>
        <p:spPr>
          <a:xfrm>
            <a:off x="457200" y="4736592"/>
            <a:ext cx="8229600" cy="384048"/>
          </a:xfrm>
          <a:prstGeom prst="rect">
            <a:avLst/>
          </a:prstGeom>
          <a:noFill/>
        </p:spPr>
        <p:txBody>
          <a:bodyPr wrap="square" lIns="0" tIns="0" rIns="0" bIns="0" rtlCol="0" anchor="ctr"/>
          <a:lstStyle/>
          <a:p>
            <a:pPr marL="0" indent="0" algn="ctr">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We welcome your questions.  ·  Mallak Abu Sada &amp; Maya Abu Aslahamat  ·  Supervised by Dr. Ayman M. Mansour  ·  2025 /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17222</Words>
  <Application>WPS Presentation</Application>
  <PresentationFormat>On-screen Show (16:9)</PresentationFormat>
  <Paragraphs>897</Paragraphs>
  <Slides>21</Slides>
  <Notes>20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21</vt:i4>
      </vt:variant>
    </vt:vector>
  </HeadingPairs>
  <TitlesOfParts>
    <vt:vector size="38" baseType="lpstr">
      <vt:lpstr>Arial</vt:lpstr>
      <vt:lpstr>SimSun</vt:lpstr>
      <vt:lpstr>Wingdings</vt:lpstr>
      <vt:lpstr>Georgia</vt:lpstr>
      <vt:lpstr>Georgia</vt:lpstr>
      <vt:lpstr>Georgia</vt:lpstr>
      <vt:lpstr>Calibri</vt:lpstr>
      <vt:lpstr>Calibri</vt:lpstr>
      <vt:lpstr>Calibri</vt:lpstr>
      <vt:lpstr>Consolas</vt:lpstr>
      <vt:lpstr>Consolas</vt:lpstr>
      <vt:lpstr>Consolas</vt:lpstr>
      <vt:lpstr>Microsoft YaHei</vt:lpstr>
      <vt:lpstr>Arial Unicode MS</vt:lpstr>
      <vt:lpstr>Calibri</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KHCC AidConnect Defense</dc:title>
  <dc:creator>Mallak Abu Sada &amp; Maya Abu Aslahamat</dc:creator>
  <dc:subject>PptxGenJS Presentation</dc:subject>
  <cp:lastModifiedBy>Mallak's Life</cp:lastModifiedBy>
  <cp:revision>3</cp:revision>
  <dcterms:created xsi:type="dcterms:W3CDTF">2026-05-30T17:32:00Z</dcterms:created>
  <dcterms:modified xsi:type="dcterms:W3CDTF">2026-05-30T19:12:30Z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3B59191A4B7A4DD09A8A2D31999C976B_13</vt:lpwstr>
  </property>
  <property fmtid="{D5CDD505-2E9C-101B-9397-08002B2CF9AE}" pid="3" name="KSOProductBuildVer">
    <vt:lpwstr>1033-12.1.0.26372</vt:lpwstr>
  </property>
</Properties>
</file>