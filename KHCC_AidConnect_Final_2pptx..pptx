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8.png"/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23.jpeg"/><Relationship Id="rId1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8.png"/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8.png"/><Relationship Id="rId3" Type="http://schemas.openxmlformats.org/officeDocument/2006/relationships/image" Target="../media/image18.png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1920240"/>
            <a:ext cx="6766560" cy="6766560"/>
          </a:xfrm>
          <a:prstGeom prst="ellipse">
            <a:avLst/>
          </a:prstGeom>
          <a:solidFill>
            <a:srgbClr val="3D2448"/>
          </a:solidFill>
        </p:spPr>
      </p:sp>
      <p:sp>
        <p:nvSpPr>
          <p:cNvPr id="3" name="Shape 1"/>
          <p:cNvSpPr/>
          <p:nvPr/>
        </p:nvSpPr>
        <p:spPr>
          <a:xfrm>
            <a:off x="6035040" y="2743200"/>
            <a:ext cx="3108960" cy="3108960"/>
          </a:xfrm>
          <a:prstGeom prst="ellipse">
            <a:avLst/>
          </a:prstGeom>
          <a:solidFill>
            <a:srgbClr val="3D2448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1234440"/>
            <a:ext cx="73152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E8A0B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KHCC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86868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AidConnect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667512" y="3611880"/>
            <a:ext cx="6949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Smart, Human-Centered Donor and Patient Matching System for Cancer Financial Aid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4526280"/>
            <a:ext cx="4754880" cy="0"/>
          </a:xfrm>
          <a:prstGeom prst="line">
            <a:avLst/>
          </a:prstGeom>
          <a:noFill/>
          <a:ln w="25400">
            <a:solidFill>
              <a:srgbClr val="B8A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709160"/>
            <a:ext cx="8686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Mallak Abu Sada   ·   Maya Abu Aslahamat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Intelligence &amp; Data Analysis  ·  University of Petra  ·  Supervised by Dr. Ayman M. Mansour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580644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3D2448"/>
          </a:solidFill>
          <a:ln w="9525">
            <a:solidFill>
              <a:srgbClr val="7B5E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870448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8A0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111</a:t>
            </a:r>
            <a:endParaRPr lang="en-US" sz="1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377440" y="580644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3D2448"/>
          </a:solidFill>
          <a:ln w="9525">
            <a:solidFill>
              <a:srgbClr val="7B5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5870448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B8A0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250</a:t>
            </a:r>
            <a:endParaRPr lang="en-US" sz="1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Donors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069080" y="580644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3D2448"/>
          </a:solidFill>
          <a:ln w="9525">
            <a:solidFill>
              <a:srgbClr val="7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5870448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A8D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378</a:t>
            </a:r>
            <a:endParaRPr lang="en-US" sz="1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760720" y="5806440"/>
            <a:ext cx="1554480" cy="658368"/>
          </a:xfrm>
          <a:prstGeom prst="roundRect">
            <a:avLst>
              <a:gd name="adj" fmla="val 8333"/>
            </a:avLst>
          </a:prstGeom>
          <a:solidFill>
            <a:srgbClr val="3D2448"/>
          </a:solidFill>
          <a:ln w="9525">
            <a:solidFill>
              <a:srgbClr val="7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5870448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E8B0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7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Coverage</a:t>
            </a:r>
            <a:endParaRPr lang="en-US" sz="1700" dirty="0"/>
          </a:p>
        </p:txBody>
      </p:sp>
      <p:pic>
        <p:nvPicPr>
          <p:cNvPr id="901" name="Petra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64720" y="172720"/>
            <a:ext cx="605790" cy="77597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2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sat with the caseworkers at KHCC. We found three gaps.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FCE8F0"/>
          </a:solidFill>
          <a:ln w="12700">
            <a:solidFill>
              <a:srgbClr val="F2BBC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60604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A0B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81635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3611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fair scoring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822960" y="41605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Priority is set by judgement, not a formula. Nothing is consistent, nothing is auditable, and the same file can be ranked differently twice.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79392" y="228600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9432" y="260604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8A0D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81635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9432" y="3611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donor transparency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599432" y="41605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Donors give but never see where their money went or who it helped.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55864" y="2286000"/>
            <a:ext cx="3657600" cy="3520440"/>
          </a:xfrm>
          <a:prstGeom prst="roundRect">
            <a:avLst>
              <a:gd name="adj" fmla="val 2078"/>
            </a:avLst>
          </a:prstGeom>
          <a:solidFill>
            <a:srgbClr val="FEF0E8"/>
          </a:solidFill>
          <a:ln w="12700">
            <a:solidFill>
              <a:srgbClr val="F5C0A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75904" y="2606040"/>
            <a:ext cx="868680" cy="8686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C0A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281635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75904" y="3611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Slow, manual matching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375904" y="4160520"/>
            <a:ext cx="301752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Pairing 250 donors with 111 patients across six programmes is done by hand, so high need patients are often missed on the waitlist.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24" name="Text 19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02" name="Petr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" y="5781675"/>
            <a:ext cx="585470" cy="79375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App, Built on a Clear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3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phases take us from raw data to a confident gift. Compliance is checked first, by design.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7180" y="2103120"/>
            <a:ext cx="3520440" cy="3886200"/>
          </a:xfrm>
          <a:prstGeom prst="roundRect">
            <a:avLst>
              <a:gd name="adj" fmla="val 2597"/>
            </a:avLst>
          </a:prstGeom>
          <a:solidFill>
            <a:srgbClr val="FCE8F0"/>
          </a:solidFill>
          <a:ln w="15875">
            <a:solidFill>
              <a:srgbClr val="F2BBCC"/>
            </a:solidFill>
            <a:prstDash val="solid"/>
          </a:ln>
          <a:effectLst>
            <a:outerShdw blurRad="1143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9788" y="242316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A0B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" y="261518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48940" y="2377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E8A0B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89788" y="329184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Prepare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608076" y="38862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the data, then validate the Need Score with statistics.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320540" y="2103120"/>
            <a:ext cx="3520440" cy="3886200"/>
          </a:xfrm>
          <a:prstGeom prst="roundRect">
            <a:avLst>
              <a:gd name="adj" fmla="val 2597"/>
            </a:avLst>
          </a:prstGeom>
          <a:solidFill>
            <a:srgbClr val="F0EAFA"/>
          </a:solidFill>
          <a:ln w="15875">
            <a:solidFill>
              <a:srgbClr val="D4C0EE"/>
            </a:solidFill>
            <a:prstDash val="solid"/>
          </a:ln>
          <a:effectLst>
            <a:outerShdw blurRad="1143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3148" y="242316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8A0D8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261518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72300" y="2377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B8A0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4613148" y="329184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Match</a:t>
            </a:r>
            <a:endParaRPr lang="en-US" sz="2300" dirty="0"/>
          </a:p>
        </p:txBody>
      </p:sp>
      <p:sp>
        <p:nvSpPr>
          <p:cNvPr id="19" name="Shape 15"/>
          <p:cNvSpPr/>
          <p:nvPr/>
        </p:nvSpPr>
        <p:spPr>
          <a:xfrm>
            <a:off x="8343900" y="2103120"/>
            <a:ext cx="3520440" cy="3886200"/>
          </a:xfrm>
          <a:prstGeom prst="roundRect">
            <a:avLst>
              <a:gd name="adj" fmla="val 2597"/>
            </a:avLst>
          </a:prstGeom>
          <a:solidFill>
            <a:srgbClr val="FEF0E8"/>
          </a:solidFill>
          <a:ln w="15875">
            <a:solidFill>
              <a:srgbClr val="F5C0A0"/>
            </a:solidFill>
            <a:prstDash val="solid"/>
          </a:ln>
          <a:effectLst>
            <a:outerShdw blurRad="1143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636508" y="2423160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C0A0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8532" y="261518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995660" y="2377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5C0A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18"/>
          <p:cNvSpPr/>
          <p:nvPr/>
        </p:nvSpPr>
        <p:spPr>
          <a:xfrm>
            <a:off x="8636508" y="3291840"/>
            <a:ext cx="29718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Deliver</a:t>
            </a:r>
            <a:endParaRPr lang="en-US" sz="2300" dirty="0"/>
          </a:p>
        </p:txBody>
      </p:sp>
      <p:sp>
        <p:nvSpPr>
          <p:cNvPr id="24" name="Text 19"/>
          <p:cNvSpPr/>
          <p:nvPr/>
        </p:nvSpPr>
        <p:spPr>
          <a:xfrm>
            <a:off x="8654796" y="3886200"/>
            <a:ext cx="29260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donor sees real impact, confirms, and gets a thank you.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4631436" y="3840480"/>
            <a:ext cx="2898648" cy="548640"/>
          </a:xfrm>
          <a:prstGeom prst="roundRect">
            <a:avLst>
              <a:gd name="adj" fmla="val 11667"/>
            </a:avLst>
          </a:prstGeom>
          <a:solidFill>
            <a:srgbClr val="A0395A"/>
          </a:solidFill>
        </p:spPr>
      </p:sp>
      <p:sp>
        <p:nvSpPr>
          <p:cNvPr id="26" name="Text 21"/>
          <p:cNvSpPr/>
          <p:nvPr/>
        </p:nvSpPr>
        <p:spPr>
          <a:xfrm>
            <a:off x="4796028" y="3840480"/>
            <a:ext cx="2624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Zakat Gate 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checked first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631436" y="4370832"/>
            <a:ext cx="28986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5E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4631436" y="4608576"/>
            <a:ext cx="2898648" cy="548640"/>
          </a:xfrm>
          <a:prstGeom prst="roundRect">
            <a:avLst>
              <a:gd name="adj" fmla="val 11667"/>
            </a:avLst>
          </a:prstGeom>
          <a:solidFill>
            <a:srgbClr val="7B5EA7"/>
          </a:solidFill>
        </p:spPr>
      </p:sp>
      <p:sp>
        <p:nvSpPr>
          <p:cNvPr id="29" name="Text 24"/>
          <p:cNvSpPr/>
          <p:nvPr/>
        </p:nvSpPr>
        <p:spPr>
          <a:xfrm>
            <a:off x="4796028" y="4608576"/>
            <a:ext cx="2624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KNN Engine 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 4 compatible patients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631436" y="5138928"/>
            <a:ext cx="28986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5EA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▼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631436" y="5376672"/>
            <a:ext cx="2898648" cy="548640"/>
          </a:xfrm>
          <a:prstGeom prst="roundRect">
            <a:avLst>
              <a:gd name="adj" fmla="val 11667"/>
            </a:avLst>
          </a:prstGeom>
          <a:solidFill>
            <a:srgbClr val="5FAF8A"/>
          </a:solidFill>
        </p:spPr>
      </p:sp>
      <p:sp>
        <p:nvSpPr>
          <p:cNvPr id="32" name="Text 27"/>
          <p:cNvSpPr/>
          <p:nvPr/>
        </p:nvSpPr>
        <p:spPr>
          <a:xfrm>
            <a:off x="4796028" y="5376672"/>
            <a:ext cx="262432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Recommender  </a:t>
            </a:r>
            <a:r>
              <a:rPr lang="en-US" sz="9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ranked aid programmes</a:t>
            </a:r>
            <a:endParaRPr lang="en-US" sz="125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060" y="3863340"/>
            <a:ext cx="347472" cy="347472"/>
          </a:xfrm>
          <a:prstGeom prst="rect">
            <a:avLst/>
          </a:prstGeom>
        </p:spPr>
      </p:pic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0" y="3863340"/>
            <a:ext cx="347472" cy="34747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36" name="Text 29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03" name="Petr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90" y="5891530"/>
            <a:ext cx="471170" cy="63881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See It In Action: The App (1 of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4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donor opens it and instantly sees who needs help. Two taps to the right patient.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2208276" cy="4197096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E8A0BF"/>
            </a:solidFill>
            <a:prstDash val="solid"/>
          </a:ln>
          <a:effectLst>
            <a:outerShdw blurRad="1143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0" descr="media/app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1988820" cy="3977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03220" y="2377440"/>
            <a:ext cx="3108960" cy="3017520"/>
          </a:xfrm>
          <a:prstGeom prst="roundRect">
            <a:avLst>
              <a:gd name="adj" fmla="val 3030"/>
            </a:avLst>
          </a:prstGeom>
          <a:solidFill>
            <a:srgbClr val="FCE8F0"/>
          </a:solidFill>
          <a:ln w="12700">
            <a:solidFill>
              <a:srgbClr val="F2BBC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77540" y="265176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1. Home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177540" y="3246120"/>
            <a:ext cx="26060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donor sees live need the moment they open the app: how many patients are waiting, total aid given, and a clear button to start giving.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5372" y="1810512"/>
            <a:ext cx="2208276" cy="4197096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B8A0D8"/>
            </a:solidFill>
            <a:prstDash val="solid"/>
          </a:ln>
          <a:effectLst>
            <a:outerShdw blurRad="1143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1" descr="media/app_k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1920240"/>
            <a:ext cx="1988820" cy="3977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778240" y="2377440"/>
            <a:ext cx="3108960" cy="3017520"/>
          </a:xfrm>
          <a:prstGeom prst="roundRect">
            <a:avLst>
              <a:gd name="adj" fmla="val 3030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052560" y="265176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2. Match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9052560" y="3246120"/>
            <a:ext cx="26060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tap runs the KNN engine and returns the four most compatible patients, ranked, each with a similarity score and a best match badge.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19" name="Text 15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04" name="Pe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" y="5963285"/>
            <a:ext cx="430530" cy="58356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See It In Action: The App (2 of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5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donor reads the full story, confirms, and sees their exact impact, with Zakat checked.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0352" y="1810512"/>
            <a:ext cx="2208276" cy="4197096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A8D8C0"/>
            </a:solidFill>
            <a:prstDash val="solid"/>
          </a:ln>
          <a:effectLst>
            <a:outerShdw blurRad="1143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0" descr="media/app_pati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1988820" cy="3977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903220" y="2377440"/>
            <a:ext cx="3108960" cy="3017520"/>
          </a:xfrm>
          <a:prstGeom prst="roundRect">
            <a:avLst>
              <a:gd name="adj" fmla="val 3030"/>
            </a:avLst>
          </a:prstGeom>
          <a:solidFill>
            <a:srgbClr val="E8F8F0"/>
          </a:solidFill>
          <a:ln w="12700">
            <a:solidFill>
              <a:srgbClr val="A8D8C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77540" y="265176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3. Patient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177540" y="3246120"/>
            <a:ext cx="26060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donor sees the patient clearly: cancer type and stage, income, dependents, recommended programmes, and a transparent need score. The full story, nothing hidden.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5372" y="1810512"/>
            <a:ext cx="2208276" cy="4197096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22225">
            <a:solidFill>
              <a:srgbClr val="F5C0A0"/>
            </a:solidFill>
            <a:prstDash val="solid"/>
          </a:ln>
          <a:effectLst>
            <a:outerShdw blurRad="1143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1" descr="media/app_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1920240"/>
            <a:ext cx="1988820" cy="39776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778240" y="2377440"/>
            <a:ext cx="3108960" cy="3017520"/>
          </a:xfrm>
          <a:prstGeom prst="roundRect">
            <a:avLst>
              <a:gd name="adj" fmla="val 3030"/>
            </a:avLst>
          </a:prstGeom>
          <a:solidFill>
            <a:srgbClr val="FEF0E8"/>
          </a:solidFill>
          <a:ln w="12700">
            <a:solidFill>
              <a:srgbClr val="F5C0A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9052560" y="265176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4. Confirm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9052560" y="3246120"/>
            <a:ext cx="260604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confirmation the Zakat gate runs. The donor gets a personal impact line, your gift covered 4.2% of treatment, and a verified compliance stamp.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19" name="Text 15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05" name="Pe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65" y="5884545"/>
            <a:ext cx="488315" cy="66230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Aims &amp; Objectives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6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goal: make KHCC aid fairer, faster, and more transparent, without taking the human out of the decision. Eight objectives, all achieved.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CE8F0"/>
          </a:solidFill>
          <a:ln w="12700">
            <a:solidFill>
              <a:srgbClr val="F2BBC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313432"/>
            <a:ext cx="530352" cy="530352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10" name="Text 8"/>
          <p:cNvSpPr/>
          <p:nvPr/>
        </p:nvSpPr>
        <p:spPr>
          <a:xfrm>
            <a:off x="731520" y="231343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Need Score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8952" y="2953512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fair, weighted score validated by statistics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64992" y="20574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93592" y="2313432"/>
            <a:ext cx="530352" cy="530352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15" name="Text 13"/>
          <p:cNvSpPr/>
          <p:nvPr/>
        </p:nvSpPr>
        <p:spPr>
          <a:xfrm>
            <a:off x="3593592" y="231343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33672" y="2331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KNN Engine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21024" y="2953512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 the 4 most similar patients in real 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27064" y="20574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E8F8F0"/>
          </a:solidFill>
          <a:ln w="12700">
            <a:solidFill>
              <a:srgbClr val="A8D8C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2313432"/>
            <a:ext cx="530352" cy="530352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20" name="Text 18"/>
          <p:cNvSpPr/>
          <p:nvPr/>
        </p:nvSpPr>
        <p:spPr>
          <a:xfrm>
            <a:off x="6455664" y="231343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95744" y="2331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Recommender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83096" y="2953512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rules, a ranked programme list for everyone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89136" y="2057400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EF0E8"/>
          </a:solidFill>
          <a:ln w="12700">
            <a:solidFill>
              <a:srgbClr val="F5C0A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317736" y="2313432"/>
            <a:ext cx="530352" cy="530352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25" name="Text 23"/>
          <p:cNvSpPr/>
          <p:nvPr/>
        </p:nvSpPr>
        <p:spPr>
          <a:xfrm>
            <a:off x="9317736" y="231343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57816" y="2331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Zakat Gate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345168" y="2953512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non compliant gifts before they happen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197096"/>
            <a:ext cx="530352" cy="530352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30" name="Text 28"/>
          <p:cNvSpPr/>
          <p:nvPr/>
        </p:nvSpPr>
        <p:spPr>
          <a:xfrm>
            <a:off x="731520" y="419709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4215384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58952" y="4837176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personal impact message for every donor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64992" y="3941064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CE8F0"/>
          </a:solidFill>
          <a:ln w="12700">
            <a:solidFill>
              <a:srgbClr val="F2BBC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593592" y="4197096"/>
            <a:ext cx="530352" cy="530352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35" name="Text 33"/>
          <p:cNvSpPr/>
          <p:nvPr/>
        </p:nvSpPr>
        <p:spPr>
          <a:xfrm>
            <a:off x="3593592" y="419709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233672" y="4215384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621024" y="4837176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Tableau views for four audiences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27064" y="3941064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EF0E8"/>
          </a:solidFill>
          <a:ln w="12700">
            <a:solidFill>
              <a:srgbClr val="F5C0A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55664" y="4197096"/>
            <a:ext cx="530352" cy="530352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40" name="Text 38"/>
          <p:cNvSpPr/>
          <p:nvPr/>
        </p:nvSpPr>
        <p:spPr>
          <a:xfrm>
            <a:off x="6455664" y="419709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95744" y="4215384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App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83096" y="4837176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full donor journey from home to thank you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089136" y="3941064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E8F8F0"/>
          </a:solidFill>
          <a:ln w="12700">
            <a:solidFill>
              <a:srgbClr val="A8D8C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317736" y="4197096"/>
            <a:ext cx="530352" cy="530352"/>
          </a:xfrm>
          <a:prstGeom prst="ellipse">
            <a:avLst/>
          </a:prstGeom>
          <a:solidFill>
            <a:srgbClr val="7B5EA7"/>
          </a:solidFill>
        </p:spPr>
      </p:sp>
      <p:sp>
        <p:nvSpPr>
          <p:cNvPr id="45" name="Text 43"/>
          <p:cNvSpPr/>
          <p:nvPr/>
        </p:nvSpPr>
        <p:spPr>
          <a:xfrm>
            <a:off x="9317736" y="4197096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957816" y="4215384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Clean Pipeline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9345168" y="4837176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Reproducible from raw data to deployment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49" name="Text 47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06" name="Petra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190" y="5854065"/>
            <a:ext cx="510540" cy="69278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Methodology: Built on Data We Trust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7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Jordan calibrated dataset, three linked tables, prepared with care before any model was built.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CE8F0"/>
          </a:solidFill>
          <a:ln w="12700">
            <a:solidFill>
              <a:srgbClr val="F2BBC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176272"/>
            <a:ext cx="713232" cy="71323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8A0B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5000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176272"/>
            <a:ext cx="2423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111 Patients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95528" y="2944368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27 fields: stage, income, dependents, waitlist, Need Score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79392" y="19202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53712" y="2176272"/>
            <a:ext cx="713232" cy="71323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8A0D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35000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76672" y="2176272"/>
            <a:ext cx="2423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250 Donors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572000" y="2944368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fields: type, preferred fund, amount, Zakat only flag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055864" y="19202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E8F8F0"/>
          </a:solidFill>
          <a:ln w="12700">
            <a:solidFill>
              <a:srgbClr val="A8D8C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0184" y="2176272"/>
            <a:ext cx="713232" cy="713232"/>
          </a:xfrm>
          <a:prstGeom prst="ellipse">
            <a:avLst/>
          </a:prstGeom>
          <a:solidFill>
            <a:srgbClr val="FFFFFF"/>
          </a:solidFill>
          <a:ln w="16510">
            <a:solidFill>
              <a:srgbClr val="A8D8C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5000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53144" y="2176272"/>
            <a:ext cx="24231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378 Matches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48472" y="2944368"/>
            <a:ext cx="31089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fields: who gave, how much, which fund, outcome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02920" y="3886200"/>
            <a:ext cx="11155680" cy="1874520"/>
          </a:xfrm>
          <a:prstGeom prst="roundRect">
            <a:avLst>
              <a:gd name="adj" fmla="val 4878"/>
            </a:avLst>
          </a:prstGeom>
          <a:solidFill>
            <a:srgbClr val="2A1A35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22960" y="4041648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we prepared it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822960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A0B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1280160" y="4590288"/>
            <a:ext cx="21671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Clean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22960" y="5047488"/>
            <a:ext cx="26243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174 missing values filled with meaning, zero duplicates</a:t>
            </a:r>
            <a:endParaRPr lang="en-US" sz="1030" dirty="0"/>
          </a:p>
        </p:txBody>
      </p:sp>
      <p:sp>
        <p:nvSpPr>
          <p:cNvPr id="28" name="Text 23"/>
          <p:cNvSpPr/>
          <p:nvPr/>
        </p:nvSpPr>
        <p:spPr>
          <a:xfrm>
            <a:off x="3538728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8A0D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3995928" y="4590288"/>
            <a:ext cx="21671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Encode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3538728" y="5047488"/>
            <a:ext cx="26243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Stage ordered 1 to 4, Yes or No turned into 1 or 0</a:t>
            </a:r>
            <a:endParaRPr lang="en-US" sz="1030" dirty="0"/>
          </a:p>
        </p:txBody>
      </p:sp>
      <p:sp>
        <p:nvSpPr>
          <p:cNvPr id="31" name="Text 26"/>
          <p:cNvSpPr/>
          <p:nvPr/>
        </p:nvSpPr>
        <p:spPr>
          <a:xfrm>
            <a:off x="6254496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8D8C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27"/>
          <p:cNvSpPr/>
          <p:nvPr/>
        </p:nvSpPr>
        <p:spPr>
          <a:xfrm>
            <a:off x="6711696" y="4590288"/>
            <a:ext cx="21671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Scale</a:t>
            </a:r>
            <a:endParaRPr lang="en-US" sz="1400" dirty="0"/>
          </a:p>
        </p:txBody>
      </p:sp>
      <p:sp>
        <p:nvSpPr>
          <p:cNvPr id="33" name="Text 28"/>
          <p:cNvSpPr/>
          <p:nvPr/>
        </p:nvSpPr>
        <p:spPr>
          <a:xfrm>
            <a:off x="6254496" y="5047488"/>
            <a:ext cx="26243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7 features set to 0 to 1 so none can dominate</a:t>
            </a:r>
            <a:endParaRPr lang="en-US" sz="1030" dirty="0"/>
          </a:p>
        </p:txBody>
      </p:sp>
      <p:sp>
        <p:nvSpPr>
          <p:cNvPr id="34" name="Text 29"/>
          <p:cNvSpPr/>
          <p:nvPr/>
        </p:nvSpPr>
        <p:spPr>
          <a:xfrm>
            <a:off x="8970264" y="459028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E8B04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400" dirty="0"/>
          </a:p>
        </p:txBody>
      </p:sp>
      <p:sp>
        <p:nvSpPr>
          <p:cNvPr id="35" name="Text 30"/>
          <p:cNvSpPr/>
          <p:nvPr/>
        </p:nvSpPr>
        <p:spPr>
          <a:xfrm>
            <a:off x="9427464" y="4590288"/>
            <a:ext cx="216712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Split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8970264" y="5047488"/>
            <a:ext cx="262432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3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70% to train the engine, 30% held back to test it</a:t>
            </a:r>
            <a:endParaRPr lang="en-US" sz="1030" dirty="0"/>
          </a:p>
        </p:txBody>
      </p:sp>
      <p:sp>
        <p:nvSpPr>
          <p:cNvPr id="37" name="Shape 32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38" name="Text 33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07" name="Petr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90" y="5866765"/>
            <a:ext cx="514985" cy="698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the Engine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8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Behind the app are two clear components. One finds the right patients, one picks the right programmes. A compliance gate sits between them.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F0EAFA"/>
          </a:solidFill>
          <a:ln w="19050">
            <a:solidFill>
              <a:srgbClr val="B8A0D8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377440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B8A0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596896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83080" y="2423160"/>
            <a:ext cx="320040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KNN Matching Engine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3337560"/>
            <a:ext cx="4526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7 patient features and Euclidean distance to surface the 4 most compatible patients for any donor, instantly. Precision@4 of 1.00.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537960" y="210312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E8F8F0"/>
          </a:solidFill>
          <a:ln w="19050">
            <a:solidFill>
              <a:srgbClr val="A8D8C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839712" y="2377440"/>
            <a:ext cx="841248" cy="84124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A8D8C0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168" y="2596896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99832" y="2423160"/>
            <a:ext cx="33832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Programme Recommender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839712" y="3337560"/>
            <a:ext cx="45262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clear eligibility rules give every patient a ranked, confidence scored list of aid programmes. 100% coverage, fully explainable.</a:t>
            </a:r>
            <a:endParaRPr lang="en-US" sz="12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3044952"/>
            <a:ext cx="402336" cy="40233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02920" y="4663440"/>
            <a:ext cx="11155680" cy="1234440"/>
          </a:xfrm>
          <a:prstGeom prst="roundRect">
            <a:avLst>
              <a:gd name="adj" fmla="val 7407"/>
            </a:avLst>
          </a:prstGeom>
          <a:solidFill>
            <a:srgbClr val="A0395A"/>
          </a:solidFill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937760"/>
            <a:ext cx="713232" cy="71323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102352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4800600"/>
            <a:ext cx="964692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Zakat Compliance Gate   </a:t>
            </a: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any restricted gift is confirmed, the system checks it is Sharia compliant. If not, the match is blocked and a certificate is issued for every valid one.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24" name="Text 18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08" name="Petr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90" y="5897880"/>
            <a:ext cx="486410" cy="660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Results: The Numbers Prove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9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FCE8F0"/>
          </a:solidFill>
          <a:ln w="12700">
            <a:solidFill>
              <a:srgbClr val="F2BBC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6916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617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1.00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Precision@4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054096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was 0.75. Every patient the engine returned was clinically relevant.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79392" y="15544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E8F8F0"/>
          </a:solidFill>
          <a:ln w="12700">
            <a:solidFill>
              <a:srgbClr val="A8D8C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79392" y="16916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5FAF8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100%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279392" y="26517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3712" y="3054096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111 patients received at least one recommended programme.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55864" y="1554480"/>
            <a:ext cx="3657600" cy="2331720"/>
          </a:xfrm>
          <a:prstGeom prst="roundRect">
            <a:avLst>
              <a:gd name="adj" fmla="val 3922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55864" y="16916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7B5EA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 / 3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055864" y="2651760"/>
            <a:ext cx="3657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Tests Passed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3054096"/>
            <a:ext cx="31089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hypothesis tests confirmed the Need Score is statistically sound.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114800"/>
            <a:ext cx="1115568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4C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2452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the tests showed</a:t>
            </a:r>
            <a:endParaRPr lang="en-US" sz="16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681728"/>
            <a:ext cx="384048" cy="38404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98448" y="464515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Stage drives need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298448" y="50292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9A7A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 stage patients score far higher (p &lt; 0.0001)</a:t>
            </a:r>
            <a:endParaRPr lang="en-US" sz="11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4681728"/>
            <a:ext cx="384048" cy="38404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56048" y="464515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Income drives need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4956048" y="50292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9A7A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negative link, r = -0.69</a:t>
            </a:r>
            <a:endParaRPr lang="en-US" sz="11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4681728"/>
            <a:ext cx="384048" cy="38404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613648" y="4645152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Two separate signals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8613648" y="502920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9A7A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Zakat need and urgency are independent (p = 0.77)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31" name="Text 26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09" name="Petr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" y="5830570"/>
            <a:ext cx="528320" cy="7162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Business Intelligence: Dashboards (1 of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10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finding becomes live, interactive insight. Each dashboard answers one question for one audience.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349240" cy="3596640"/>
          </a:xfrm>
          <a:prstGeom prst="rect">
            <a:avLst/>
          </a:prstGeom>
          <a:solidFill>
            <a:srgbClr val="E8A0BF"/>
          </a:solidFill>
        </p:spPr>
      </p:sp>
      <p:pic>
        <p:nvPicPr>
          <p:cNvPr id="9" name="Image 0" descr="media/db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5257800" cy="3505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635752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Patient Need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038088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caseworkers: who needs help, how urgently, and where they live.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920240"/>
            <a:ext cx="5349240" cy="3596640"/>
          </a:xfrm>
          <a:prstGeom prst="rect">
            <a:avLst/>
          </a:prstGeom>
          <a:solidFill>
            <a:srgbClr val="B8A0D8"/>
          </a:solidFill>
        </p:spPr>
      </p:sp>
      <p:pic>
        <p:nvPicPr>
          <p:cNvPr id="13" name="Image 1" descr="media/d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257800" cy="3505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5080" y="5635752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Match Outcomes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355080" y="6038088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leadership: how much was funded, disbursed, and still waiting.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17" name="Text 13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10" name="Pe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10250"/>
            <a:ext cx="532130" cy="72199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Business Intelligence: Dashboards (2 of 2)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11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four are cross filtered, so one click updates the whole view for fast, confident decisions.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349240" cy="3596640"/>
          </a:xfrm>
          <a:prstGeom prst="rect">
            <a:avLst/>
          </a:prstGeom>
          <a:solidFill>
            <a:srgbClr val="A8D8C0"/>
          </a:solidFill>
        </p:spPr>
      </p:sp>
      <p:pic>
        <p:nvPicPr>
          <p:cNvPr id="9" name="Image 0" descr="media/db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65960"/>
            <a:ext cx="5257800" cy="3505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635752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Programme Demand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038088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planning: which funds carry the heaviest demand and cost.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920240"/>
            <a:ext cx="5349240" cy="3596640"/>
          </a:xfrm>
          <a:prstGeom prst="rect">
            <a:avLst/>
          </a:prstGeom>
          <a:solidFill>
            <a:srgbClr val="F5C0A0"/>
          </a:solidFill>
        </p:spPr>
      </p:sp>
      <p:pic>
        <p:nvPicPr>
          <p:cNvPr id="13" name="Image 1" descr="media/d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5257800" cy="3505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5080" y="5635752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Donor Impact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355080" y="6038088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fundraising: giving, recurring donors, and Zakat compliance.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17" name="Text 13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11" name="Pe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24855"/>
            <a:ext cx="532130" cy="72199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Future Work: Where We Take It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12 / 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3657600" cy="1755648"/>
          </a:xfrm>
          <a:prstGeom prst="roundRect">
            <a:avLst>
              <a:gd name="adj" fmla="val 4167"/>
            </a:avLst>
          </a:prstGeom>
          <a:solidFill>
            <a:srgbClr val="FCE8F0"/>
          </a:solidFill>
          <a:ln w="12700">
            <a:solidFill>
              <a:srgbClr val="F2BBC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856232"/>
            <a:ext cx="676656" cy="6766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8A0B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208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8745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Live hospital data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5528" y="2578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to KHCC records so the Need Score updates itself, with no manual entry.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79392" y="1554480"/>
            <a:ext cx="3657600" cy="1755648"/>
          </a:xfrm>
          <a:prstGeom prst="roundRect">
            <a:avLst>
              <a:gd name="adj" fmla="val 4167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53712" y="1856232"/>
            <a:ext cx="676656" cy="6766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8A0D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2082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76672" y="18745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Smarter matching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72000" y="2578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from KNN to a learning model that improves from every match over time.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55864" y="1554480"/>
            <a:ext cx="3657600" cy="1755648"/>
          </a:xfrm>
          <a:prstGeom prst="roundRect">
            <a:avLst>
              <a:gd name="adj" fmla="val 4167"/>
            </a:avLst>
          </a:prstGeom>
          <a:solidFill>
            <a:srgbClr val="E8F8F0"/>
          </a:solidFill>
          <a:ln w="12700">
            <a:solidFill>
              <a:srgbClr val="A8D8C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30184" y="1856232"/>
            <a:ext cx="676656" cy="6766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A8D8C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02082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53144" y="187452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Donor retention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48472" y="2578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which recurring donors may lapse and reach out before they do.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3474720"/>
            <a:ext cx="3657600" cy="1755648"/>
          </a:xfrm>
          <a:prstGeom prst="roundRect">
            <a:avLst>
              <a:gd name="adj" fmla="val 4167"/>
            </a:avLst>
          </a:prstGeom>
          <a:solidFill>
            <a:srgbClr val="FEF0E8"/>
          </a:solidFill>
          <a:ln w="12700">
            <a:solidFill>
              <a:srgbClr val="F5C0A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3776472"/>
            <a:ext cx="676656" cy="6766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F5C0A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94106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379476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Full Arabic interface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95528" y="449884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bilingual app so every donor in Jordan can use it with ease.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4279392" y="3474720"/>
            <a:ext cx="3657600" cy="1755648"/>
          </a:xfrm>
          <a:prstGeom prst="roundRect">
            <a:avLst>
              <a:gd name="adj" fmla="val 4167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553712" y="3776472"/>
            <a:ext cx="676656" cy="6766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8A0D8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941064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376672" y="379476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Nationwide rollout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4572000" y="449884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pipeline is institution agnostic, ready to scale across Jordan.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8055864" y="3474720"/>
            <a:ext cx="3657600" cy="1755648"/>
          </a:xfrm>
          <a:prstGeom prst="roundRect">
            <a:avLst>
              <a:gd name="adj" fmla="val 4167"/>
            </a:avLst>
          </a:prstGeom>
          <a:solidFill>
            <a:srgbClr val="E8F8F0"/>
          </a:solidFill>
          <a:ln w="12700">
            <a:solidFill>
              <a:srgbClr val="A8D8C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330184" y="3776472"/>
            <a:ext cx="676656" cy="6766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A8D8C0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3941064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53144" y="3794760"/>
            <a:ext cx="24231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Private by design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348472" y="449884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across hospitals without ever sharing raw patient data.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38" name="Text 30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12" name="Petra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" y="5823585"/>
            <a:ext cx="493395" cy="66929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Conclusion: What We Delivered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13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did not stop at a model. We built a complete, working solution with a real human purpose.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CE8F0"/>
          </a:solidFill>
          <a:ln w="12700">
            <a:solidFill>
              <a:srgbClr val="F2BBC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95528" y="2560320"/>
            <a:ext cx="731520" cy="7315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8A0BF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7432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09928" y="241401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built a real app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709928" y="2871216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working, mobile first donor journey from raw Excel to a deployed system.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2103120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19088" y="2560320"/>
            <a:ext cx="731520" cy="7315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B8A0D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7432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33488" y="2414016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proved it works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333488" y="2871216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Precision@4 of 1.00, 100% coverage, and three passing statistical tests.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02920" y="3950208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E8F8F0"/>
          </a:solidFill>
          <a:ln w="12700">
            <a:solidFill>
              <a:srgbClr val="A8D8C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95528" y="4407408"/>
            <a:ext cx="731520" cy="7315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A8D8C0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59028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09928" y="4261104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protect Zakat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709928" y="4718304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Historically, 95.5% of restricted gifts were non-compliant. Our gate corrects this to 0%, so every Zakat gift reaches an eligible patient.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126480" y="3950208"/>
            <a:ext cx="5440680" cy="1645920"/>
          </a:xfrm>
          <a:prstGeom prst="roundRect">
            <a:avLst>
              <a:gd name="adj" fmla="val 4444"/>
            </a:avLst>
          </a:prstGeom>
          <a:solidFill>
            <a:srgbClr val="FEF0E8"/>
          </a:solidFill>
          <a:ln w="12700">
            <a:solidFill>
              <a:srgbClr val="F5C0A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19088" y="4407408"/>
            <a:ext cx="731520" cy="7315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5C0A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590288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33488" y="4261104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We made it fair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333488" y="4718304"/>
            <a:ext cx="4023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patient judged by the same formula, no matter who reviews the file.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29" name="Text 23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13" name="Petra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3180" y="5822950"/>
            <a:ext cx="511810" cy="69405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07008"/>
          </a:xfrm>
          <a:prstGeom prst="rect">
            <a:avLst/>
          </a:prstGeom>
          <a:solidFill>
            <a:srgbClr val="B8A0D8"/>
          </a:solidFill>
        </p:spPr>
      </p:sp>
      <p:sp>
        <p:nvSpPr>
          <p:cNvPr id="3" name="Shape 1"/>
          <p:cNvSpPr/>
          <p:nvPr/>
        </p:nvSpPr>
        <p:spPr>
          <a:xfrm>
            <a:off x="0" y="1207008"/>
            <a:ext cx="12161520" cy="54864"/>
          </a:xfrm>
          <a:prstGeom prst="rect">
            <a:avLst/>
          </a:prstGeom>
          <a:solidFill>
            <a:srgbClr val="7B5EA7"/>
          </a:solidFill>
        </p:spPr>
      </p:sp>
      <p:sp>
        <p:nvSpPr>
          <p:cNvPr id="4" name="Text 2"/>
          <p:cNvSpPr/>
          <p:nvPr/>
        </p:nvSpPr>
        <p:spPr>
          <a:xfrm>
            <a:off x="502920" y="109728"/>
            <a:ext cx="100584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Deliverables: Documented and Ready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469880" y="384048"/>
            <a:ext cx="1188720" cy="420624"/>
          </a:xfrm>
          <a:prstGeom prst="roundRect">
            <a:avLst>
              <a:gd name="adj" fmla="val 13043"/>
            </a:avLst>
          </a:prstGeom>
          <a:solidFill>
            <a:srgbClr val="E8855A"/>
          </a:solidFill>
        </p:spPr>
      </p:sp>
      <p:sp>
        <p:nvSpPr>
          <p:cNvPr id="6" name="Text 4"/>
          <p:cNvSpPr/>
          <p:nvPr/>
        </p:nvSpPr>
        <p:spPr>
          <a:xfrm>
            <a:off x="10469880" y="384048"/>
            <a:ext cx="11887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14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project is complete, version controlled, and reproducible end to 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5577840" cy="3749040"/>
          </a:xfrm>
          <a:prstGeom prst="roundRect">
            <a:avLst>
              <a:gd name="adj" fmla="val 2439"/>
            </a:avLst>
          </a:prstGeom>
          <a:solidFill>
            <a:srgbClr val="F0EAFA"/>
          </a:solidFill>
          <a:ln w="12700">
            <a:solidFill>
              <a:srgbClr val="D4C0EE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194560"/>
            <a:ext cx="786384" cy="7863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8A0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86584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2240280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Code &amp; Notebooks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05840" y="3154680"/>
            <a:ext cx="466344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Notebooks 01 to 06, fully run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patients_clean.csv  (111 x 27)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donors_clean.csv  (250 x 19)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matches_clean.csv  (378 x 10)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AidConnect web app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README and requirements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355080" y="1920240"/>
            <a:ext cx="5577840" cy="3749040"/>
          </a:xfrm>
          <a:prstGeom prst="roundRect">
            <a:avLst>
              <a:gd name="adj" fmla="val 2439"/>
            </a:avLst>
          </a:prstGeom>
          <a:solidFill>
            <a:srgbClr val="FCE8F0"/>
          </a:solidFill>
          <a:ln w="12700">
            <a:solidFill>
              <a:srgbClr val="F2BBCC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20840" y="2194560"/>
            <a:ext cx="786384" cy="78638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E8A0B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38658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0" y="2240280"/>
            <a:ext cx="41148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1A28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Report &amp; Assets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6858000" y="3154680"/>
            <a:ext cx="466344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written report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Tableau workbook, four dashboards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presentation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charts and screenshots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Jordan calibrated dataset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A1A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Signed supervisor cover page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A0395A"/>
          </a:solidFill>
        </p:spPr>
      </p:sp>
      <p:sp>
        <p:nvSpPr>
          <p:cNvPr id="19" name="Text 15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KHCC AidConnect</a:t>
            </a:r>
            <a:r>
              <a:rPr lang="en-US" sz="8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·   Graduation Project Defense   ·   Mallak Abu Sada &amp; Maya Abu Aslahamat   ·   2025/2026</a:t>
            </a:r>
            <a:endParaRPr lang="en-US" sz="850" dirty="0"/>
          </a:p>
        </p:txBody>
      </p:sp>
      <p:pic>
        <p:nvPicPr>
          <p:cNvPr id="914" name="Pe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" y="5893435"/>
            <a:ext cx="486410" cy="660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-1554480"/>
            <a:ext cx="4572000" cy="4572000"/>
          </a:xfrm>
          <a:prstGeom prst="ellipse">
            <a:avLst/>
          </a:prstGeom>
          <a:solidFill>
            <a:srgbClr val="3D2448"/>
          </a:solidFill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3D2448"/>
          </a:solidFill>
        </p:spPr>
      </p:sp>
      <p:sp>
        <p:nvSpPr>
          <p:cNvPr id="4" name="Shape 2"/>
          <p:cNvSpPr/>
          <p:nvPr/>
        </p:nvSpPr>
        <p:spPr>
          <a:xfrm>
            <a:off x="9966960" y="-914400"/>
            <a:ext cx="2743200" cy="2743200"/>
          </a:xfrm>
          <a:prstGeom prst="ellipse">
            <a:avLst/>
          </a:prstGeom>
          <a:solidFill>
            <a:srgbClr val="3D2448">
              <a:alpha val="60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0" y="1783080"/>
            <a:ext cx="12161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A0B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شُكراً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0" y="2834640"/>
            <a:ext cx="12161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0" y="3886200"/>
            <a:ext cx="1216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would love to hear your questions.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9080" y="4572000"/>
            <a:ext cx="4023360" cy="0"/>
          </a:xfrm>
          <a:prstGeom prst="line">
            <a:avLst/>
          </a:prstGeom>
          <a:noFill/>
          <a:ln w="19050">
            <a:solidFill>
              <a:srgbClr val="B8A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5897880"/>
            <a:ext cx="1216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C0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Mallak Abu Sada  ·  Maya Abu Aslahamat   |   Supervised by Dr. Ayman M. Mansour   |   2025 / 2026</a:t>
            </a:r>
            <a:endParaRPr lang="en-US" sz="1100" dirty="0"/>
          </a:p>
        </p:txBody>
      </p:sp>
      <p:pic>
        <p:nvPicPr>
          <p:cNvPr id="915" name="Petra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" y="6055995"/>
            <a:ext cx="500380" cy="6400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8154</Words>
  <Application>WPS Presentation</Application>
  <PresentationFormat>On-screen Show (16:9)</PresentationFormat>
  <Paragraphs>385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Georgia</vt:lpstr>
      <vt:lpstr>Georgia</vt:lpstr>
      <vt:lpstr>Georgia</vt:lpstr>
      <vt:lpstr>Calibri</vt:lpstr>
      <vt:lpstr>Calibri</vt:lpstr>
      <vt:lpstr>Calibri</vt:lpstr>
      <vt:lpstr>Arial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KHCC AidConnect</dc:title>
  <dc:creator>Mallak Abu Sada &amp; Maya Abu Aslahamat</dc:creator>
  <dc:subject>PptxGenJS Presentation</dc:subject>
  <cp:lastModifiedBy>Mallak's Life</cp:lastModifiedBy>
  <cp:revision>3</cp:revision>
  <dcterms:created xsi:type="dcterms:W3CDTF">2026-06-04T14:51:00Z</dcterms:created>
  <dcterms:modified xsi:type="dcterms:W3CDTF">2026-06-06T16:13:41Z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7460380D37684D1DA35AFAA8C71B148A_13</vt:lpwstr>
  </property>
  <property fmtid="{D5CDD505-2E9C-101B-9397-08002B2CF9AE}" pid="3" name="KSOProductBuildVer">
    <vt:lpwstr>1033-12.1.0.26372</vt:lpwstr>
  </property>
</Properties>
</file>